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7" r:id="rId11"/>
    <p:sldId id="270" r:id="rId12"/>
    <p:sldId id="271" r:id="rId13"/>
    <p:sldId id="273" r:id="rId14"/>
    <p:sldId id="274" r:id="rId15"/>
    <p:sldId id="276" r:id="rId16"/>
    <p:sldId id="272"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062" autoAdjust="0"/>
  </p:normalViewPr>
  <p:slideViewPr>
    <p:cSldViewPr snapToGrid="0" snapToObjects="1">
      <p:cViewPr varScale="1">
        <p:scale>
          <a:sx n="175" d="100"/>
          <a:sy n="175" d="100"/>
        </p:scale>
        <p:origin x="137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507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 welcome to everyone.</a:t>
            </a:r>
          </a:p>
          <a:p>
            <a:endParaRPr lang="en-US" dirty="0"/>
          </a:p>
          <a:p>
            <a:r>
              <a:rPr lang="en-US" dirty="0"/>
              <a:t>Name: Karthikeya Thota cybersecurity student at Eastern Michigan University </a:t>
            </a:r>
          </a:p>
          <a:p>
            <a:endParaRPr lang="en-US" dirty="0"/>
          </a:p>
          <a:p>
            <a:r>
              <a:rPr lang="en-US" dirty="0"/>
              <a:t>Tonight: inside the Latin American threat landscape — groups more sophisticated than most people realize </a:t>
            </a:r>
          </a:p>
          <a:p>
            <a:endParaRPr lang="en-US" dirty="0"/>
          </a:p>
          <a:p>
            <a:r>
              <a:rPr lang="en-US" dirty="0"/>
              <a:t>Then: live demo of a tool I built that automates this exact kind of analysis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BS/MS combined track at EMU — malware analysis and offensive security </a:t>
            </a:r>
          </a:p>
          <a:p>
            <a:endParaRPr lang="en-US" dirty="0"/>
          </a:p>
          <a:p>
            <a:r>
              <a:rPr lang="en-US" dirty="0"/>
              <a:t>GDSC (Google Developer Student Club) Vice President </a:t>
            </a:r>
          </a:p>
          <a:p>
            <a:endParaRPr lang="en-US" dirty="0"/>
          </a:p>
          <a:p>
            <a:r>
              <a:rPr lang="en-US" dirty="0"/>
              <a:t>Home lab: </a:t>
            </a:r>
            <a:r>
              <a:rPr lang="en-US" dirty="0" err="1"/>
              <a:t>Proxmox</a:t>
            </a:r>
            <a:r>
              <a:rPr lang="en-US" dirty="0"/>
              <a:t> setup where I actually sandbox and run malware in a controlled environment — this comes from hands-on research, not just papers. </a:t>
            </a:r>
          </a:p>
          <a:p>
            <a:endParaRPr lang="en-US" dirty="0"/>
          </a:p>
          <a:p>
            <a:r>
              <a:rPr lang="en-US" dirty="0"/>
              <a:t>8x hackathon and CTF winner across Michigan — mostly AI and cybersecurity categories </a:t>
            </a:r>
          </a:p>
          <a:p>
            <a:endParaRPr lang="en-US" dirty="0"/>
          </a:p>
          <a:p>
            <a:r>
              <a:rPr lang="en-US" dirty="0"/>
              <a:t>Biggest project: </a:t>
            </a:r>
            <a:r>
              <a:rPr lang="en-US" b="1" dirty="0"/>
              <a:t>AGHORA</a:t>
            </a:r>
            <a:r>
              <a:rPr lang="en-US" dirty="0"/>
              <a:t> — AI-powered malware analysis platform, built from scratch — we'll get to it at the end Happy to be part of this chapter — excited to share what I've been working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 me frame the research for you. The question I kept coming back to was this:</a:t>
            </a:r>
          </a:p>
          <a:p>
            <a:endParaRPr lang="en-US" dirty="0"/>
          </a:p>
          <a:p>
            <a:r>
              <a:rPr lang="en-US" b="1" dirty="0"/>
              <a:t>Are LATAM threat actors isolated criminal gangs — or a connected ecosystem sharing techniques and infrastructure?</a:t>
            </a:r>
            <a:r>
              <a:rPr lang="en-US" dirty="0"/>
              <a:t> </a:t>
            </a:r>
          </a:p>
          <a:p>
            <a:endParaRPr lang="en-US" dirty="0"/>
          </a:p>
          <a:p>
            <a:r>
              <a:rPr lang="en-US" dirty="0"/>
              <a:t>That framing completely changes how you defend against them.</a:t>
            </a:r>
          </a:p>
          <a:p>
            <a:endParaRPr lang="en-US" dirty="0"/>
          </a:p>
          <a:p>
            <a:r>
              <a:rPr lang="en-US" dirty="0"/>
              <a:t>Scope: groups active 2024–2026 Methodology: pulled real campaign artifacts, mapped to MITRE ATT&amp;CK, compared families side by side Hold that question in mind as we walk through the groups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 some of you might be thinking, okay, South American threat groups, why does that affect me sitting here in Michigan? And that's a fair question. But here's the thing — </a:t>
            </a:r>
          </a:p>
          <a:p>
            <a:r>
              <a:rPr lang="en-US" dirty="0"/>
              <a:t>these are not regional threats anymore.</a:t>
            </a:r>
          </a:p>
          <a:p>
            <a:endParaRPr lang="en-US" dirty="0"/>
          </a:p>
          <a:p>
            <a:r>
              <a:rPr lang="en-US" dirty="0"/>
              <a:t>LATAM banking malware has been showing up in European and North American campaigns. </a:t>
            </a:r>
          </a:p>
          <a:p>
            <a:r>
              <a:rPr lang="en-US" dirty="0"/>
              <a:t>And I think the most telling example is </a:t>
            </a:r>
            <a:r>
              <a:rPr lang="en-US" dirty="0" err="1"/>
              <a:t>Grandoreiro</a:t>
            </a:r>
            <a:r>
              <a:rPr lang="en-US" dirty="0"/>
              <a:t>. There was a big international law enforcement action in 2024 that took it down. And you'd think, great, problem solved. But it wasn't. The infrastructure survived. The knowledge survived. The people behind it didn't disappear — they </a:t>
            </a:r>
            <a:r>
              <a:rPr lang="en-US" dirty="0" err="1"/>
              <a:t>adapted.And</a:t>
            </a:r>
            <a:r>
              <a:rPr lang="en-US" dirty="0"/>
              <a:t> on top of that, these groups are iterating on their tools faster than most enterprise teams can write signatures to catch them. </a:t>
            </a:r>
          </a:p>
          <a:p>
            <a:endParaRPr lang="en-US" dirty="0"/>
          </a:p>
          <a:p>
            <a:r>
              <a:rPr lang="en-US" dirty="0"/>
              <a:t>They're abusing Google Cloud Run, legitimate VPS providers — infrastructure that your network controls are basically giving a pass to because it looks </a:t>
            </a:r>
            <a:r>
              <a:rPr lang="en-US" dirty="0" err="1"/>
              <a:t>clean.The</a:t>
            </a:r>
            <a:r>
              <a:rPr lang="en-US" dirty="0"/>
              <a:t> bottom line is that the operational maturity of these groups is now genuinely comparable to global threat actors. These are not script kiddies.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Primary Targets:</a:t>
            </a:r>
            <a:r>
              <a:rPr lang="en-US" dirty="0"/>
              <a:t> Target Colombian and broader Latin American government and financial sectors</a:t>
            </a:r>
          </a:p>
          <a:p>
            <a:endParaRPr lang="en-US" b="1" dirty="0"/>
          </a:p>
          <a:p>
            <a:r>
              <a:rPr lang="en-US" b="1" dirty="0"/>
              <a:t>What sets them apart — speed:</a:t>
            </a:r>
            <a:r>
              <a:rPr lang="en-US" dirty="0"/>
              <a:t> When a new vulnerability drops, they move fast. Very short window between a patch release and a weaponized exploit. They're actively watching vulnerability disclosures — this isn't opportunistic, it's deliberate. </a:t>
            </a:r>
          </a:p>
          <a:p>
            <a:endParaRPr lang="en-US" b="1" dirty="0"/>
          </a:p>
          <a:p>
            <a:r>
              <a:rPr lang="en-US" b="1" dirty="0"/>
              <a:t>Delivery chain:</a:t>
            </a:r>
            <a:r>
              <a:rPr lang="en-US" dirty="0"/>
              <a:t> Spear phishing with weaponized attachments → web-based staging infrastructure → WebDAV for payload URLs </a:t>
            </a:r>
          </a:p>
          <a:p>
            <a:endParaRPr lang="en-US" b="1" dirty="0"/>
          </a:p>
          <a:p>
            <a:r>
              <a:rPr lang="en-US" b="1" dirty="0"/>
              <a:t>C2 infrastructure:</a:t>
            </a:r>
            <a:r>
              <a:rPr lang="en-US" dirty="0"/>
              <a:t> Very short TTLs on domains — constantly burning through infrastructure to stay ahead of blocklists </a:t>
            </a:r>
            <a:r>
              <a:rPr lang="en-US" b="1" dirty="0"/>
              <a:t>Artifact signals to hunt for:</a:t>
            </a:r>
            <a:r>
              <a:rPr lang="en-US" dirty="0"/>
              <a:t> Phishing lure templates, WebDAV staging URLs, registry persistence entries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Who they are:</a:t>
            </a:r>
            <a:r>
              <a:rPr lang="en-US" dirty="0"/>
              <a:t> Probably the most well-known LATAM banking trojan — targeted by 2024 international law enforcement action </a:t>
            </a:r>
            <a:r>
              <a:rPr lang="en-US" b="1" dirty="0"/>
              <a:t>The lesson from the takedown:</a:t>
            </a:r>
            <a:r>
              <a:rPr lang="en-US" dirty="0"/>
              <a:t> capability didn't disappear Modular architecture — loader separate from payload</a:t>
            </a:r>
          </a:p>
          <a:p>
            <a:r>
              <a:rPr lang="en-US" dirty="0"/>
              <a:t>Knowledge is still out there; not everyone was arrested.</a:t>
            </a:r>
          </a:p>
          <a:p>
            <a:endParaRPr lang="en-US" dirty="0"/>
          </a:p>
          <a:p>
            <a:r>
              <a:rPr lang="en-US" b="1" dirty="0"/>
              <a:t>Technical profile:</a:t>
            </a:r>
            <a:r>
              <a:rPr lang="en-US" dirty="0"/>
              <a:t> DGA( Domain </a:t>
            </a:r>
            <a:r>
              <a:rPr lang="en-US"/>
              <a:t>Generation Algorithms)-based </a:t>
            </a:r>
            <a:r>
              <a:rPr lang="en-US" dirty="0"/>
              <a:t>C2 — you can't block a static domain list</a:t>
            </a:r>
          </a:p>
          <a:p>
            <a:r>
              <a:rPr lang="en-US" dirty="0"/>
              <a:t>Spread via Outlook client abuse</a:t>
            </a:r>
          </a:p>
          <a:p>
            <a:r>
              <a:rPr lang="en-US" dirty="0"/>
              <a:t>Banking overlay attacks — fake login page rendered over real bank site, credentials intercepted in real time</a:t>
            </a:r>
          </a:p>
          <a:p>
            <a:endParaRPr lang="en-US" b="1" dirty="0"/>
          </a:p>
          <a:p>
            <a:r>
              <a:rPr lang="en-US" b="1" dirty="0"/>
              <a:t>Delivery:</a:t>
            </a:r>
            <a:r>
              <a:rPr lang="en-US" dirty="0"/>
              <a:t> LNK files inside ZIPs — still one of the most common techniques in the wild today, because it still works </a:t>
            </a:r>
            <a:r>
              <a:rPr lang="en-US" b="1" dirty="0"/>
              <a:t>Takeaway:</a:t>
            </a:r>
            <a:r>
              <a:rPr lang="en-US" dirty="0"/>
              <a:t> Law enforcement buys time. It doesn't solve the ecosystem problem.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Origins:</a:t>
            </a:r>
            <a:r>
              <a:rPr lang="en-US" dirty="0"/>
              <a:t> Both originate from Brazil, active since ~2019, significant evolution through 2024–2025 </a:t>
            </a:r>
            <a:r>
              <a:rPr lang="en-US" b="1" dirty="0" err="1"/>
              <a:t>Mispadu</a:t>
            </a:r>
            <a:r>
              <a:rPr lang="en-US" b="1" dirty="0"/>
              <a:t> targets:</a:t>
            </a:r>
            <a:r>
              <a:rPr lang="en-US" dirty="0"/>
              <a:t> Brazil, Mexico, Chile — financial sector users and everyday banking customers </a:t>
            </a:r>
            <a:r>
              <a:rPr lang="en-US" b="1" dirty="0" err="1"/>
              <a:t>Mekotio</a:t>
            </a:r>
            <a:r>
              <a:rPr lang="en-US" b="1" dirty="0"/>
              <a:t> targets:</a:t>
            </a:r>
            <a:r>
              <a:rPr lang="en-US" dirty="0"/>
              <a:t> Same region, plus expansion into Spanish-speaking Europe (particularly Spain) </a:t>
            </a:r>
            <a:r>
              <a:rPr lang="en-US" b="1" dirty="0"/>
              <a:t>Why cover together — nearly </a:t>
            </a:r>
          </a:p>
          <a:p>
            <a:r>
              <a:rPr lang="en-US" b="1" dirty="0"/>
              <a:t>identical delivery chain:</a:t>
            </a:r>
            <a:r>
              <a:rPr lang="en-US" dirty="0"/>
              <a:t> Phishing email → ZIP → malicious LNK → PowerShell → payload</a:t>
            </a:r>
          </a:p>
          <a:p>
            <a:r>
              <a:rPr lang="en-US" dirty="0"/>
              <a:t>Consistent, repeatable, keeps working because users keep clicking</a:t>
            </a:r>
          </a:p>
          <a:p>
            <a:r>
              <a:rPr lang="en-US" b="1" dirty="0"/>
              <a:t>Capabilities:</a:t>
            </a:r>
            <a:r>
              <a:rPr lang="en-US" dirty="0"/>
              <a:t> Credential harvesting</a:t>
            </a:r>
          </a:p>
          <a:p>
            <a:r>
              <a:rPr lang="en-US" dirty="0"/>
              <a:t>Clipboard monitoring — if anyone in your org handles crypto, wallet addresses get captured</a:t>
            </a:r>
          </a:p>
          <a:p>
            <a:r>
              <a:rPr lang="en-US" dirty="0"/>
              <a:t>Banking overlay attacks — fake login pages on top of real bank sites</a:t>
            </a:r>
          </a:p>
          <a:p>
            <a:r>
              <a:rPr lang="en-US" b="1" dirty="0"/>
              <a:t>Key insight:</a:t>
            </a:r>
            <a:r>
              <a:rPr lang="en-US" dirty="0"/>
              <a:t> Codebases are not rewritten — they are </a:t>
            </a:r>
            <a:r>
              <a:rPr lang="en-US" i="1" dirty="0"/>
              <a:t>refined</a:t>
            </a:r>
            <a:r>
              <a:rPr lang="en-US" dirty="0"/>
              <a:t>. Regular update cycles, consistent structure across versions. That is a professional software development lifecycle — not ad hoc crimeware.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Lampion:</a:t>
            </a:r>
            <a:r>
              <a:rPr lang="en-US" dirty="0"/>
              <a:t> Active since 2019, operates in Portugal and Brazil, targets banking customers with Portuguese-language lures </a:t>
            </a:r>
            <a:r>
              <a:rPr lang="en-US" b="1" dirty="0"/>
              <a:t>CHAVECLOAK:</a:t>
            </a:r>
            <a:r>
              <a:rPr lang="en-US" dirty="0"/>
              <a:t> Newer — emerged 2023, evolved through 2024, targeting Brazilian users and financial institutions </a:t>
            </a:r>
            <a:r>
              <a:rPr lang="en-US" b="1" dirty="0"/>
              <a:t>Both made a significant technical pivot: DLL sideloading</a:t>
            </a:r>
            <a:r>
              <a:rPr lang="en-US" dirty="0"/>
              <a:t> Windows apps sometimes load DLLs from the same folder as the executable</a:t>
            </a:r>
          </a:p>
          <a:p>
            <a:r>
              <a:rPr lang="en-US" dirty="0"/>
              <a:t>Attacker drops a malicious DLL with the right name → signed, trusted app loads it for them</a:t>
            </a:r>
          </a:p>
          <a:p>
            <a:r>
              <a:rPr lang="en-US" dirty="0"/>
              <a:t>No unsigned code running directly. No obvious alert. Malicious execution behind a trusted binary.</a:t>
            </a:r>
          </a:p>
          <a:p>
            <a:r>
              <a:rPr lang="en-US" b="1" dirty="0"/>
              <a:t>CHAVECLOAK's full chain:</a:t>
            </a:r>
            <a:r>
              <a:rPr lang="en-US" dirty="0"/>
              <a:t> PDF lure → ZIP → DLL sideload setup — initial execution looks completely benign </a:t>
            </a:r>
            <a:r>
              <a:rPr lang="en-US" b="1" dirty="0"/>
              <a:t>Detection signals:</a:t>
            </a:r>
            <a:r>
              <a:rPr lang="en-US" dirty="0"/>
              <a:t> DLL sideload file pairs (signed EXE next to unexpected DLL), unusual parent-child process relationships, consistent file path staging patterns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Fundamentally different from everything else on this list</a:t>
            </a:r>
            <a:r>
              <a:rPr lang="en-US" dirty="0"/>
              <a:t> </a:t>
            </a:r>
            <a:r>
              <a:rPr lang="en-US" b="1" dirty="0"/>
              <a:t>Who they are:</a:t>
            </a:r>
            <a:r>
              <a:rPr lang="en-US" dirty="0"/>
              <a:t> Hack-for-hire — mercenary cyber espionage operation. Someone pays them to get in, they get in.</a:t>
            </a:r>
          </a:p>
          <a:p>
            <a:endParaRPr lang="en-US" dirty="0"/>
          </a:p>
          <a:p>
            <a:r>
              <a:rPr lang="en-US" b="1" dirty="0"/>
              <a:t>Custom tooling</a:t>
            </a:r>
            <a:r>
              <a:rPr lang="en-US" dirty="0"/>
              <a:t> — doesn't appear anywhere in the shared crimeware ecosystem; makes attribution significantly harder </a:t>
            </a:r>
          </a:p>
          <a:p>
            <a:r>
              <a:rPr lang="en-US" b="1" dirty="0"/>
              <a:t>C2:</a:t>
            </a:r>
            <a:r>
              <a:rPr lang="en-US" dirty="0"/>
              <a:t> Multi-hop SSH tunneling to obscure operator origin </a:t>
            </a:r>
            <a:r>
              <a:rPr lang="en-US" b="1" dirty="0"/>
              <a:t>Priority: dwell time, not speed</a:t>
            </a:r>
            <a:r>
              <a:rPr lang="en-US" dirty="0"/>
              <a:t> — not there to steal credentials today; there to stay hidden for months </a:t>
            </a:r>
          </a:p>
          <a:p>
            <a:endParaRPr lang="en-US" b="1" dirty="0"/>
          </a:p>
          <a:p>
            <a:r>
              <a:rPr lang="en-US" b="1" dirty="0"/>
              <a:t>Why this matters:</a:t>
            </a:r>
            <a:r>
              <a:rPr lang="en-US" dirty="0"/>
              <a:t> Completely different threat model Requires detection strategies built around behavioral anomalies over time</a:t>
            </a:r>
          </a:p>
          <a:p>
            <a:r>
              <a:rPr lang="en-US" dirty="0"/>
              <a:t>IOC matching won't find them — they're not reusing known tools</a:t>
            </a:r>
          </a:p>
          <a:p>
            <a:endParaRPr lang="en-US" b="1" dirty="0"/>
          </a:p>
          <a:p>
            <a:r>
              <a:rPr lang="en-US" b="1" dirty="0"/>
              <a:t>Contrast:</a:t>
            </a:r>
            <a:r>
              <a:rPr lang="en-US" dirty="0"/>
              <a:t> Banking groups are crimeware-grade in objectives; </a:t>
            </a:r>
            <a:r>
              <a:rPr lang="en-US" dirty="0" err="1"/>
              <a:t>CostaRicto</a:t>
            </a:r>
            <a:r>
              <a:rPr lang="en-US" dirty="0"/>
              <a:t> looks more like nation-state tradecraft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ommon</a:t>
            </a:r>
            <a:r>
              <a:rPr lang="en-US" b="1" dirty="0"/>
              <a:t> techniques across all families:</a:t>
            </a:r>
            <a:r>
              <a:rPr lang="en-US" dirty="0"/>
              <a:t> T1566 — Phishing</a:t>
            </a:r>
          </a:p>
          <a:p>
            <a:r>
              <a:rPr lang="en-US" dirty="0"/>
              <a:t>T1059 — PowerShell</a:t>
            </a:r>
          </a:p>
          <a:p>
            <a:r>
              <a:rPr lang="en-US" dirty="0"/>
              <a:t>T1547 — Registry persistence</a:t>
            </a:r>
          </a:p>
          <a:p>
            <a:r>
              <a:rPr lang="en-US" dirty="0"/>
              <a:t>T1027 — Obfuscation</a:t>
            </a:r>
          </a:p>
          <a:p>
            <a:r>
              <a:rPr lang="en-US" b="1" dirty="0"/>
              <a:t>The one to call out: T1218 — Signed Binary Proxy Execution (</a:t>
            </a:r>
            <a:r>
              <a:rPr lang="en-US" b="1" dirty="0" err="1"/>
              <a:t>LOLBins</a:t>
            </a:r>
            <a:r>
              <a:rPr lang="en-US" b="1" dirty="0"/>
              <a:t>)</a:t>
            </a:r>
            <a:r>
              <a:rPr lang="en-US" dirty="0"/>
              <a:t> Shows up in almost every family covered tonight</a:t>
            </a:r>
          </a:p>
          <a:p>
            <a:r>
              <a:rPr lang="en-US" dirty="0"/>
              <a:t>If you're not actively monitoring legitimate Windows binaries being used to proxy malicious execution — </a:t>
            </a:r>
            <a:r>
              <a:rPr lang="en-US" b="1" dirty="0"/>
              <a:t>that is a genuine blind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Signature detection is losing the race</a:t>
            </a:r>
            <a:r>
              <a:rPr lang="en-US" dirty="0"/>
              <a:t> - these groups iterate faster than signatures can track; by the time a sig is deployed, they've moved.</a:t>
            </a:r>
          </a:p>
          <a:p>
            <a:r>
              <a:rPr lang="en-US" b="1" dirty="0"/>
              <a:t>Behavioral PowerShell monitoring is non-negotiable</a:t>
            </a:r>
            <a:r>
              <a:rPr lang="en-US" dirty="0"/>
              <a:t> - multi-layer encoding is standard; static detection won't catch it.</a:t>
            </a:r>
          </a:p>
          <a:p>
            <a:r>
              <a:rPr lang="en-US" b="1" dirty="0"/>
              <a:t>Hunt abnormal process trees</a:t>
            </a:r>
            <a:r>
              <a:rPr lang="en-US" dirty="0"/>
              <a:t> - Office spawning PowerShell spawning </a:t>
            </a:r>
            <a:r>
              <a:rPr lang="en-US" dirty="0" err="1"/>
              <a:t>wscript</a:t>
            </a:r>
            <a:r>
              <a:rPr lang="en-US" dirty="0"/>
              <a:t> is a durable behavioral signal; doesn't depend on any specific IOC </a:t>
            </a:r>
          </a:p>
          <a:p>
            <a:r>
              <a:rPr lang="en-US" b="1" dirty="0"/>
              <a:t>Build detections around TTPs, not malware names</a:t>
            </a:r>
            <a:r>
              <a:rPr lang="en-US" dirty="0"/>
              <a:t> - IOCs expire in weeks; behavioral detections last years </a:t>
            </a:r>
            <a:r>
              <a:rPr lang="en-US" b="1" dirty="0"/>
              <a:t>Correlate infrastructure intelligence</a:t>
            </a:r>
            <a:r>
              <a:rPr lang="en-US" dirty="0"/>
              <a:t> — short-TTL domains, cloud provider abuse, TLS fingerprint reuse are actor-level patterns that persist across campaigns and across groups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to wrap up the threat research portion.</a:t>
            </a:r>
          </a:p>
          <a:p>
            <a:r>
              <a:rPr lang="en-US" dirty="0"/>
              <a:t>LATAM actors are no longer regionally confined.</a:t>
            </a:r>
          </a:p>
          <a:p>
            <a:r>
              <a:rPr lang="en-US" dirty="0"/>
              <a:t>They show professional development discipline Infrastructure is getting more agile, not less Delivery innovation spreads ecosystem-wide </a:t>
            </a:r>
          </a:p>
          <a:p>
            <a:endParaRPr lang="en-US" b="1" dirty="0"/>
          </a:p>
          <a:p>
            <a:r>
              <a:rPr lang="en-US" b="1" dirty="0"/>
              <a:t>Your detection strategy must be behavior-focused, not malware-brand-focused</a:t>
            </a:r>
            <a:r>
              <a:rPr lang="en-US" dirty="0"/>
              <a:t> The real advantage: tracking </a:t>
            </a:r>
            <a:r>
              <a:rPr lang="en-US" i="1" dirty="0"/>
              <a:t>how</a:t>
            </a:r>
            <a:r>
              <a:rPr lang="en-US" dirty="0"/>
              <a:t> they evolve — not chasing what they've already done </a:t>
            </a:r>
            <a:r>
              <a:rPr lang="en-US" i="1" dirty="0"/>
              <a:t>Transition:</a:t>
            </a:r>
            <a:r>
              <a:rPr lang="en-US" dirty="0"/>
              <a:t> Now let me show you what I built to apply exactly this kind of analysis automatically to any binary.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AGHORA</a:t>
            </a:r>
            <a:r>
              <a:rPr lang="en-US" dirty="0"/>
              <a:t> — Agentic Guided Heuristic, Orchestration, Reasoning, and Analysis AI-powered malware analysis platform, built from scratch Let me show you what it does</a:t>
            </a:r>
          </a:p>
        </p:txBody>
      </p:sp>
    </p:spTree>
    <p:extLst>
      <p:ext uri="{BB962C8B-B14F-4D97-AF65-F5344CB8AC3E}">
        <p14:creationId xmlns:p14="http://schemas.microsoft.com/office/powerpoint/2010/main" val="3781589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The problem:</a:t>
            </a:r>
            <a:r>
              <a:rPr lang="en-US" dirty="0"/>
              <a:t> Proper malware analysis is multi-tool and manual PE structure, imports, packer detection, string extraction, </a:t>
            </a:r>
            <a:r>
              <a:rPr lang="en-US" dirty="0" err="1"/>
              <a:t>decompilation</a:t>
            </a:r>
            <a:r>
              <a:rPr lang="en-US" dirty="0"/>
              <a:t>, MITRE mapping, written report</a:t>
            </a:r>
          </a:p>
          <a:p>
            <a:endParaRPr lang="en-US" dirty="0"/>
          </a:p>
          <a:p>
            <a:r>
              <a:rPr lang="en-US" dirty="0"/>
              <a:t>All the tools exist — PE Studio, </a:t>
            </a:r>
            <a:r>
              <a:rPr lang="en-US" dirty="0" err="1"/>
              <a:t>Ghidra</a:t>
            </a:r>
            <a:r>
              <a:rPr lang="en-US" dirty="0"/>
              <a:t>, LLMs — but they're siloed</a:t>
            </a:r>
          </a:p>
          <a:p>
            <a:r>
              <a:rPr lang="en-US" dirty="0"/>
              <a:t>Context-switching between five tools, manual correlation, write-up yourself. For one sample. Then do it again.</a:t>
            </a:r>
          </a:p>
          <a:p>
            <a:endParaRPr lang="en-US" b="1" dirty="0"/>
          </a:p>
          <a:p>
            <a:r>
              <a:rPr lang="en-US" b="1" dirty="0"/>
              <a:t>That doesn't scale…AGHORA's solution:</a:t>
            </a:r>
            <a:r>
              <a:rPr lang="en-US" dirty="0"/>
              <a:t> Single automated pipeline — drop in a file, get a complete AI-authored threat intelligence report in minutes MITRE-mapped, IOC appendix, full analyst narrative</a:t>
            </a:r>
          </a:p>
          <a:p>
            <a:r>
              <a:rPr lang="en-US" b="1" dirty="0"/>
              <a:t>Runs completely locally</a:t>
            </a:r>
            <a:r>
              <a:rPr lang="en-US" dirty="0"/>
              <a:t> — no cloud, no API keys, no sending malware samples to third-party services For air-gapped or sensitive environments, that's not a nice-to-have — it's a hard requirement</a:t>
            </a:r>
          </a:p>
        </p:txBody>
      </p:sp>
    </p:spTree>
    <p:extLst>
      <p:ext uri="{BB962C8B-B14F-4D97-AF65-F5344CB8AC3E}">
        <p14:creationId xmlns:p14="http://schemas.microsoft.com/office/powerpoint/2010/main" val="724087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b="1" dirty="0"/>
              <a:t>Full-stack integration:</a:t>
            </a:r>
            <a:r>
              <a:rPr lang="en-US" dirty="0"/>
              <a:t> React frontend + </a:t>
            </a:r>
            <a:r>
              <a:rPr lang="en-US" dirty="0" err="1"/>
              <a:t>FastAPI</a:t>
            </a:r>
            <a:r>
              <a:rPr lang="en-US" dirty="0"/>
              <a:t> backend + Python analysis engine — connected and communicating in real time </a:t>
            </a:r>
            <a:r>
              <a:rPr lang="en-US" b="1" dirty="0" err="1"/>
              <a:t>Ghidra</a:t>
            </a:r>
            <a:r>
              <a:rPr lang="en-US" b="1" dirty="0"/>
              <a:t> headless integration</a:t>
            </a:r>
            <a:r>
              <a:rPr lang="en-US" dirty="0"/>
              <a:t> — biggest technical challenge Automated </a:t>
            </a:r>
            <a:r>
              <a:rPr lang="en-US" dirty="0" err="1"/>
              <a:t>decompilation</a:t>
            </a:r>
            <a:r>
              <a:rPr lang="en-US" dirty="0"/>
              <a:t> inside a pipeline, no GUI, no manual steps</a:t>
            </a:r>
          </a:p>
          <a:p>
            <a:r>
              <a:rPr lang="en-US" dirty="0"/>
              <a:t>Took significant iteration to get reliable</a:t>
            </a:r>
          </a:p>
          <a:p>
            <a:r>
              <a:rPr lang="en-US" b="1" dirty="0"/>
              <a:t>LLM narrative quality</a:t>
            </a:r>
            <a:r>
              <a:rPr lang="en-US" dirty="0"/>
              <a:t> — not a template with values filled in Model reasons about the evidence and explains what it means</a:t>
            </a:r>
          </a:p>
          <a:p>
            <a:r>
              <a:rPr lang="en-US" dirty="0"/>
              <a:t>Cites specific entropy values, suspicious imports, decompiled function names from the actual sample</a:t>
            </a:r>
          </a:p>
          <a:p>
            <a:r>
              <a:rPr lang="en-US" b="1"/>
              <a:t>Real-time WebSocket tracking</a:t>
            </a:r>
            <a:r>
              <a:rPr lang="en-US"/>
              <a:t> — watch the analysis pipeline step by step in your browser as it runs </a:t>
            </a:r>
            <a:r>
              <a:rPr lang="en-US" b="1"/>
              <a:t>MITRE auto-mapping + interactive IOC graph</a:t>
            </a:r>
            <a:r>
              <a:rPr lang="en-US"/>
              <a:t> — explore indicator relationships visually </a:t>
            </a:r>
            <a:r>
              <a:rPr lang="en-US" b="1"/>
              <a:t>Runs on commodity hardware</a:t>
            </a:r>
            <a:r>
              <a:rPr lang="en-US"/>
              <a:t> — no GPU required, 16GB+ RAM, zero subscription or cloud costs</a:t>
            </a:r>
            <a:endParaRPr lang="en-US" dirty="0"/>
          </a:p>
        </p:txBody>
      </p:sp>
    </p:spTree>
    <p:extLst>
      <p:ext uri="{BB962C8B-B14F-4D97-AF65-F5344CB8AC3E}">
        <p14:creationId xmlns:p14="http://schemas.microsoft.com/office/powerpoint/2010/main" val="36428016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Shape 1"/>
          <p:cNvSpPr/>
          <p:nvPr/>
        </p:nvSpPr>
        <p:spPr>
          <a:xfrm>
            <a:off x="5486400" y="-1371600"/>
            <a:ext cx="5943600" cy="5943600"/>
          </a:xfrm>
          <a:prstGeom prst="ellipse">
            <a:avLst/>
          </a:prstGeom>
          <a:solidFill>
            <a:srgbClr val="1D3557">
              <a:alpha val="50000"/>
            </a:srgbClr>
          </a:solidFill>
          <a:ln w="19050">
            <a:solidFill>
              <a:srgbClr val="457B9D"/>
            </a:solidFill>
            <a:prstDash val="solid"/>
          </a:ln>
        </p:spPr>
        <p:txBody>
          <a:bodyPr/>
          <a:lstStyle/>
          <a:p>
            <a:endParaRPr lang="en-US"/>
          </a:p>
        </p:txBody>
      </p:sp>
      <p:sp>
        <p:nvSpPr>
          <p:cNvPr id="4" name="Text 2"/>
          <p:cNvSpPr/>
          <p:nvPr/>
        </p:nvSpPr>
        <p:spPr>
          <a:xfrm>
            <a:off x="548640" y="731520"/>
            <a:ext cx="6400800" cy="457200"/>
          </a:xfrm>
          <a:prstGeom prst="rect">
            <a:avLst/>
          </a:prstGeom>
          <a:noFill/>
          <a:ln/>
        </p:spPr>
        <p:txBody>
          <a:bodyPr wrap="square" lIns="0" tIns="0" rIns="0" bIns="0" rtlCol="0" anchor="ctr"/>
          <a:lstStyle/>
          <a:p>
            <a:pPr marL="0" indent="0">
              <a:buNone/>
            </a:pPr>
            <a:r>
              <a:rPr lang="en-US" sz="1100" b="1" kern="0" spc="400" dirty="0">
                <a:solidFill>
                  <a:srgbClr val="E63946"/>
                </a:solidFill>
              </a:rPr>
              <a:t>BEYOND ASTAROTH</a:t>
            </a:r>
            <a:endParaRPr lang="en-US" sz="1100" dirty="0"/>
          </a:p>
        </p:txBody>
      </p:sp>
      <p:sp>
        <p:nvSpPr>
          <p:cNvPr id="5" name="Text 3"/>
          <p:cNvSpPr/>
          <p:nvPr/>
        </p:nvSpPr>
        <p:spPr>
          <a:xfrm>
            <a:off x="548640" y="1188720"/>
            <a:ext cx="7315200" cy="2286000"/>
          </a:xfrm>
          <a:prstGeom prst="rect">
            <a:avLst/>
          </a:prstGeom>
          <a:noFill/>
          <a:ln/>
        </p:spPr>
        <p:txBody>
          <a:bodyPr wrap="square" rtlCol="0" anchor="ctr"/>
          <a:lstStyle/>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LATAM Threat Groups,</a:t>
            </a:r>
            <a:endParaRPr lang="en-US" sz="3400" dirty="0"/>
          </a:p>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Malware Ecosystems &amp;</a:t>
            </a:r>
            <a:endParaRPr lang="en-US" sz="3400" dirty="0"/>
          </a:p>
          <a:p>
            <a:pPr marL="0" indent="0">
              <a:lnSpc>
                <a:spcPct val="115000"/>
              </a:lnSpc>
              <a:buNone/>
            </a:pPr>
            <a:r>
              <a:rPr lang="en-US" sz="3400" b="1" dirty="0">
                <a:solidFill>
                  <a:srgbClr val="FFFFFF"/>
                </a:solidFill>
                <a:latin typeface="Calibri" pitchFamily="34" charset="0"/>
                <a:ea typeface="Calibri" pitchFamily="34" charset="-122"/>
                <a:cs typeface="Calibri" pitchFamily="34" charset="-120"/>
              </a:rPr>
              <a:t>Evolving Tradecraft</a:t>
            </a:r>
            <a:endParaRPr lang="en-US" sz="3400" dirty="0"/>
          </a:p>
        </p:txBody>
      </p:sp>
      <p:sp>
        <p:nvSpPr>
          <p:cNvPr id="6" name="Text 4"/>
          <p:cNvSpPr/>
          <p:nvPr/>
        </p:nvSpPr>
        <p:spPr>
          <a:xfrm>
            <a:off x="548640" y="3474720"/>
            <a:ext cx="3657600" cy="365760"/>
          </a:xfrm>
          <a:prstGeom prst="rect">
            <a:avLst/>
          </a:prstGeom>
          <a:noFill/>
          <a:ln/>
        </p:spPr>
        <p:txBody>
          <a:bodyPr wrap="square" lIns="0" tIns="0" rIns="0" bIns="0" rtlCol="0" anchor="ctr"/>
          <a:lstStyle/>
          <a:p>
            <a:pPr marL="0" indent="0">
              <a:buNone/>
            </a:pPr>
            <a:r>
              <a:rPr lang="en-US" sz="1400" i="1" dirty="0">
                <a:solidFill>
                  <a:srgbClr val="A8DADC"/>
                </a:solidFill>
              </a:rPr>
              <a:t>2024 — 2026</a:t>
            </a:r>
            <a:endParaRPr lang="en-US" sz="1400" dirty="0"/>
          </a:p>
        </p:txBody>
      </p:sp>
      <p:sp>
        <p:nvSpPr>
          <p:cNvPr id="7" name="Shape 5"/>
          <p:cNvSpPr/>
          <p:nvPr/>
        </p:nvSpPr>
        <p:spPr>
          <a:xfrm>
            <a:off x="548640" y="3977640"/>
            <a:ext cx="4114800" cy="0"/>
          </a:xfrm>
          <a:prstGeom prst="line">
            <a:avLst/>
          </a:prstGeom>
          <a:noFill/>
          <a:ln w="12700">
            <a:solidFill>
              <a:srgbClr val="457B9D"/>
            </a:solidFill>
            <a:prstDash val="solid"/>
          </a:ln>
        </p:spPr>
        <p:txBody>
          <a:bodyPr/>
          <a:lstStyle/>
          <a:p>
            <a:endParaRPr lang="en-US"/>
          </a:p>
        </p:txBody>
      </p:sp>
      <p:sp>
        <p:nvSpPr>
          <p:cNvPr id="8" name="Text 6"/>
          <p:cNvSpPr/>
          <p:nvPr/>
        </p:nvSpPr>
        <p:spPr>
          <a:xfrm>
            <a:off x="548640" y="4160520"/>
            <a:ext cx="4572000" cy="320040"/>
          </a:xfrm>
          <a:prstGeom prst="rect">
            <a:avLst/>
          </a:prstGeom>
          <a:noFill/>
          <a:ln/>
        </p:spPr>
        <p:txBody>
          <a:bodyPr wrap="square" lIns="0" tIns="0" rIns="0" bIns="0" rtlCol="0" anchor="ctr"/>
          <a:lstStyle/>
          <a:p>
            <a:pPr marL="0" indent="0">
              <a:buNone/>
            </a:pPr>
            <a:r>
              <a:rPr lang="en-US" sz="1300" b="1" dirty="0">
                <a:solidFill>
                  <a:srgbClr val="FFFFFF"/>
                </a:solidFill>
              </a:rPr>
              <a:t>Karthikeya Thota</a:t>
            </a:r>
            <a:endParaRPr lang="en-US" sz="1300" dirty="0"/>
          </a:p>
        </p:txBody>
      </p:sp>
      <p:sp>
        <p:nvSpPr>
          <p:cNvPr id="9" name="Text 7"/>
          <p:cNvSpPr/>
          <p:nvPr/>
        </p:nvSpPr>
        <p:spPr>
          <a:xfrm>
            <a:off x="548640" y="4507992"/>
            <a:ext cx="6400800" cy="274320"/>
          </a:xfrm>
          <a:prstGeom prst="rect">
            <a:avLst/>
          </a:prstGeom>
          <a:noFill/>
          <a:ln/>
        </p:spPr>
        <p:txBody>
          <a:bodyPr wrap="square" lIns="0" tIns="0" rIns="0" bIns="0" rtlCol="0" anchor="ctr"/>
          <a:lstStyle/>
          <a:p>
            <a:pPr marL="0" indent="0">
              <a:buNone/>
            </a:pPr>
            <a:r>
              <a:rPr lang="en-US" sz="1100" dirty="0">
                <a:solidFill>
                  <a:srgbClr val="8899A6"/>
                </a:solidFill>
              </a:rPr>
              <a:t>Eastern Michigan University  |  ISC² Detroit Chapter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Shape 1"/>
          <p:cNvSpPr/>
          <p:nvPr/>
        </p:nvSpPr>
        <p:spPr>
          <a:xfrm>
            <a:off x="0" y="93726"/>
            <a:ext cx="2926080" cy="5070348"/>
          </a:xfrm>
          <a:prstGeom prst="rect">
            <a:avLst/>
          </a:prstGeom>
          <a:solidFill>
            <a:srgbClr val="1D3557"/>
          </a:solidFill>
          <a:ln w="12700">
            <a:solidFill>
              <a:srgbClr val="1D3557"/>
            </a:solidFill>
            <a:prstDash val="solid"/>
          </a:ln>
        </p:spPr>
        <p:txBody>
          <a:bodyPr/>
          <a:lstStyle/>
          <a:p>
            <a:endParaRPr lang="en-US"/>
          </a:p>
        </p:txBody>
      </p:sp>
      <p:sp>
        <p:nvSpPr>
          <p:cNvPr id="4" name="Shape 2"/>
          <p:cNvSpPr/>
          <p:nvPr/>
        </p:nvSpPr>
        <p:spPr>
          <a:xfrm>
            <a:off x="228600" y="274320"/>
            <a:ext cx="2377440" cy="457200"/>
          </a:xfrm>
          <a:prstGeom prst="rect">
            <a:avLst/>
          </a:prstGeom>
          <a:solidFill>
            <a:srgbClr val="0D1B2A"/>
          </a:solidFill>
          <a:ln w="12700">
            <a:solidFill>
              <a:srgbClr val="E63946"/>
            </a:solidFill>
            <a:prstDash val="solid"/>
          </a:ln>
        </p:spPr>
        <p:txBody>
          <a:bodyPr/>
          <a:lstStyle/>
          <a:p>
            <a:endParaRPr lang="en-US"/>
          </a:p>
        </p:txBody>
      </p:sp>
      <p:sp>
        <p:nvSpPr>
          <p:cNvPr id="5" name="Text 3"/>
          <p:cNvSpPr/>
          <p:nvPr/>
        </p:nvSpPr>
        <p:spPr>
          <a:xfrm>
            <a:off x="228600" y="274320"/>
            <a:ext cx="2377440" cy="457200"/>
          </a:xfrm>
          <a:prstGeom prst="rect">
            <a:avLst/>
          </a:prstGeom>
          <a:noFill/>
          <a:ln/>
        </p:spPr>
        <p:txBody>
          <a:bodyPr wrap="square" lIns="0" tIns="0" rIns="0" bIns="0" rtlCol="0" anchor="ctr"/>
          <a:lstStyle/>
          <a:p>
            <a:pPr marL="0" indent="0" algn="ctr">
              <a:buNone/>
            </a:pPr>
            <a:r>
              <a:rPr lang="en-US" sz="1300" b="1" dirty="0">
                <a:solidFill>
                  <a:srgbClr val="E63946"/>
                </a:solidFill>
                <a:latin typeface="Consolas" pitchFamily="34" charset="0"/>
                <a:ea typeface="Consolas" pitchFamily="34" charset="-122"/>
                <a:cs typeface="Consolas" pitchFamily="34" charset="-120"/>
              </a:rPr>
              <a:t>$ whoami</a:t>
            </a:r>
            <a:endParaRPr lang="en-US" sz="1300" dirty="0"/>
          </a:p>
        </p:txBody>
      </p:sp>
      <p:sp>
        <p:nvSpPr>
          <p:cNvPr id="6" name="Shape 4"/>
          <p:cNvSpPr/>
          <p:nvPr/>
        </p:nvSpPr>
        <p:spPr>
          <a:xfrm>
            <a:off x="777240" y="914400"/>
            <a:ext cx="1371600" cy="1371600"/>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w="25400">
            <a:solidFill>
              <a:srgbClr val="A8DADC"/>
            </a:solidFill>
            <a:prstDash val="solid"/>
          </a:ln>
        </p:spPr>
        <p:txBody>
          <a:bodyPr/>
          <a:lstStyle/>
          <a:p>
            <a:endParaRPr lang="en-US"/>
          </a:p>
        </p:txBody>
      </p:sp>
      <p:sp>
        <p:nvSpPr>
          <p:cNvPr id="7" name="Text 5"/>
          <p:cNvSpPr/>
          <p:nvPr/>
        </p:nvSpPr>
        <p:spPr>
          <a:xfrm>
            <a:off x="777240" y="914400"/>
            <a:ext cx="1371600" cy="1371600"/>
          </a:xfrm>
          <a:prstGeom prst="rect">
            <a:avLst/>
          </a:prstGeom>
          <a:noFill/>
          <a:ln/>
        </p:spPr>
        <p:txBody>
          <a:bodyPr wrap="square" lIns="0" tIns="0" rIns="0" bIns="0" rtlCol="0" anchor="ctr"/>
          <a:lstStyle/>
          <a:p>
            <a:pPr marL="0" indent="0" algn="ctr">
              <a:buNone/>
            </a:pPr>
            <a:endParaRPr lang="en-US" sz="3200" dirty="0"/>
          </a:p>
        </p:txBody>
      </p:sp>
      <p:sp>
        <p:nvSpPr>
          <p:cNvPr id="8" name="Text 6"/>
          <p:cNvSpPr/>
          <p:nvPr/>
        </p:nvSpPr>
        <p:spPr>
          <a:xfrm>
            <a:off x="91440" y="242316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rPr>
              <a:t>Karthikeya Thota</a:t>
            </a:r>
            <a:endParaRPr lang="en-US" sz="1400" dirty="0"/>
          </a:p>
        </p:txBody>
      </p:sp>
      <p:sp>
        <p:nvSpPr>
          <p:cNvPr id="9" name="Text 7"/>
          <p:cNvSpPr/>
          <p:nvPr/>
        </p:nvSpPr>
        <p:spPr>
          <a:xfrm>
            <a:off x="91440" y="2834640"/>
            <a:ext cx="2743200" cy="320040"/>
          </a:xfrm>
          <a:prstGeom prst="rect">
            <a:avLst/>
          </a:prstGeom>
          <a:noFill/>
          <a:ln/>
        </p:spPr>
        <p:txBody>
          <a:bodyPr wrap="square" lIns="0" tIns="0" rIns="0" bIns="0" rtlCol="0" anchor="ctr"/>
          <a:lstStyle/>
          <a:p>
            <a:pPr marL="0" indent="0" algn="ctr">
              <a:buNone/>
            </a:pPr>
            <a:r>
              <a:rPr lang="en-US" sz="1100" i="1" dirty="0">
                <a:solidFill>
                  <a:srgbClr val="A8DADC"/>
                </a:solidFill>
              </a:rPr>
              <a:t>Cybersecurity Researcher</a:t>
            </a:r>
            <a:endParaRPr lang="en-US" sz="1100" dirty="0"/>
          </a:p>
        </p:txBody>
      </p:sp>
      <p:sp>
        <p:nvSpPr>
          <p:cNvPr id="10" name="Shape 8"/>
          <p:cNvSpPr/>
          <p:nvPr/>
        </p:nvSpPr>
        <p:spPr>
          <a:xfrm>
            <a:off x="365760" y="3246120"/>
            <a:ext cx="2148840" cy="0"/>
          </a:xfrm>
          <a:prstGeom prst="line">
            <a:avLst/>
          </a:prstGeom>
          <a:noFill/>
          <a:ln w="12700">
            <a:solidFill>
              <a:srgbClr val="457B9D"/>
            </a:solidFill>
            <a:prstDash val="solid"/>
          </a:ln>
        </p:spPr>
        <p:txBody>
          <a:bodyPr/>
          <a:lstStyle/>
          <a:p>
            <a:endParaRPr lang="en-US"/>
          </a:p>
        </p:txBody>
      </p:sp>
      <p:sp>
        <p:nvSpPr>
          <p:cNvPr id="11" name="Text 9"/>
          <p:cNvSpPr/>
          <p:nvPr/>
        </p:nvSpPr>
        <p:spPr>
          <a:xfrm>
            <a:off x="91440" y="3337560"/>
            <a:ext cx="2743200" cy="320040"/>
          </a:xfrm>
          <a:prstGeom prst="rect">
            <a:avLst/>
          </a:prstGeom>
          <a:noFill/>
          <a:ln/>
        </p:spPr>
        <p:txBody>
          <a:bodyPr wrap="square" lIns="0" tIns="0" rIns="0" bIns="0" rtlCol="0" anchor="ctr"/>
          <a:lstStyle/>
          <a:p>
            <a:pPr marL="0" indent="0" algn="ctr">
              <a:buNone/>
            </a:pPr>
            <a:r>
              <a:rPr lang="en-US" sz="1000" dirty="0">
                <a:solidFill>
                  <a:srgbClr val="8899A6"/>
                </a:solidFill>
              </a:rPr>
              <a:t>Eastern Michigan University</a:t>
            </a:r>
            <a:endParaRPr lang="en-US" sz="1000" dirty="0"/>
          </a:p>
        </p:txBody>
      </p:sp>
      <p:sp>
        <p:nvSpPr>
          <p:cNvPr id="12" name="Text 10"/>
          <p:cNvSpPr/>
          <p:nvPr/>
        </p:nvSpPr>
        <p:spPr>
          <a:xfrm>
            <a:off x="91440" y="3639312"/>
            <a:ext cx="2743200" cy="274320"/>
          </a:xfrm>
          <a:prstGeom prst="rect">
            <a:avLst/>
          </a:prstGeom>
          <a:noFill/>
          <a:ln/>
        </p:spPr>
        <p:txBody>
          <a:bodyPr wrap="square" lIns="0" tIns="0" rIns="0" bIns="0" rtlCol="0" anchor="ctr"/>
          <a:lstStyle/>
          <a:p>
            <a:pPr marL="0" indent="0" algn="ctr">
              <a:buNone/>
            </a:pPr>
            <a:r>
              <a:rPr lang="en-US" sz="1000" dirty="0">
                <a:solidFill>
                  <a:srgbClr val="8899A6"/>
                </a:solidFill>
              </a:rPr>
              <a:t>ISC² Detroit Chapter</a:t>
            </a:r>
            <a:endParaRPr lang="en-US" sz="1000" dirty="0"/>
          </a:p>
        </p:txBody>
      </p:sp>
      <p:sp>
        <p:nvSpPr>
          <p:cNvPr id="13" name="Shape 11"/>
          <p:cNvSpPr/>
          <p:nvPr/>
        </p:nvSpPr>
        <p:spPr>
          <a:xfrm>
            <a:off x="3108960" y="256032"/>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14" name="Shape 12"/>
          <p:cNvSpPr/>
          <p:nvPr/>
        </p:nvSpPr>
        <p:spPr>
          <a:xfrm>
            <a:off x="3200400" y="420624"/>
            <a:ext cx="475488" cy="475488"/>
          </a:xfrm>
          <a:prstGeom prst="ellipse">
            <a:avLst/>
          </a:prstGeom>
          <a:solidFill>
            <a:srgbClr val="E63946"/>
          </a:solidFill>
          <a:ln w="12700">
            <a:solidFill>
              <a:srgbClr val="E63946"/>
            </a:solidFill>
            <a:prstDash val="solid"/>
          </a:ln>
        </p:spPr>
        <p:txBody>
          <a:bodyPr/>
          <a:lstStyle/>
          <a:p>
            <a:endParaRPr lang="en-US"/>
          </a:p>
        </p:txBody>
      </p:sp>
      <p:sp>
        <p:nvSpPr>
          <p:cNvPr id="15" name="Text 13"/>
          <p:cNvSpPr/>
          <p:nvPr/>
        </p:nvSpPr>
        <p:spPr>
          <a:xfrm>
            <a:off x="3200400" y="420624"/>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6" name="Text 14"/>
          <p:cNvSpPr/>
          <p:nvPr/>
        </p:nvSpPr>
        <p:spPr>
          <a:xfrm>
            <a:off x="3776472" y="310896"/>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Cybersecurity Student</a:t>
            </a:r>
            <a:endParaRPr lang="en-US" sz="1200" dirty="0"/>
          </a:p>
        </p:txBody>
      </p:sp>
      <p:sp>
        <p:nvSpPr>
          <p:cNvPr id="17" name="Text 15"/>
          <p:cNvSpPr/>
          <p:nvPr/>
        </p:nvSpPr>
        <p:spPr>
          <a:xfrm>
            <a:off x="3776472" y="603504"/>
            <a:ext cx="5029200" cy="438912"/>
          </a:xfrm>
          <a:prstGeom prst="rect">
            <a:avLst/>
          </a:prstGeom>
          <a:noFill/>
          <a:ln/>
        </p:spPr>
        <p:txBody>
          <a:bodyPr wrap="square" lIns="0" tIns="0" rIns="0" bIns="0" rtlCol="0" anchor="ctr"/>
          <a:lstStyle/>
          <a:p>
            <a:pPr marL="0" indent="0">
              <a:buNone/>
            </a:pPr>
            <a:r>
              <a:rPr lang="en-US" sz="1000" dirty="0">
                <a:solidFill>
                  <a:srgbClr val="8899A6"/>
                </a:solidFill>
              </a:rPr>
              <a:t>BS + MS Track at Eastern Michigan University — focused on digital forensics, malware analysis &amp; secure software development.</a:t>
            </a:r>
            <a:endParaRPr lang="en-US" sz="1000" dirty="0"/>
          </a:p>
        </p:txBody>
      </p:sp>
      <p:sp>
        <p:nvSpPr>
          <p:cNvPr id="18" name="Shape 16"/>
          <p:cNvSpPr/>
          <p:nvPr/>
        </p:nvSpPr>
        <p:spPr>
          <a:xfrm>
            <a:off x="3108960" y="1188720"/>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19" name="Shape 17"/>
          <p:cNvSpPr/>
          <p:nvPr/>
        </p:nvSpPr>
        <p:spPr>
          <a:xfrm>
            <a:off x="3200400" y="1353312"/>
            <a:ext cx="475488" cy="475488"/>
          </a:xfrm>
          <a:prstGeom prst="ellipse">
            <a:avLst/>
          </a:prstGeom>
          <a:solidFill>
            <a:srgbClr val="E63946"/>
          </a:solidFill>
          <a:ln w="12700">
            <a:solidFill>
              <a:srgbClr val="E63946"/>
            </a:solidFill>
            <a:prstDash val="solid"/>
          </a:ln>
        </p:spPr>
        <p:txBody>
          <a:bodyPr/>
          <a:lstStyle/>
          <a:p>
            <a:endParaRPr lang="en-US"/>
          </a:p>
        </p:txBody>
      </p:sp>
      <p:sp>
        <p:nvSpPr>
          <p:cNvPr id="20" name="Text 18"/>
          <p:cNvSpPr/>
          <p:nvPr/>
        </p:nvSpPr>
        <p:spPr>
          <a:xfrm>
            <a:off x="3200400" y="1353312"/>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1" name="Text 19"/>
          <p:cNvSpPr/>
          <p:nvPr/>
        </p:nvSpPr>
        <p:spPr>
          <a:xfrm>
            <a:off x="3776472" y="1243584"/>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Hands-on Security Researcher</a:t>
            </a:r>
            <a:endParaRPr lang="en-US" sz="1200" dirty="0"/>
          </a:p>
        </p:txBody>
      </p:sp>
      <p:sp>
        <p:nvSpPr>
          <p:cNvPr id="22" name="Text 20"/>
          <p:cNvSpPr/>
          <p:nvPr/>
        </p:nvSpPr>
        <p:spPr>
          <a:xfrm>
            <a:off x="3776472" y="1536192"/>
            <a:ext cx="5029200" cy="438912"/>
          </a:xfrm>
          <a:prstGeom prst="rect">
            <a:avLst/>
          </a:prstGeom>
          <a:noFill/>
          <a:ln/>
        </p:spPr>
        <p:txBody>
          <a:bodyPr wrap="square" lIns="0" tIns="0" rIns="0" bIns="0" rtlCol="0" anchor="ctr"/>
          <a:lstStyle/>
          <a:p>
            <a:pPr marL="0" indent="0">
              <a:buNone/>
            </a:pPr>
            <a:r>
              <a:rPr lang="en-US" sz="1000" dirty="0">
                <a:solidFill>
                  <a:srgbClr val="8899A6"/>
                </a:solidFill>
              </a:rPr>
              <a:t>Designed &amp; maintains a Proxmox-based home lab for malware sandboxing, network analysis &amp; threat intelligence research.</a:t>
            </a:r>
            <a:endParaRPr lang="en-US" sz="1000" dirty="0"/>
          </a:p>
        </p:txBody>
      </p:sp>
      <p:sp>
        <p:nvSpPr>
          <p:cNvPr id="23" name="Shape 21"/>
          <p:cNvSpPr/>
          <p:nvPr/>
        </p:nvSpPr>
        <p:spPr>
          <a:xfrm>
            <a:off x="3108960" y="2121408"/>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24" name="Shape 22"/>
          <p:cNvSpPr/>
          <p:nvPr/>
        </p:nvSpPr>
        <p:spPr>
          <a:xfrm>
            <a:off x="3200400" y="2286000"/>
            <a:ext cx="475488" cy="475488"/>
          </a:xfrm>
          <a:prstGeom prst="ellipse">
            <a:avLst/>
          </a:prstGeom>
          <a:solidFill>
            <a:srgbClr val="E63946"/>
          </a:solidFill>
          <a:ln w="12700">
            <a:solidFill>
              <a:srgbClr val="E63946"/>
            </a:solidFill>
            <a:prstDash val="solid"/>
          </a:ln>
        </p:spPr>
        <p:txBody>
          <a:bodyPr/>
          <a:lstStyle/>
          <a:p>
            <a:endParaRPr lang="en-US"/>
          </a:p>
        </p:txBody>
      </p:sp>
      <p:sp>
        <p:nvSpPr>
          <p:cNvPr id="25" name="Text 23"/>
          <p:cNvSpPr/>
          <p:nvPr/>
        </p:nvSpPr>
        <p:spPr>
          <a:xfrm>
            <a:off x="3200400" y="2286000"/>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6" name="Text 24"/>
          <p:cNvSpPr/>
          <p:nvPr/>
        </p:nvSpPr>
        <p:spPr>
          <a:xfrm>
            <a:off x="3776472" y="2176272"/>
            <a:ext cx="5029200" cy="292608"/>
          </a:xfrm>
          <a:prstGeom prst="rect">
            <a:avLst/>
          </a:prstGeom>
          <a:noFill/>
          <a:ln/>
        </p:spPr>
        <p:txBody>
          <a:bodyPr wrap="square" lIns="0" tIns="0" rIns="0" bIns="0" rtlCol="0" anchor="ctr"/>
          <a:lstStyle/>
          <a:p>
            <a:pPr marL="0" indent="0">
              <a:buNone/>
            </a:pPr>
            <a:r>
              <a:rPr lang="en-US" sz="1200" b="1">
                <a:solidFill>
                  <a:srgbClr val="FFFFFF"/>
                </a:solidFill>
              </a:rPr>
              <a:t>8x </a:t>
            </a:r>
            <a:r>
              <a:rPr lang="en-US" sz="1200" b="1" dirty="0">
                <a:solidFill>
                  <a:srgbClr val="FFFFFF"/>
                </a:solidFill>
              </a:rPr>
              <a:t>Hackathon &amp; CTF Winner</a:t>
            </a:r>
            <a:endParaRPr lang="en-US" sz="1200" dirty="0"/>
          </a:p>
        </p:txBody>
      </p:sp>
      <p:sp>
        <p:nvSpPr>
          <p:cNvPr id="27" name="Text 25"/>
          <p:cNvSpPr/>
          <p:nvPr/>
        </p:nvSpPr>
        <p:spPr>
          <a:xfrm>
            <a:off x="3776472" y="2468880"/>
            <a:ext cx="5029200" cy="438912"/>
          </a:xfrm>
          <a:prstGeom prst="rect">
            <a:avLst/>
          </a:prstGeom>
          <a:noFill/>
          <a:ln/>
        </p:spPr>
        <p:txBody>
          <a:bodyPr wrap="square" lIns="0" tIns="0" rIns="0" bIns="0" rtlCol="0" anchor="ctr"/>
          <a:lstStyle/>
          <a:p>
            <a:pPr marL="0" indent="0">
              <a:buNone/>
            </a:pPr>
            <a:r>
              <a:rPr lang="en-US" sz="1000" dirty="0">
                <a:solidFill>
                  <a:srgbClr val="8899A6"/>
                </a:solidFill>
              </a:rPr>
              <a:t>Award-winning competitor in AI and cybersecurity, building innovative solutions in threat detection &amp; security automation.</a:t>
            </a:r>
            <a:endParaRPr lang="en-US" sz="1000" dirty="0"/>
          </a:p>
        </p:txBody>
      </p:sp>
      <p:sp>
        <p:nvSpPr>
          <p:cNvPr id="28" name="Shape 26"/>
          <p:cNvSpPr/>
          <p:nvPr/>
        </p:nvSpPr>
        <p:spPr>
          <a:xfrm>
            <a:off x="3108960" y="3054096"/>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29" name="Shape 27"/>
          <p:cNvSpPr/>
          <p:nvPr/>
        </p:nvSpPr>
        <p:spPr>
          <a:xfrm>
            <a:off x="3200400" y="3218688"/>
            <a:ext cx="475488" cy="475488"/>
          </a:xfrm>
          <a:prstGeom prst="ellipse">
            <a:avLst/>
          </a:prstGeom>
          <a:solidFill>
            <a:srgbClr val="E63946"/>
          </a:solidFill>
          <a:ln w="12700">
            <a:solidFill>
              <a:srgbClr val="E63946"/>
            </a:solidFill>
            <a:prstDash val="solid"/>
          </a:ln>
        </p:spPr>
        <p:txBody>
          <a:bodyPr/>
          <a:lstStyle/>
          <a:p>
            <a:endParaRPr lang="en-US"/>
          </a:p>
        </p:txBody>
      </p:sp>
      <p:sp>
        <p:nvSpPr>
          <p:cNvPr id="30" name="Text 28"/>
          <p:cNvSpPr/>
          <p:nvPr/>
        </p:nvSpPr>
        <p:spPr>
          <a:xfrm>
            <a:off x="3200400" y="3218688"/>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1" name="Text 29"/>
          <p:cNvSpPr/>
          <p:nvPr/>
        </p:nvSpPr>
        <p:spPr>
          <a:xfrm>
            <a:off x="3776472" y="3108960"/>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AI Security Tooling — AGHORA Creator</a:t>
            </a:r>
            <a:endParaRPr lang="en-US" sz="1200" dirty="0"/>
          </a:p>
        </p:txBody>
      </p:sp>
      <p:sp>
        <p:nvSpPr>
          <p:cNvPr id="32" name="Text 30"/>
          <p:cNvSpPr/>
          <p:nvPr/>
        </p:nvSpPr>
        <p:spPr>
          <a:xfrm>
            <a:off x="3776472" y="3401568"/>
            <a:ext cx="5029200" cy="438912"/>
          </a:xfrm>
          <a:prstGeom prst="rect">
            <a:avLst/>
          </a:prstGeom>
          <a:noFill/>
          <a:ln/>
        </p:spPr>
        <p:txBody>
          <a:bodyPr wrap="square" lIns="0" tIns="0" rIns="0" bIns="0" rtlCol="0" anchor="ctr"/>
          <a:lstStyle/>
          <a:p>
            <a:pPr marL="0" indent="0">
              <a:buNone/>
            </a:pPr>
            <a:r>
              <a:rPr lang="en-US" sz="1000" dirty="0">
                <a:solidFill>
                  <a:srgbClr val="8899A6"/>
                </a:solidFill>
              </a:rPr>
              <a:t>Built AGHORA: agentic AI malware analysis platform integrating Ghidra, LLMs, MITRE mapping, and automated PDF reporting. 8x hackathon &amp; CTF winner with wins in AI and cybersecurity categories.</a:t>
            </a:r>
            <a:endParaRPr lang="en-US" sz="1000" dirty="0"/>
          </a:p>
        </p:txBody>
      </p:sp>
      <p:sp>
        <p:nvSpPr>
          <p:cNvPr id="33" name="Shape 31"/>
          <p:cNvSpPr/>
          <p:nvPr/>
        </p:nvSpPr>
        <p:spPr>
          <a:xfrm>
            <a:off x="3108960" y="3986784"/>
            <a:ext cx="5806440" cy="822960"/>
          </a:xfrm>
          <a:prstGeom prst="rect">
            <a:avLst/>
          </a:prstGeom>
          <a:solidFill>
            <a:srgbClr val="1D3557">
              <a:alpha val="80000"/>
            </a:srgbClr>
          </a:solidFill>
          <a:ln w="6350">
            <a:solidFill>
              <a:srgbClr val="457B9D"/>
            </a:solidFill>
            <a:prstDash val="solid"/>
          </a:ln>
        </p:spPr>
        <p:txBody>
          <a:bodyPr/>
          <a:lstStyle/>
          <a:p>
            <a:endParaRPr lang="en-US"/>
          </a:p>
        </p:txBody>
      </p:sp>
      <p:sp>
        <p:nvSpPr>
          <p:cNvPr id="34" name="Shape 32"/>
          <p:cNvSpPr/>
          <p:nvPr/>
        </p:nvSpPr>
        <p:spPr>
          <a:xfrm>
            <a:off x="3200400" y="4151376"/>
            <a:ext cx="475488" cy="475488"/>
          </a:xfrm>
          <a:prstGeom prst="ellipse">
            <a:avLst/>
          </a:prstGeom>
          <a:solidFill>
            <a:srgbClr val="E63946"/>
          </a:solidFill>
          <a:ln w="12700">
            <a:solidFill>
              <a:srgbClr val="E63946"/>
            </a:solidFill>
            <a:prstDash val="solid"/>
          </a:ln>
        </p:spPr>
        <p:txBody>
          <a:bodyPr/>
          <a:lstStyle/>
          <a:p>
            <a:endParaRPr lang="en-US"/>
          </a:p>
        </p:txBody>
      </p:sp>
      <p:sp>
        <p:nvSpPr>
          <p:cNvPr id="35" name="Text 33"/>
          <p:cNvSpPr/>
          <p:nvPr/>
        </p:nvSpPr>
        <p:spPr>
          <a:xfrm>
            <a:off x="3200400" y="4151376"/>
            <a:ext cx="475488" cy="475488"/>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36" name="Text 34"/>
          <p:cNvSpPr/>
          <p:nvPr/>
        </p:nvSpPr>
        <p:spPr>
          <a:xfrm>
            <a:off x="3776472" y="4041648"/>
            <a:ext cx="5029200" cy="292608"/>
          </a:xfrm>
          <a:prstGeom prst="rect">
            <a:avLst/>
          </a:prstGeom>
          <a:noFill/>
          <a:ln/>
        </p:spPr>
        <p:txBody>
          <a:bodyPr wrap="square" lIns="0" tIns="0" rIns="0" bIns="0" rtlCol="0" anchor="ctr"/>
          <a:lstStyle/>
          <a:p>
            <a:pPr marL="0" indent="0">
              <a:buNone/>
            </a:pPr>
            <a:r>
              <a:rPr lang="en-US" sz="1200" b="1" dirty="0">
                <a:solidFill>
                  <a:srgbClr val="FFFFFF"/>
                </a:solidFill>
              </a:rPr>
              <a:t>Research, Publication &amp; Community</a:t>
            </a:r>
            <a:endParaRPr lang="en-US" sz="1200" dirty="0"/>
          </a:p>
        </p:txBody>
      </p:sp>
      <p:sp>
        <p:nvSpPr>
          <p:cNvPr id="37" name="Text 35"/>
          <p:cNvSpPr/>
          <p:nvPr/>
        </p:nvSpPr>
        <p:spPr>
          <a:xfrm>
            <a:off x="3776472" y="4334256"/>
            <a:ext cx="5029200" cy="438912"/>
          </a:xfrm>
          <a:prstGeom prst="rect">
            <a:avLst/>
          </a:prstGeom>
          <a:noFill/>
          <a:ln/>
        </p:spPr>
        <p:txBody>
          <a:bodyPr wrap="square" lIns="0" tIns="0" rIns="0" bIns="0" rtlCol="0" anchor="ctr"/>
          <a:lstStyle/>
          <a:p>
            <a:pPr marL="0" indent="0">
              <a:buNone/>
            </a:pPr>
            <a:r>
              <a:rPr lang="en-US" sz="1000" dirty="0">
                <a:solidFill>
                  <a:srgbClr val="8899A6"/>
                </a:solidFill>
              </a:rPr>
              <a:t>ISC² Detroit Chapter member. Conducting publishable research on LATAM threat ecosystem innovation patterns. Proxmox home lab for malware sandboxing &amp; threat intelligence research.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0D1B2A"/>
                </a:solidFill>
              </a:rPr>
              <a:t>Research Objective</a:t>
            </a:r>
            <a:endParaRPr lang="en-US" sz="2600" dirty="0"/>
          </a:p>
        </p:txBody>
      </p:sp>
      <p:sp>
        <p:nvSpPr>
          <p:cNvPr id="4" name="Shape 2"/>
          <p:cNvSpPr/>
          <p:nvPr/>
        </p:nvSpPr>
        <p:spPr>
          <a:xfrm>
            <a:off x="457200" y="978408"/>
            <a:ext cx="320040" cy="320040"/>
          </a:xfrm>
          <a:prstGeom prst="ellipse">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960120" y="9144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Scope</a:t>
            </a:r>
            <a:endParaRPr lang="en-US" sz="1300" dirty="0"/>
          </a:p>
        </p:txBody>
      </p:sp>
      <p:sp>
        <p:nvSpPr>
          <p:cNvPr id="6" name="Text 4"/>
          <p:cNvSpPr/>
          <p:nvPr/>
        </p:nvSpPr>
        <p:spPr>
          <a:xfrm>
            <a:off x="2423160" y="9144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Analyze emerging LATAM threat groups beyond ASTAROTH</a:t>
            </a:r>
            <a:endParaRPr lang="en-US" sz="1300" dirty="0"/>
          </a:p>
        </p:txBody>
      </p:sp>
      <p:sp>
        <p:nvSpPr>
          <p:cNvPr id="7" name="Shape 5"/>
          <p:cNvSpPr/>
          <p:nvPr/>
        </p:nvSpPr>
        <p:spPr>
          <a:xfrm>
            <a:off x="457200" y="1664208"/>
            <a:ext cx="320040" cy="320040"/>
          </a:xfrm>
          <a:prstGeom prst="ellipse">
            <a:avLst/>
          </a:prstGeom>
          <a:solidFill>
            <a:srgbClr val="E63946"/>
          </a:solidFill>
          <a:ln w="12700">
            <a:solidFill>
              <a:srgbClr val="E63946"/>
            </a:solidFill>
            <a:prstDash val="solid"/>
          </a:ln>
        </p:spPr>
        <p:txBody>
          <a:bodyPr/>
          <a:lstStyle/>
          <a:p>
            <a:endParaRPr lang="en-US"/>
          </a:p>
        </p:txBody>
      </p:sp>
      <p:sp>
        <p:nvSpPr>
          <p:cNvPr id="8" name="Text 6"/>
          <p:cNvSpPr/>
          <p:nvPr/>
        </p:nvSpPr>
        <p:spPr>
          <a:xfrm>
            <a:off x="960120" y="16002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Compare</a:t>
            </a:r>
            <a:endParaRPr lang="en-US" sz="1300" dirty="0"/>
          </a:p>
        </p:txBody>
      </p:sp>
      <p:sp>
        <p:nvSpPr>
          <p:cNvPr id="9" name="Text 7"/>
          <p:cNvSpPr/>
          <p:nvPr/>
        </p:nvSpPr>
        <p:spPr>
          <a:xfrm>
            <a:off x="2423160" y="16002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APT, banking malware, and mercenary-style operations</a:t>
            </a:r>
            <a:endParaRPr lang="en-US" sz="1300" dirty="0"/>
          </a:p>
        </p:txBody>
      </p:sp>
      <p:sp>
        <p:nvSpPr>
          <p:cNvPr id="10" name="Shape 8"/>
          <p:cNvSpPr/>
          <p:nvPr/>
        </p:nvSpPr>
        <p:spPr>
          <a:xfrm>
            <a:off x="457200" y="2350008"/>
            <a:ext cx="320040" cy="320040"/>
          </a:xfrm>
          <a:prstGeom prst="ellipse">
            <a:avLst/>
          </a:prstGeom>
          <a:solidFill>
            <a:srgbClr val="E63946"/>
          </a:solidFill>
          <a:ln w="12700">
            <a:solidFill>
              <a:srgbClr val="E63946"/>
            </a:solidFill>
            <a:prstDash val="solid"/>
          </a:ln>
        </p:spPr>
        <p:txBody>
          <a:bodyPr/>
          <a:lstStyle/>
          <a:p>
            <a:endParaRPr lang="en-US"/>
          </a:p>
        </p:txBody>
      </p:sp>
      <p:sp>
        <p:nvSpPr>
          <p:cNvPr id="11" name="Text 9"/>
          <p:cNvSpPr/>
          <p:nvPr/>
        </p:nvSpPr>
        <p:spPr>
          <a:xfrm>
            <a:off x="960120" y="22860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Extract</a:t>
            </a:r>
            <a:endParaRPr lang="en-US" sz="1300" dirty="0"/>
          </a:p>
        </p:txBody>
      </p:sp>
      <p:sp>
        <p:nvSpPr>
          <p:cNvPr id="12" name="Text 10"/>
          <p:cNvSpPr/>
          <p:nvPr/>
        </p:nvSpPr>
        <p:spPr>
          <a:xfrm>
            <a:off x="2423160" y="22860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Campaign artifacts from 2024–2026 threat reporting</a:t>
            </a:r>
            <a:endParaRPr lang="en-US" sz="1300" dirty="0"/>
          </a:p>
        </p:txBody>
      </p:sp>
      <p:sp>
        <p:nvSpPr>
          <p:cNvPr id="13" name="Shape 11"/>
          <p:cNvSpPr/>
          <p:nvPr/>
        </p:nvSpPr>
        <p:spPr>
          <a:xfrm>
            <a:off x="457200" y="3035808"/>
            <a:ext cx="320040" cy="320040"/>
          </a:xfrm>
          <a:prstGeom prst="ellipse">
            <a:avLst/>
          </a:prstGeom>
          <a:solidFill>
            <a:srgbClr val="E63946"/>
          </a:solidFill>
          <a:ln w="12700">
            <a:solidFill>
              <a:srgbClr val="E63946"/>
            </a:solidFill>
            <a:prstDash val="solid"/>
          </a:ln>
        </p:spPr>
        <p:txBody>
          <a:bodyPr/>
          <a:lstStyle/>
          <a:p>
            <a:endParaRPr lang="en-US"/>
          </a:p>
        </p:txBody>
      </p:sp>
      <p:sp>
        <p:nvSpPr>
          <p:cNvPr id="14" name="Text 12"/>
          <p:cNvSpPr/>
          <p:nvPr/>
        </p:nvSpPr>
        <p:spPr>
          <a:xfrm>
            <a:off x="960120" y="29718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Map</a:t>
            </a:r>
            <a:endParaRPr lang="en-US" sz="1300" dirty="0"/>
          </a:p>
        </p:txBody>
      </p:sp>
      <p:sp>
        <p:nvSpPr>
          <p:cNvPr id="15" name="Text 13"/>
          <p:cNvSpPr/>
          <p:nvPr/>
        </p:nvSpPr>
        <p:spPr>
          <a:xfrm>
            <a:off x="2423160" y="29718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Tactics to MITRE ATT&amp;CK framework</a:t>
            </a:r>
            <a:endParaRPr lang="en-US" sz="1300" dirty="0"/>
          </a:p>
        </p:txBody>
      </p:sp>
      <p:sp>
        <p:nvSpPr>
          <p:cNvPr id="16" name="Shape 14"/>
          <p:cNvSpPr/>
          <p:nvPr/>
        </p:nvSpPr>
        <p:spPr>
          <a:xfrm>
            <a:off x="457200" y="3721608"/>
            <a:ext cx="320040" cy="320040"/>
          </a:xfrm>
          <a:prstGeom prst="ellipse">
            <a:avLst/>
          </a:prstGeom>
          <a:solidFill>
            <a:srgbClr val="E63946"/>
          </a:solidFill>
          <a:ln w="12700">
            <a:solidFill>
              <a:srgbClr val="E63946"/>
            </a:solidFill>
            <a:prstDash val="solid"/>
          </a:ln>
        </p:spPr>
        <p:txBody>
          <a:bodyPr/>
          <a:lstStyle/>
          <a:p>
            <a:endParaRPr lang="en-US"/>
          </a:p>
        </p:txBody>
      </p:sp>
      <p:sp>
        <p:nvSpPr>
          <p:cNvPr id="17" name="Text 15"/>
          <p:cNvSpPr/>
          <p:nvPr/>
        </p:nvSpPr>
        <p:spPr>
          <a:xfrm>
            <a:off x="960120" y="3657600"/>
            <a:ext cx="1371600" cy="457200"/>
          </a:xfrm>
          <a:prstGeom prst="rect">
            <a:avLst/>
          </a:prstGeom>
          <a:noFill/>
          <a:ln/>
        </p:spPr>
        <p:txBody>
          <a:bodyPr wrap="square" lIns="0" tIns="0" rIns="0" bIns="0" rtlCol="0" anchor="ctr"/>
          <a:lstStyle/>
          <a:p>
            <a:pPr marL="0" indent="0">
              <a:buNone/>
            </a:pPr>
            <a:r>
              <a:rPr lang="en-US" sz="1300" b="1" dirty="0">
                <a:solidFill>
                  <a:srgbClr val="1D3557"/>
                </a:solidFill>
              </a:rPr>
              <a:t>Identify</a:t>
            </a:r>
            <a:endParaRPr lang="en-US" sz="1300" dirty="0"/>
          </a:p>
        </p:txBody>
      </p:sp>
      <p:sp>
        <p:nvSpPr>
          <p:cNvPr id="18" name="Text 16"/>
          <p:cNvSpPr/>
          <p:nvPr/>
        </p:nvSpPr>
        <p:spPr>
          <a:xfrm>
            <a:off x="2423160" y="3657600"/>
            <a:ext cx="6400800" cy="457200"/>
          </a:xfrm>
          <a:prstGeom prst="rect">
            <a:avLst/>
          </a:prstGeom>
          <a:noFill/>
          <a:ln/>
        </p:spPr>
        <p:txBody>
          <a:bodyPr wrap="square" lIns="0" tIns="0" rIns="0" bIns="0" rtlCol="0" anchor="ctr"/>
          <a:lstStyle/>
          <a:p>
            <a:pPr marL="0" indent="0">
              <a:buNone/>
            </a:pPr>
            <a:r>
              <a:rPr lang="en-US" sz="1300" dirty="0">
                <a:solidFill>
                  <a:srgbClr val="0D1B2A"/>
                </a:solidFill>
              </a:rPr>
              <a:t>Ecosystem-level evolution patterns</a:t>
            </a:r>
            <a:endParaRPr lang="en-US" sz="1300" dirty="0"/>
          </a:p>
        </p:txBody>
      </p:sp>
      <p:sp>
        <p:nvSpPr>
          <p:cNvPr id="19" name="Shape 17"/>
          <p:cNvSpPr/>
          <p:nvPr/>
        </p:nvSpPr>
        <p:spPr>
          <a:xfrm>
            <a:off x="457200" y="4251960"/>
            <a:ext cx="8229600" cy="640080"/>
          </a:xfrm>
          <a:prstGeom prst="rect">
            <a:avLst/>
          </a:prstGeom>
          <a:solidFill>
            <a:srgbClr val="1D3557"/>
          </a:solidFill>
          <a:ln w="12700">
            <a:solidFill>
              <a:srgbClr val="1D3557"/>
            </a:solidFill>
            <a:prstDash val="solid"/>
          </a:ln>
        </p:spPr>
        <p:txBody>
          <a:bodyPr/>
          <a:lstStyle/>
          <a:p>
            <a:endParaRPr lang="en-US"/>
          </a:p>
        </p:txBody>
      </p:sp>
      <p:sp>
        <p:nvSpPr>
          <p:cNvPr id="20" name="Text 18"/>
          <p:cNvSpPr/>
          <p:nvPr/>
        </p:nvSpPr>
        <p:spPr>
          <a:xfrm>
            <a:off x="457200" y="4251960"/>
            <a:ext cx="8229600" cy="640080"/>
          </a:xfrm>
          <a:prstGeom prst="rect">
            <a:avLst/>
          </a:prstGeom>
          <a:noFill/>
          <a:ln/>
        </p:spPr>
        <p:txBody>
          <a:bodyPr wrap="square" lIns="0" tIns="0" rIns="0" bIns="0" rtlCol="0" anchor="ctr"/>
          <a:lstStyle/>
          <a:p>
            <a:pPr marL="0" indent="0" algn="ctr">
              <a:buNone/>
            </a:pPr>
            <a:r>
              <a:rPr lang="en-US" sz="1200" b="1" dirty="0">
                <a:solidFill>
                  <a:srgbClr val="FFFFFF"/>
                </a:solidFill>
              </a:rPr>
              <a:t>KEY QUESTION:  Are LATAM actors isolated groups — or a coordinated innovation ecosystem?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FFFFFF"/>
                </a:solidFill>
              </a:rPr>
              <a:t>Why LATAM Threat Groups Matter</a:t>
            </a:r>
            <a:endParaRPr lang="en-US" sz="2600" dirty="0"/>
          </a:p>
        </p:txBody>
      </p:sp>
      <p:sp>
        <p:nvSpPr>
          <p:cNvPr id="4" name="Shape 2"/>
          <p:cNvSpPr/>
          <p:nvPr/>
        </p:nvSpPr>
        <p:spPr>
          <a:xfrm>
            <a:off x="457200" y="9601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5" name="Text 3"/>
          <p:cNvSpPr/>
          <p:nvPr/>
        </p:nvSpPr>
        <p:spPr>
          <a:xfrm>
            <a:off x="640080" y="9601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Banking malware families expanding into Europe &amp; North America</a:t>
            </a:r>
            <a:endParaRPr lang="en-US" sz="1300" dirty="0"/>
          </a:p>
        </p:txBody>
      </p:sp>
      <p:sp>
        <p:nvSpPr>
          <p:cNvPr id="6" name="Shape 4"/>
          <p:cNvSpPr/>
          <p:nvPr/>
        </p:nvSpPr>
        <p:spPr>
          <a:xfrm>
            <a:off x="457200" y="16459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7" name="Text 5"/>
          <p:cNvSpPr/>
          <p:nvPr/>
        </p:nvSpPr>
        <p:spPr>
          <a:xfrm>
            <a:off x="640080" y="16459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Rapid iteration cycles — frequent loader updates (2024–2026)</a:t>
            </a:r>
            <a:endParaRPr lang="en-US" sz="1300" dirty="0"/>
          </a:p>
        </p:txBody>
      </p:sp>
      <p:sp>
        <p:nvSpPr>
          <p:cNvPr id="8" name="Shape 6"/>
          <p:cNvSpPr/>
          <p:nvPr/>
        </p:nvSpPr>
        <p:spPr>
          <a:xfrm>
            <a:off x="457200" y="23317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9" name="Text 7"/>
          <p:cNvSpPr/>
          <p:nvPr/>
        </p:nvSpPr>
        <p:spPr>
          <a:xfrm>
            <a:off x="640080" y="23317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Increasing cloud infrastructure abuse across campaigns</a:t>
            </a:r>
            <a:endParaRPr lang="en-US" sz="1300" dirty="0"/>
          </a:p>
        </p:txBody>
      </p:sp>
      <p:sp>
        <p:nvSpPr>
          <p:cNvPr id="10" name="Shape 8"/>
          <p:cNvSpPr/>
          <p:nvPr/>
        </p:nvSpPr>
        <p:spPr>
          <a:xfrm>
            <a:off x="457200" y="30175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11" name="Text 9"/>
          <p:cNvSpPr/>
          <p:nvPr/>
        </p:nvSpPr>
        <p:spPr>
          <a:xfrm>
            <a:off x="640080" y="30175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Adoption of modular development practices</a:t>
            </a:r>
            <a:endParaRPr lang="en-US" sz="1300" dirty="0"/>
          </a:p>
        </p:txBody>
      </p:sp>
      <p:sp>
        <p:nvSpPr>
          <p:cNvPr id="12" name="Shape 10"/>
          <p:cNvSpPr/>
          <p:nvPr/>
        </p:nvSpPr>
        <p:spPr>
          <a:xfrm>
            <a:off x="457200" y="3703320"/>
            <a:ext cx="8229600" cy="548640"/>
          </a:xfrm>
          <a:prstGeom prst="rect">
            <a:avLst/>
          </a:prstGeom>
          <a:solidFill>
            <a:srgbClr val="1D3557">
              <a:alpha val="70000"/>
            </a:srgbClr>
          </a:solidFill>
          <a:ln w="6350">
            <a:solidFill>
              <a:srgbClr val="457B9D"/>
            </a:solidFill>
            <a:prstDash val="solid"/>
          </a:ln>
        </p:spPr>
        <p:txBody>
          <a:bodyPr/>
          <a:lstStyle/>
          <a:p>
            <a:endParaRPr lang="en-US"/>
          </a:p>
        </p:txBody>
      </p:sp>
      <p:sp>
        <p:nvSpPr>
          <p:cNvPr id="13" name="Text 11"/>
          <p:cNvSpPr/>
          <p:nvPr/>
        </p:nvSpPr>
        <p:spPr>
          <a:xfrm>
            <a:off x="640080" y="3703320"/>
            <a:ext cx="7863840" cy="548640"/>
          </a:xfrm>
          <a:prstGeom prst="rect">
            <a:avLst/>
          </a:prstGeom>
          <a:noFill/>
          <a:ln/>
        </p:spPr>
        <p:txBody>
          <a:bodyPr wrap="square" lIns="0" tIns="0" rIns="0" bIns="0" rtlCol="0" anchor="ctr"/>
          <a:lstStyle/>
          <a:p>
            <a:pPr marL="0" indent="0">
              <a:buNone/>
            </a:pPr>
            <a:r>
              <a:rPr lang="en-US" sz="1300" dirty="0">
                <a:solidFill>
                  <a:srgbClr val="FFFFFF"/>
                </a:solidFill>
              </a:rPr>
              <a:t>🔒  Law enforcement disruptions (Grandoreiro 2024) did NOT eliminate capability</a:t>
            </a:r>
            <a:endParaRPr lang="en-US" sz="1300" dirty="0"/>
          </a:p>
        </p:txBody>
      </p:sp>
      <p:sp>
        <p:nvSpPr>
          <p:cNvPr id="14" name="Shape 12"/>
          <p:cNvSpPr/>
          <p:nvPr/>
        </p:nvSpPr>
        <p:spPr>
          <a:xfrm>
            <a:off x="457200" y="4480560"/>
            <a:ext cx="8229600" cy="457200"/>
          </a:xfrm>
          <a:prstGeom prst="rect">
            <a:avLst/>
          </a:prstGeom>
          <a:solidFill>
            <a:srgbClr val="E63946"/>
          </a:solidFill>
          <a:ln w="12700">
            <a:solidFill>
              <a:srgbClr val="E63946"/>
            </a:solidFill>
            <a:prstDash val="solid"/>
          </a:ln>
        </p:spPr>
        <p:txBody>
          <a:bodyPr/>
          <a:lstStyle/>
          <a:p>
            <a:endParaRPr lang="en-US"/>
          </a:p>
        </p:txBody>
      </p:sp>
      <p:sp>
        <p:nvSpPr>
          <p:cNvPr id="15" name="Text 13"/>
          <p:cNvSpPr/>
          <p:nvPr/>
        </p:nvSpPr>
        <p:spPr>
          <a:xfrm>
            <a:off x="457200" y="4480560"/>
            <a:ext cx="8229600" cy="457200"/>
          </a:xfrm>
          <a:prstGeom prst="rect">
            <a:avLst/>
          </a:prstGeom>
          <a:noFill/>
          <a:ln/>
        </p:spPr>
        <p:txBody>
          <a:bodyPr wrap="square" lIns="0" tIns="0" rIns="0" bIns="0" rtlCol="0" anchor="ctr"/>
          <a:lstStyle/>
          <a:p>
            <a:pPr marL="0" indent="0" algn="ctr">
              <a:buNone/>
            </a:pPr>
            <a:r>
              <a:rPr lang="en-US" sz="1100" b="1" dirty="0">
                <a:solidFill>
                  <a:srgbClr val="FFFFFF"/>
                </a:solidFill>
              </a:rPr>
              <a:t>OBSERVATION:  LATAM actors now demonstrate operational maturity comparable to global threat actors.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Shape 1"/>
          <p:cNvSpPr/>
          <p:nvPr/>
        </p:nvSpPr>
        <p:spPr>
          <a:xfrm>
            <a:off x="457200" y="182880"/>
            <a:ext cx="8229600" cy="777240"/>
          </a:xfrm>
          <a:prstGeom prst="rect">
            <a:avLst/>
          </a:prstGeom>
          <a:solidFill>
            <a:srgbClr val="1D3557"/>
          </a:solidFill>
          <a:ln w="12700">
            <a:solidFill>
              <a:srgbClr val="1D3557"/>
            </a:solidFill>
            <a:prstDash val="solid"/>
          </a:ln>
        </p:spPr>
        <p:txBody>
          <a:bodyPr/>
          <a:lstStyle/>
          <a:p>
            <a:endParaRPr lang="en-US"/>
          </a:p>
        </p:txBody>
      </p:sp>
      <p:sp>
        <p:nvSpPr>
          <p:cNvPr id="4" name="Text 2"/>
          <p:cNvSpPr/>
          <p:nvPr/>
        </p:nvSpPr>
        <p:spPr>
          <a:xfrm>
            <a:off x="548640" y="182880"/>
            <a:ext cx="6400800" cy="777240"/>
          </a:xfrm>
          <a:prstGeom prst="rect">
            <a:avLst/>
          </a:prstGeom>
          <a:noFill/>
          <a:ln/>
        </p:spPr>
        <p:txBody>
          <a:bodyPr wrap="square" lIns="0" tIns="0" rIns="0" bIns="0" rtlCol="0" anchor="ctr"/>
          <a:lstStyle/>
          <a:p>
            <a:pPr marL="0" indent="0">
              <a:buNone/>
            </a:pPr>
            <a:r>
              <a:rPr lang="en-US" sz="2400" b="1" dirty="0">
                <a:solidFill>
                  <a:srgbClr val="FFFFFF"/>
                </a:solidFill>
              </a:rPr>
              <a:t>Blind Eagle  (APT-C-36)</a:t>
            </a:r>
            <a:endParaRPr lang="en-US" sz="2400" dirty="0"/>
          </a:p>
        </p:txBody>
      </p:sp>
      <p:sp>
        <p:nvSpPr>
          <p:cNvPr id="5" name="Text 3"/>
          <p:cNvSpPr/>
          <p:nvPr/>
        </p:nvSpPr>
        <p:spPr>
          <a:xfrm>
            <a:off x="6858000" y="182880"/>
            <a:ext cx="1828800" cy="777240"/>
          </a:xfrm>
          <a:prstGeom prst="rect">
            <a:avLst/>
          </a:prstGeom>
          <a:noFill/>
          <a:ln/>
        </p:spPr>
        <p:txBody>
          <a:bodyPr wrap="square" lIns="101600" tIns="101600" rIns="101600" bIns="101600" rtlCol="0" anchor="ctr"/>
          <a:lstStyle/>
          <a:p>
            <a:pPr marL="0" indent="0" algn="r">
              <a:buNone/>
            </a:pPr>
            <a:r>
              <a:rPr lang="en-US" sz="1000" b="1" dirty="0">
                <a:solidFill>
                  <a:srgbClr val="A8DADC"/>
                </a:solidFill>
              </a:rPr>
              <a:t>Espionage + Financial</a:t>
            </a:r>
            <a:endParaRPr lang="en-US" sz="1000" dirty="0"/>
          </a:p>
        </p:txBody>
      </p:sp>
      <p:sp>
        <p:nvSpPr>
          <p:cNvPr id="6" name="Shape 4"/>
          <p:cNvSpPr/>
          <p:nvPr/>
        </p:nvSpPr>
        <p:spPr>
          <a:xfrm>
            <a:off x="457200" y="1097280"/>
            <a:ext cx="3931920" cy="3474720"/>
          </a:xfrm>
          <a:prstGeom prst="rect">
            <a:avLst/>
          </a:prstGeom>
          <a:solidFill>
            <a:srgbClr val="FFFFFF"/>
          </a:solidFill>
          <a:ln w="12700">
            <a:solidFill>
              <a:srgbClr val="457B9D"/>
            </a:solidFill>
            <a:prstDash val="solid"/>
          </a:ln>
          <a:effectLst>
            <a:outerShdw blurRad="50800" dist="25400" dir="8100000" algn="bl" rotWithShape="0">
              <a:srgbClr val="000000">
                <a:alpha val="10000"/>
              </a:srgbClr>
            </a:outerShdw>
          </a:effectLst>
        </p:spPr>
        <p:txBody>
          <a:bodyPr/>
          <a:lstStyle/>
          <a:p>
            <a:endParaRPr lang="en-US"/>
          </a:p>
        </p:txBody>
      </p:sp>
      <p:sp>
        <p:nvSpPr>
          <p:cNvPr id="7" name="Text 5"/>
          <p:cNvSpPr/>
          <p:nvPr/>
        </p:nvSpPr>
        <p:spPr>
          <a:xfrm>
            <a:off x="548640" y="1188720"/>
            <a:ext cx="3749040" cy="365760"/>
          </a:xfrm>
          <a:prstGeom prst="rect">
            <a:avLst/>
          </a:prstGeom>
          <a:noFill/>
          <a:ln/>
        </p:spPr>
        <p:txBody>
          <a:bodyPr wrap="square" lIns="0" tIns="0" rIns="0" bIns="0" rtlCol="0" anchor="ctr"/>
          <a:lstStyle/>
          <a:p>
            <a:pPr marL="0" indent="0">
              <a:buNone/>
            </a:pPr>
            <a:r>
              <a:rPr lang="en-US" sz="1100" b="1" kern="0" spc="100" dirty="0">
                <a:solidFill>
                  <a:srgbClr val="E63946"/>
                </a:solidFill>
              </a:rPr>
              <a:t>OBSERVED BEHAVIORS</a:t>
            </a:r>
            <a:endParaRPr lang="en-US" sz="1100" dirty="0"/>
          </a:p>
        </p:txBody>
      </p:sp>
      <p:sp>
        <p:nvSpPr>
          <p:cNvPr id="8" name="Text 6"/>
          <p:cNvSpPr/>
          <p:nvPr/>
        </p:nvSpPr>
        <p:spPr>
          <a:xfrm>
            <a:off x="548640" y="160020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Spear phishing with weaponized attachments</a:t>
            </a:r>
            <a:endParaRPr lang="en-US" sz="1200" dirty="0"/>
          </a:p>
        </p:txBody>
      </p:sp>
      <p:sp>
        <p:nvSpPr>
          <p:cNvPr id="9" name="Text 7"/>
          <p:cNvSpPr/>
          <p:nvPr/>
        </p:nvSpPr>
        <p:spPr>
          <a:xfrm>
            <a:off x="548640" y="219456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Rapid exploit adoption (short patch-to-exploit window)</a:t>
            </a:r>
            <a:endParaRPr lang="en-US" sz="1200" dirty="0"/>
          </a:p>
        </p:txBody>
      </p:sp>
      <p:sp>
        <p:nvSpPr>
          <p:cNvPr id="10" name="Text 8"/>
          <p:cNvSpPr/>
          <p:nvPr/>
        </p:nvSpPr>
        <p:spPr>
          <a:xfrm>
            <a:off x="548640" y="278892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Web-based staging infrastructure</a:t>
            </a:r>
            <a:endParaRPr lang="en-US" sz="1200" dirty="0"/>
          </a:p>
        </p:txBody>
      </p:sp>
      <p:sp>
        <p:nvSpPr>
          <p:cNvPr id="11" name="Text 9"/>
          <p:cNvSpPr/>
          <p:nvPr/>
        </p:nvSpPr>
        <p:spPr>
          <a:xfrm>
            <a:off x="548640" y="3383280"/>
            <a:ext cx="3749040" cy="548640"/>
          </a:xfrm>
          <a:prstGeom prst="rect">
            <a:avLst/>
          </a:prstGeom>
          <a:noFill/>
          <a:ln/>
        </p:spPr>
        <p:txBody>
          <a:bodyPr wrap="square" rtlCol="0" anchor="ctr"/>
          <a:lstStyle/>
          <a:p>
            <a:pPr marL="342900" indent="-342900">
              <a:buSzPct val="100000"/>
              <a:buChar char="•"/>
            </a:pPr>
            <a:r>
              <a:rPr lang="en-US" sz="1200" dirty="0">
                <a:solidFill>
                  <a:srgbClr val="0D1B2A"/>
                </a:solidFill>
              </a:rPr>
              <a:t>Data exfiltration over encrypted channels</a:t>
            </a:r>
            <a:endParaRPr lang="en-US" sz="1200" dirty="0"/>
          </a:p>
        </p:txBody>
      </p:sp>
      <p:sp>
        <p:nvSpPr>
          <p:cNvPr id="12" name="Shape 10"/>
          <p:cNvSpPr/>
          <p:nvPr/>
        </p:nvSpPr>
        <p:spPr>
          <a:xfrm>
            <a:off x="4754880" y="1097280"/>
            <a:ext cx="3931920" cy="3474720"/>
          </a:xfrm>
          <a:prstGeom prst="rect">
            <a:avLst/>
          </a:prstGeom>
          <a:solidFill>
            <a:srgbClr val="0D1B2A"/>
          </a:solidFill>
          <a:ln w="12700">
            <a:solidFill>
              <a:srgbClr val="1D3557"/>
            </a:solidFill>
            <a:prstDash val="solid"/>
          </a:ln>
          <a:effectLst>
            <a:outerShdw blurRad="50800" dist="25400" dir="8100000" algn="bl" rotWithShape="0">
              <a:srgbClr val="000000">
                <a:alpha val="10000"/>
              </a:srgbClr>
            </a:outerShdw>
          </a:effectLst>
        </p:spPr>
        <p:txBody>
          <a:bodyPr/>
          <a:lstStyle/>
          <a:p>
            <a:endParaRPr lang="en-US"/>
          </a:p>
        </p:txBody>
      </p:sp>
      <p:sp>
        <p:nvSpPr>
          <p:cNvPr id="13" name="Text 11"/>
          <p:cNvSpPr/>
          <p:nvPr/>
        </p:nvSpPr>
        <p:spPr>
          <a:xfrm>
            <a:off x="4846320" y="1188720"/>
            <a:ext cx="3749040" cy="365760"/>
          </a:xfrm>
          <a:prstGeom prst="rect">
            <a:avLst/>
          </a:prstGeom>
          <a:noFill/>
          <a:ln/>
        </p:spPr>
        <p:txBody>
          <a:bodyPr wrap="square" lIns="0" tIns="0" rIns="0" bIns="0" rtlCol="0" anchor="ctr"/>
          <a:lstStyle/>
          <a:p>
            <a:pPr marL="0" indent="0">
              <a:buNone/>
            </a:pPr>
            <a:r>
              <a:rPr lang="en-US" sz="1100" b="1" kern="0" spc="100" dirty="0">
                <a:solidFill>
                  <a:srgbClr val="A8DADC"/>
                </a:solidFill>
              </a:rPr>
              <a:t>ARTIFACTS EXTRACTED</a:t>
            </a:r>
            <a:endParaRPr lang="en-US" sz="1100" dirty="0"/>
          </a:p>
        </p:txBody>
      </p:sp>
      <p:sp>
        <p:nvSpPr>
          <p:cNvPr id="14" name="Text 12"/>
          <p:cNvSpPr/>
          <p:nvPr/>
        </p:nvSpPr>
        <p:spPr>
          <a:xfrm>
            <a:off x="4846320" y="160020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Phishing lure templates</a:t>
            </a:r>
            <a:endParaRPr lang="en-US" sz="1200" dirty="0"/>
          </a:p>
        </p:txBody>
      </p:sp>
      <p:sp>
        <p:nvSpPr>
          <p:cNvPr id="15" name="Text 13"/>
          <p:cNvSpPr/>
          <p:nvPr/>
        </p:nvSpPr>
        <p:spPr>
          <a:xfrm>
            <a:off x="4846320" y="219456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WebDAV / staged payload URLs</a:t>
            </a:r>
            <a:endParaRPr lang="en-US" sz="1200" dirty="0"/>
          </a:p>
        </p:txBody>
      </p:sp>
      <p:sp>
        <p:nvSpPr>
          <p:cNvPr id="16" name="Text 14"/>
          <p:cNvSpPr/>
          <p:nvPr/>
        </p:nvSpPr>
        <p:spPr>
          <a:xfrm>
            <a:off x="4846320" y="278892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Registry persistence entries</a:t>
            </a:r>
            <a:endParaRPr lang="en-US" sz="1200" dirty="0"/>
          </a:p>
        </p:txBody>
      </p:sp>
      <p:sp>
        <p:nvSpPr>
          <p:cNvPr id="17" name="Text 15"/>
          <p:cNvSpPr/>
          <p:nvPr/>
        </p:nvSpPr>
        <p:spPr>
          <a:xfrm>
            <a:off x="4846320" y="3383280"/>
            <a:ext cx="3749040" cy="548640"/>
          </a:xfrm>
          <a:prstGeom prst="rect">
            <a:avLst/>
          </a:prstGeom>
          <a:noFill/>
          <a:ln/>
        </p:spPr>
        <p:txBody>
          <a:bodyPr wrap="square" lIns="0" tIns="0" rIns="0" bIns="0" rtlCol="0" anchor="ctr"/>
          <a:lstStyle/>
          <a:p>
            <a:pPr marL="0" indent="0">
              <a:buNone/>
            </a:pPr>
            <a:r>
              <a:rPr lang="en-US" sz="1200" dirty="0">
                <a:solidFill>
                  <a:srgbClr val="F1F1F1"/>
                </a:solidFill>
              </a:rPr>
              <a:t>→  C2 domains with short TTLs</a:t>
            </a:r>
            <a:endParaRPr lang="en-US" sz="1200" dirty="0"/>
          </a:p>
        </p:txBody>
      </p:sp>
      <p:sp>
        <p:nvSpPr>
          <p:cNvPr id="18" name="Text 16"/>
          <p:cNvSpPr/>
          <p:nvPr/>
        </p:nvSpPr>
        <p:spPr>
          <a:xfrm>
            <a:off x="457200" y="4754880"/>
            <a:ext cx="8229600" cy="274320"/>
          </a:xfrm>
          <a:prstGeom prst="rect">
            <a:avLst/>
          </a:prstGeom>
          <a:noFill/>
          <a:ln/>
        </p:spPr>
        <p:txBody>
          <a:bodyPr wrap="square" lIns="0" tIns="0" rIns="0" bIns="0" rtlCol="0" anchor="ctr"/>
          <a:lstStyle/>
          <a:p>
            <a:pPr marL="0" indent="0">
              <a:buNone/>
            </a:pPr>
            <a:r>
              <a:rPr lang="en-US" sz="1100" i="1" dirty="0">
                <a:solidFill>
                  <a:srgbClr val="8899A6"/>
                </a:solidFill>
              </a:rPr>
              <a:t>Primary Targets: Colombia &amp; LATAM Government / Financial Sectors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57B9D"/>
          </a:solidFill>
          <a:ln w="12700">
            <a:solidFill>
              <a:srgbClr val="457B9D"/>
            </a:solidFill>
            <a:prstDash val="solid"/>
          </a:ln>
        </p:spPr>
        <p:txBody>
          <a:bodyPr/>
          <a:lstStyle/>
          <a:p>
            <a:endParaRPr lang="en-US"/>
          </a:p>
        </p:txBody>
      </p:sp>
      <p:sp>
        <p:nvSpPr>
          <p:cNvPr id="3" name="Text 1"/>
          <p:cNvSpPr/>
          <p:nvPr/>
        </p:nvSpPr>
        <p:spPr>
          <a:xfrm>
            <a:off x="457200" y="182880"/>
            <a:ext cx="6400800" cy="594360"/>
          </a:xfrm>
          <a:prstGeom prst="rect">
            <a:avLst/>
          </a:prstGeom>
          <a:noFill/>
          <a:ln/>
        </p:spPr>
        <p:txBody>
          <a:bodyPr wrap="square" lIns="0" tIns="0" rIns="0" bIns="0" rtlCol="0" anchor="ctr"/>
          <a:lstStyle/>
          <a:p>
            <a:pPr marL="0" indent="0">
              <a:buNone/>
            </a:pPr>
            <a:r>
              <a:rPr lang="en-US" sz="2800" b="1" dirty="0">
                <a:solidFill>
                  <a:srgbClr val="FFFFFF"/>
                </a:solidFill>
              </a:rPr>
              <a:t>Grandoreiro</a:t>
            </a:r>
            <a:endParaRPr lang="en-US" sz="2800" dirty="0"/>
          </a:p>
        </p:txBody>
      </p:sp>
      <p:sp>
        <p:nvSpPr>
          <p:cNvPr id="4" name="Text 2"/>
          <p:cNvSpPr/>
          <p:nvPr/>
        </p:nvSpPr>
        <p:spPr>
          <a:xfrm>
            <a:off x="457200" y="777240"/>
            <a:ext cx="6400800" cy="320040"/>
          </a:xfrm>
          <a:prstGeom prst="rect">
            <a:avLst/>
          </a:prstGeom>
          <a:noFill/>
          <a:ln/>
        </p:spPr>
        <p:txBody>
          <a:bodyPr wrap="square" lIns="0" tIns="0" rIns="0" bIns="0" rtlCol="0" anchor="ctr"/>
          <a:lstStyle/>
          <a:p>
            <a:pPr marL="0" indent="0">
              <a:buNone/>
            </a:pPr>
            <a:r>
              <a:rPr lang="en-US" sz="1300" i="1" dirty="0">
                <a:solidFill>
                  <a:srgbClr val="A8DADC"/>
                </a:solidFill>
              </a:rPr>
              <a:t>Advanced Banking Trojan</a:t>
            </a:r>
            <a:endParaRPr lang="en-US" sz="1300" dirty="0"/>
          </a:p>
        </p:txBody>
      </p:sp>
      <p:sp>
        <p:nvSpPr>
          <p:cNvPr id="5" name="Shape 3"/>
          <p:cNvSpPr/>
          <p:nvPr/>
        </p:nvSpPr>
        <p:spPr>
          <a:xfrm>
            <a:off x="5029200" y="182880"/>
            <a:ext cx="3749040" cy="822960"/>
          </a:xfrm>
          <a:prstGeom prst="rect">
            <a:avLst/>
          </a:prstGeom>
          <a:solidFill>
            <a:srgbClr val="E63946">
              <a:alpha val="80000"/>
            </a:srgbClr>
          </a:solidFill>
          <a:ln w="12700">
            <a:solidFill>
              <a:srgbClr val="E63946"/>
            </a:solidFill>
            <a:prstDash val="solid"/>
          </a:ln>
        </p:spPr>
        <p:txBody>
          <a:bodyPr/>
          <a:lstStyle/>
          <a:p>
            <a:endParaRPr lang="en-US"/>
          </a:p>
        </p:txBody>
      </p:sp>
      <p:sp>
        <p:nvSpPr>
          <p:cNvPr id="6" name="Text 4"/>
          <p:cNvSpPr/>
          <p:nvPr/>
        </p:nvSpPr>
        <p:spPr>
          <a:xfrm>
            <a:off x="5029200" y="182880"/>
            <a:ext cx="3749040" cy="822960"/>
          </a:xfrm>
          <a:prstGeom prst="rect">
            <a:avLst/>
          </a:prstGeom>
          <a:noFill/>
          <a:ln/>
        </p:spPr>
        <p:txBody>
          <a:bodyPr wrap="square" lIns="50800" tIns="50800" rIns="50800" bIns="50800" rtlCol="0" anchor="ctr"/>
          <a:lstStyle/>
          <a:p>
            <a:pPr marL="0" indent="0" algn="ctr">
              <a:buNone/>
            </a:pPr>
            <a:r>
              <a:rPr lang="en-US" sz="1100" b="1" dirty="0">
                <a:solidFill>
                  <a:srgbClr val="FFFFFF"/>
                </a:solidFill>
              </a:rPr>
              <a:t>⚠  2024 Int'l Law Enforcement Disruption</a:t>
            </a:r>
            <a:endParaRPr lang="en-US" sz="1100" dirty="0"/>
          </a:p>
        </p:txBody>
      </p:sp>
      <p:sp>
        <p:nvSpPr>
          <p:cNvPr id="7" name="Text 5"/>
          <p:cNvSpPr/>
          <p:nvPr/>
        </p:nvSpPr>
        <p:spPr>
          <a:xfrm>
            <a:off x="457200" y="1280160"/>
            <a:ext cx="4572000" cy="320040"/>
          </a:xfrm>
          <a:prstGeom prst="rect">
            <a:avLst/>
          </a:prstGeom>
          <a:noFill/>
          <a:ln/>
        </p:spPr>
        <p:txBody>
          <a:bodyPr wrap="square" lIns="0" tIns="0" rIns="0" bIns="0" rtlCol="0" anchor="ctr"/>
          <a:lstStyle/>
          <a:p>
            <a:pPr marL="0" indent="0">
              <a:buNone/>
            </a:pPr>
            <a:r>
              <a:rPr lang="en-US" sz="1000" b="1" kern="0" spc="200" dirty="0">
                <a:solidFill>
                  <a:srgbClr val="A8DADC"/>
                </a:solidFill>
              </a:rPr>
              <a:t>TECHNICAL CHARACTERISTICS</a:t>
            </a:r>
            <a:endParaRPr lang="en-US" sz="1000" dirty="0"/>
          </a:p>
        </p:txBody>
      </p:sp>
      <p:sp>
        <p:nvSpPr>
          <p:cNvPr id="8" name="Shape 6"/>
          <p:cNvSpPr/>
          <p:nvPr/>
        </p:nvSpPr>
        <p:spPr>
          <a:xfrm>
            <a:off x="457200" y="1691640"/>
            <a:ext cx="4297680" cy="530352"/>
          </a:xfrm>
          <a:prstGeom prst="rect">
            <a:avLst/>
          </a:prstGeom>
          <a:solidFill>
            <a:srgbClr val="1D3557"/>
          </a:solidFill>
          <a:ln w="6350">
            <a:solidFill>
              <a:srgbClr val="457B9D"/>
            </a:solidFill>
            <a:prstDash val="solid"/>
          </a:ln>
        </p:spPr>
        <p:txBody>
          <a:bodyPr/>
          <a:lstStyle/>
          <a:p>
            <a:endParaRPr lang="en-US"/>
          </a:p>
        </p:txBody>
      </p:sp>
      <p:sp>
        <p:nvSpPr>
          <p:cNvPr id="9" name="Text 7"/>
          <p:cNvSpPr/>
          <p:nvPr/>
        </p:nvSpPr>
        <p:spPr>
          <a:xfrm>
            <a:off x="640080" y="1691640"/>
            <a:ext cx="4114800" cy="530352"/>
          </a:xfrm>
          <a:prstGeom prst="rect">
            <a:avLst/>
          </a:prstGeom>
          <a:noFill/>
          <a:ln/>
        </p:spPr>
        <p:txBody>
          <a:bodyPr wrap="square" lIns="0" tIns="0" rIns="0" bIns="0" rtlCol="0" anchor="ctr"/>
          <a:lstStyle/>
          <a:p>
            <a:pPr marL="0" indent="0">
              <a:buNone/>
            </a:pPr>
            <a:r>
              <a:rPr lang="en-US" sz="1200" dirty="0">
                <a:solidFill>
                  <a:srgbClr val="FFFFFF"/>
                </a:solidFill>
              </a:rPr>
              <a:t>Modular loader architecture</a:t>
            </a:r>
            <a:endParaRPr lang="en-US" sz="1200" dirty="0"/>
          </a:p>
        </p:txBody>
      </p:sp>
      <p:sp>
        <p:nvSpPr>
          <p:cNvPr id="10" name="Shape 8"/>
          <p:cNvSpPr/>
          <p:nvPr/>
        </p:nvSpPr>
        <p:spPr>
          <a:xfrm>
            <a:off x="457200" y="2331720"/>
            <a:ext cx="4297680" cy="530352"/>
          </a:xfrm>
          <a:prstGeom prst="rect">
            <a:avLst/>
          </a:prstGeom>
          <a:solidFill>
            <a:srgbClr val="1D3557"/>
          </a:solidFill>
          <a:ln w="6350">
            <a:solidFill>
              <a:srgbClr val="457B9D"/>
            </a:solidFill>
            <a:prstDash val="solid"/>
          </a:ln>
        </p:spPr>
        <p:txBody>
          <a:bodyPr/>
          <a:lstStyle/>
          <a:p>
            <a:endParaRPr lang="en-US"/>
          </a:p>
        </p:txBody>
      </p:sp>
      <p:sp>
        <p:nvSpPr>
          <p:cNvPr id="11" name="Text 9"/>
          <p:cNvSpPr/>
          <p:nvPr/>
        </p:nvSpPr>
        <p:spPr>
          <a:xfrm>
            <a:off x="640080" y="2331720"/>
            <a:ext cx="4114800" cy="530352"/>
          </a:xfrm>
          <a:prstGeom prst="rect">
            <a:avLst/>
          </a:prstGeom>
          <a:noFill/>
          <a:ln/>
        </p:spPr>
        <p:txBody>
          <a:bodyPr wrap="square" lIns="0" tIns="0" rIns="0" bIns="0" rtlCol="0" anchor="ctr"/>
          <a:lstStyle/>
          <a:p>
            <a:pPr marL="0" indent="0">
              <a:buNone/>
            </a:pPr>
            <a:r>
              <a:rPr lang="en-US" sz="1200" dirty="0">
                <a:solidFill>
                  <a:srgbClr val="FFFFFF"/>
                </a:solidFill>
              </a:rPr>
              <a:t>DGA or dynamic C2 resolution</a:t>
            </a:r>
            <a:endParaRPr lang="en-US" sz="1200" dirty="0"/>
          </a:p>
        </p:txBody>
      </p:sp>
      <p:sp>
        <p:nvSpPr>
          <p:cNvPr id="12" name="Shape 10"/>
          <p:cNvSpPr/>
          <p:nvPr/>
        </p:nvSpPr>
        <p:spPr>
          <a:xfrm>
            <a:off x="457200" y="2971800"/>
            <a:ext cx="4297680" cy="530352"/>
          </a:xfrm>
          <a:prstGeom prst="rect">
            <a:avLst/>
          </a:prstGeom>
          <a:solidFill>
            <a:srgbClr val="1D3557"/>
          </a:solidFill>
          <a:ln w="6350">
            <a:solidFill>
              <a:srgbClr val="457B9D"/>
            </a:solidFill>
            <a:prstDash val="solid"/>
          </a:ln>
        </p:spPr>
        <p:txBody>
          <a:bodyPr/>
          <a:lstStyle/>
          <a:p>
            <a:endParaRPr lang="en-US"/>
          </a:p>
        </p:txBody>
      </p:sp>
      <p:sp>
        <p:nvSpPr>
          <p:cNvPr id="13" name="Text 11"/>
          <p:cNvSpPr/>
          <p:nvPr/>
        </p:nvSpPr>
        <p:spPr>
          <a:xfrm>
            <a:off x="640080" y="2971800"/>
            <a:ext cx="4114800" cy="530352"/>
          </a:xfrm>
          <a:prstGeom prst="rect">
            <a:avLst/>
          </a:prstGeom>
          <a:noFill/>
          <a:ln/>
        </p:spPr>
        <p:txBody>
          <a:bodyPr wrap="square" lIns="0" tIns="0" rIns="0" bIns="0" rtlCol="0" anchor="ctr"/>
          <a:lstStyle/>
          <a:p>
            <a:pPr marL="0" indent="0">
              <a:buNone/>
            </a:pPr>
            <a:r>
              <a:rPr lang="en-US" sz="1200" dirty="0">
                <a:solidFill>
                  <a:srgbClr val="FFFFFF"/>
                </a:solidFill>
              </a:rPr>
              <a:t>Banking credential interception</a:t>
            </a:r>
            <a:endParaRPr lang="en-US" sz="1200" dirty="0"/>
          </a:p>
        </p:txBody>
      </p:sp>
      <p:sp>
        <p:nvSpPr>
          <p:cNvPr id="14" name="Shape 12"/>
          <p:cNvSpPr/>
          <p:nvPr/>
        </p:nvSpPr>
        <p:spPr>
          <a:xfrm>
            <a:off x="457200" y="3611880"/>
            <a:ext cx="4297680" cy="530352"/>
          </a:xfrm>
          <a:prstGeom prst="rect">
            <a:avLst/>
          </a:prstGeom>
          <a:solidFill>
            <a:srgbClr val="1D3557"/>
          </a:solidFill>
          <a:ln w="6350">
            <a:solidFill>
              <a:srgbClr val="457B9D"/>
            </a:solidFill>
            <a:prstDash val="solid"/>
          </a:ln>
        </p:spPr>
        <p:txBody>
          <a:bodyPr/>
          <a:lstStyle/>
          <a:p>
            <a:endParaRPr lang="en-US"/>
          </a:p>
        </p:txBody>
      </p:sp>
      <p:sp>
        <p:nvSpPr>
          <p:cNvPr id="15" name="Text 13"/>
          <p:cNvSpPr/>
          <p:nvPr/>
        </p:nvSpPr>
        <p:spPr>
          <a:xfrm>
            <a:off x="640080" y="3611880"/>
            <a:ext cx="4114800" cy="530352"/>
          </a:xfrm>
          <a:prstGeom prst="rect">
            <a:avLst/>
          </a:prstGeom>
          <a:noFill/>
          <a:ln/>
        </p:spPr>
        <p:txBody>
          <a:bodyPr wrap="square" lIns="0" tIns="0" rIns="0" bIns="0" rtlCol="0" anchor="ctr"/>
          <a:lstStyle/>
          <a:p>
            <a:pPr marL="0" indent="0">
              <a:buNone/>
            </a:pPr>
            <a:r>
              <a:rPr lang="en-US" sz="1200" dirty="0">
                <a:solidFill>
                  <a:srgbClr val="FFFFFF"/>
                </a:solidFill>
              </a:rPr>
              <a:t>Outlook client abuse for propagation</a:t>
            </a:r>
            <a:endParaRPr lang="en-US" sz="1200" dirty="0"/>
          </a:p>
        </p:txBody>
      </p:sp>
      <p:sp>
        <p:nvSpPr>
          <p:cNvPr id="16" name="Text 14"/>
          <p:cNvSpPr/>
          <p:nvPr/>
        </p:nvSpPr>
        <p:spPr>
          <a:xfrm>
            <a:off x="5029200" y="1280160"/>
            <a:ext cx="3749040" cy="320040"/>
          </a:xfrm>
          <a:prstGeom prst="rect">
            <a:avLst/>
          </a:prstGeom>
          <a:noFill/>
          <a:ln/>
        </p:spPr>
        <p:txBody>
          <a:bodyPr wrap="square" lIns="0" tIns="0" rIns="0" bIns="0" rtlCol="0" anchor="ctr"/>
          <a:lstStyle/>
          <a:p>
            <a:pPr marL="0" indent="0">
              <a:buNone/>
            </a:pPr>
            <a:r>
              <a:rPr lang="en-US" sz="1000" b="1" kern="0" spc="200" dirty="0">
                <a:solidFill>
                  <a:srgbClr val="A8DADC"/>
                </a:solidFill>
              </a:rPr>
              <a:t>ARTIFACTS</a:t>
            </a:r>
            <a:endParaRPr lang="en-US" sz="1000" dirty="0"/>
          </a:p>
        </p:txBody>
      </p:sp>
      <p:sp>
        <p:nvSpPr>
          <p:cNvPr id="17" name="Text 15"/>
          <p:cNvSpPr/>
          <p:nvPr/>
        </p:nvSpPr>
        <p:spPr>
          <a:xfrm>
            <a:off x="5029200" y="169164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LNK / ZIP delivery chains</a:t>
            </a:r>
            <a:endParaRPr lang="en-US" sz="1200" dirty="0"/>
          </a:p>
        </p:txBody>
      </p:sp>
      <p:sp>
        <p:nvSpPr>
          <p:cNvPr id="18" name="Text 16"/>
          <p:cNvSpPr/>
          <p:nvPr/>
        </p:nvSpPr>
        <p:spPr>
          <a:xfrm>
            <a:off x="5029200" y="233172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Process injection behavior</a:t>
            </a:r>
            <a:endParaRPr lang="en-US" sz="1200" dirty="0"/>
          </a:p>
        </p:txBody>
      </p:sp>
      <p:sp>
        <p:nvSpPr>
          <p:cNvPr id="19" name="Text 17"/>
          <p:cNvSpPr/>
          <p:nvPr/>
        </p:nvSpPr>
        <p:spPr>
          <a:xfrm>
            <a:off x="5029200" y="297180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TLS certificate reuse</a:t>
            </a:r>
            <a:endParaRPr lang="en-US" sz="1200" dirty="0"/>
          </a:p>
        </p:txBody>
      </p:sp>
      <p:sp>
        <p:nvSpPr>
          <p:cNvPr id="20" name="Text 18"/>
          <p:cNvSpPr/>
          <p:nvPr/>
        </p:nvSpPr>
        <p:spPr>
          <a:xfrm>
            <a:off x="5029200" y="3611880"/>
            <a:ext cx="3749040" cy="530352"/>
          </a:xfrm>
          <a:prstGeom prst="rect">
            <a:avLst/>
          </a:prstGeom>
          <a:noFill/>
          <a:ln/>
        </p:spPr>
        <p:txBody>
          <a:bodyPr wrap="square" lIns="0" tIns="0" rIns="0" bIns="0" rtlCol="0" anchor="ctr"/>
          <a:lstStyle/>
          <a:p>
            <a:pPr marL="0" indent="0">
              <a:buNone/>
            </a:pPr>
            <a:r>
              <a:rPr lang="en-US" sz="1200" dirty="0">
                <a:solidFill>
                  <a:srgbClr val="F1F1F1"/>
                </a:solidFill>
              </a:rPr>
              <a:t>◆  Banking overlay patterns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buNone/>
            </a:pPr>
            <a:r>
              <a:rPr lang="en-US" sz="2800" b="1" dirty="0">
                <a:solidFill>
                  <a:srgbClr val="0D1B2A"/>
                </a:solidFill>
              </a:rPr>
              <a:t>Mispadu &amp; Mekotio</a:t>
            </a:r>
            <a:endParaRPr lang="en-US" sz="2800" dirty="0"/>
          </a:p>
        </p:txBody>
      </p:sp>
      <p:sp>
        <p:nvSpPr>
          <p:cNvPr id="4" name="Text 2"/>
          <p:cNvSpPr/>
          <p:nvPr/>
        </p:nvSpPr>
        <p:spPr>
          <a:xfrm>
            <a:off x="457200" y="868680"/>
            <a:ext cx="2743200" cy="320040"/>
          </a:xfrm>
          <a:prstGeom prst="rect">
            <a:avLst/>
          </a:prstGeom>
          <a:noFill/>
          <a:ln/>
        </p:spPr>
        <p:txBody>
          <a:bodyPr wrap="square" lIns="0" tIns="0" rIns="0" bIns="0" rtlCol="0" anchor="ctr"/>
          <a:lstStyle/>
          <a:p>
            <a:pPr marL="0" indent="0">
              <a:buNone/>
            </a:pPr>
            <a:r>
              <a:rPr lang="en-US" sz="1000" b="1" kern="0" spc="200" dirty="0">
                <a:solidFill>
                  <a:srgbClr val="E63946"/>
                </a:solidFill>
              </a:rPr>
              <a:t>DELIVERY CHAIN</a:t>
            </a:r>
            <a:endParaRPr lang="en-US" sz="1000" dirty="0"/>
          </a:p>
        </p:txBody>
      </p:sp>
      <p:sp>
        <p:nvSpPr>
          <p:cNvPr id="5" name="Shape 3"/>
          <p:cNvSpPr/>
          <p:nvPr/>
        </p:nvSpPr>
        <p:spPr>
          <a:xfrm>
            <a:off x="457200" y="1234440"/>
            <a:ext cx="1417320" cy="548640"/>
          </a:xfrm>
          <a:prstGeom prst="rect">
            <a:avLst/>
          </a:prstGeom>
          <a:solidFill>
            <a:srgbClr val="E63946"/>
          </a:solidFill>
          <a:ln w="12700">
            <a:solidFill>
              <a:srgbClr val="E63946"/>
            </a:solidFill>
            <a:prstDash val="solid"/>
          </a:ln>
        </p:spPr>
        <p:txBody>
          <a:bodyPr/>
          <a:lstStyle/>
          <a:p>
            <a:endParaRPr lang="en-US"/>
          </a:p>
        </p:txBody>
      </p:sp>
      <p:sp>
        <p:nvSpPr>
          <p:cNvPr id="6" name="Text 4"/>
          <p:cNvSpPr/>
          <p:nvPr/>
        </p:nvSpPr>
        <p:spPr>
          <a:xfrm>
            <a:off x="457200"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Phishing</a:t>
            </a:r>
            <a:endParaRPr lang="en-US" sz="1300" dirty="0"/>
          </a:p>
        </p:txBody>
      </p:sp>
      <p:sp>
        <p:nvSpPr>
          <p:cNvPr id="7" name="Shape 5"/>
          <p:cNvSpPr/>
          <p:nvPr/>
        </p:nvSpPr>
        <p:spPr>
          <a:xfrm>
            <a:off x="1874520" y="1508760"/>
            <a:ext cx="246888" cy="0"/>
          </a:xfrm>
          <a:prstGeom prst="line">
            <a:avLst/>
          </a:prstGeom>
          <a:noFill/>
          <a:ln w="25400">
            <a:solidFill>
              <a:srgbClr val="1D3557"/>
            </a:solidFill>
            <a:prstDash val="solid"/>
          </a:ln>
        </p:spPr>
        <p:txBody>
          <a:bodyPr/>
          <a:lstStyle/>
          <a:p>
            <a:endParaRPr lang="en-US"/>
          </a:p>
        </p:txBody>
      </p:sp>
      <p:sp>
        <p:nvSpPr>
          <p:cNvPr id="8" name="Shape 6"/>
          <p:cNvSpPr/>
          <p:nvPr/>
        </p:nvSpPr>
        <p:spPr>
          <a:xfrm>
            <a:off x="2121408" y="1234440"/>
            <a:ext cx="1417320" cy="548640"/>
          </a:xfrm>
          <a:prstGeom prst="rect">
            <a:avLst/>
          </a:prstGeom>
          <a:solidFill>
            <a:srgbClr val="1D3557"/>
          </a:solidFill>
          <a:ln w="12700">
            <a:solidFill>
              <a:srgbClr val="1D3557"/>
            </a:solidFill>
            <a:prstDash val="solid"/>
          </a:ln>
        </p:spPr>
        <p:txBody>
          <a:bodyPr/>
          <a:lstStyle/>
          <a:p>
            <a:endParaRPr lang="en-US"/>
          </a:p>
        </p:txBody>
      </p:sp>
      <p:sp>
        <p:nvSpPr>
          <p:cNvPr id="9" name="Text 7"/>
          <p:cNvSpPr/>
          <p:nvPr/>
        </p:nvSpPr>
        <p:spPr>
          <a:xfrm>
            <a:off x="2121408"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ZIP</a:t>
            </a:r>
            <a:endParaRPr lang="en-US" sz="1300" dirty="0"/>
          </a:p>
        </p:txBody>
      </p:sp>
      <p:sp>
        <p:nvSpPr>
          <p:cNvPr id="10" name="Shape 8"/>
          <p:cNvSpPr/>
          <p:nvPr/>
        </p:nvSpPr>
        <p:spPr>
          <a:xfrm>
            <a:off x="3538728" y="1508760"/>
            <a:ext cx="246888" cy="0"/>
          </a:xfrm>
          <a:prstGeom prst="line">
            <a:avLst/>
          </a:prstGeom>
          <a:noFill/>
          <a:ln w="25400">
            <a:solidFill>
              <a:srgbClr val="1D3557"/>
            </a:solidFill>
            <a:prstDash val="solid"/>
          </a:ln>
        </p:spPr>
        <p:txBody>
          <a:bodyPr/>
          <a:lstStyle/>
          <a:p>
            <a:endParaRPr lang="en-US"/>
          </a:p>
        </p:txBody>
      </p:sp>
      <p:sp>
        <p:nvSpPr>
          <p:cNvPr id="11" name="Shape 9"/>
          <p:cNvSpPr/>
          <p:nvPr/>
        </p:nvSpPr>
        <p:spPr>
          <a:xfrm>
            <a:off x="3785616" y="1234440"/>
            <a:ext cx="1417320" cy="548640"/>
          </a:xfrm>
          <a:prstGeom prst="rect">
            <a:avLst/>
          </a:prstGeom>
          <a:solidFill>
            <a:srgbClr val="1D3557"/>
          </a:solidFill>
          <a:ln w="12700">
            <a:solidFill>
              <a:srgbClr val="1D3557"/>
            </a:solidFill>
            <a:prstDash val="solid"/>
          </a:ln>
        </p:spPr>
        <p:txBody>
          <a:bodyPr/>
          <a:lstStyle/>
          <a:p>
            <a:endParaRPr lang="en-US"/>
          </a:p>
        </p:txBody>
      </p:sp>
      <p:sp>
        <p:nvSpPr>
          <p:cNvPr id="12" name="Text 10"/>
          <p:cNvSpPr/>
          <p:nvPr/>
        </p:nvSpPr>
        <p:spPr>
          <a:xfrm>
            <a:off x="3785616"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LNK</a:t>
            </a:r>
            <a:endParaRPr lang="en-US" sz="1300" dirty="0"/>
          </a:p>
        </p:txBody>
      </p:sp>
      <p:sp>
        <p:nvSpPr>
          <p:cNvPr id="13" name="Shape 11"/>
          <p:cNvSpPr/>
          <p:nvPr/>
        </p:nvSpPr>
        <p:spPr>
          <a:xfrm>
            <a:off x="5202936" y="1508760"/>
            <a:ext cx="246888" cy="0"/>
          </a:xfrm>
          <a:prstGeom prst="line">
            <a:avLst/>
          </a:prstGeom>
          <a:noFill/>
          <a:ln w="25400">
            <a:solidFill>
              <a:srgbClr val="1D3557"/>
            </a:solidFill>
            <a:prstDash val="solid"/>
          </a:ln>
        </p:spPr>
        <p:txBody>
          <a:bodyPr/>
          <a:lstStyle/>
          <a:p>
            <a:endParaRPr lang="en-US"/>
          </a:p>
        </p:txBody>
      </p:sp>
      <p:sp>
        <p:nvSpPr>
          <p:cNvPr id="14" name="Shape 12"/>
          <p:cNvSpPr/>
          <p:nvPr/>
        </p:nvSpPr>
        <p:spPr>
          <a:xfrm>
            <a:off x="5449824" y="1234440"/>
            <a:ext cx="1417320" cy="548640"/>
          </a:xfrm>
          <a:prstGeom prst="rect">
            <a:avLst/>
          </a:prstGeom>
          <a:solidFill>
            <a:srgbClr val="1D3557"/>
          </a:solidFill>
          <a:ln w="12700">
            <a:solidFill>
              <a:srgbClr val="1D3557"/>
            </a:solidFill>
            <a:prstDash val="solid"/>
          </a:ln>
        </p:spPr>
        <p:txBody>
          <a:bodyPr/>
          <a:lstStyle/>
          <a:p>
            <a:endParaRPr lang="en-US"/>
          </a:p>
        </p:txBody>
      </p:sp>
      <p:sp>
        <p:nvSpPr>
          <p:cNvPr id="15" name="Text 13"/>
          <p:cNvSpPr/>
          <p:nvPr/>
        </p:nvSpPr>
        <p:spPr>
          <a:xfrm>
            <a:off x="5449824"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PowerShell</a:t>
            </a:r>
            <a:endParaRPr lang="en-US" sz="1300" dirty="0"/>
          </a:p>
        </p:txBody>
      </p:sp>
      <p:sp>
        <p:nvSpPr>
          <p:cNvPr id="16" name="Shape 14"/>
          <p:cNvSpPr/>
          <p:nvPr/>
        </p:nvSpPr>
        <p:spPr>
          <a:xfrm>
            <a:off x="6867144" y="1508760"/>
            <a:ext cx="246888" cy="0"/>
          </a:xfrm>
          <a:prstGeom prst="line">
            <a:avLst/>
          </a:prstGeom>
          <a:noFill/>
          <a:ln w="25400">
            <a:solidFill>
              <a:srgbClr val="1D3557"/>
            </a:solidFill>
            <a:prstDash val="solid"/>
          </a:ln>
        </p:spPr>
        <p:txBody>
          <a:bodyPr/>
          <a:lstStyle/>
          <a:p>
            <a:endParaRPr lang="en-US"/>
          </a:p>
        </p:txBody>
      </p:sp>
      <p:sp>
        <p:nvSpPr>
          <p:cNvPr id="17" name="Shape 15"/>
          <p:cNvSpPr/>
          <p:nvPr/>
        </p:nvSpPr>
        <p:spPr>
          <a:xfrm>
            <a:off x="7114032" y="1234440"/>
            <a:ext cx="1417320" cy="548640"/>
          </a:xfrm>
          <a:prstGeom prst="rect">
            <a:avLst/>
          </a:prstGeom>
          <a:solidFill>
            <a:srgbClr val="457B9D"/>
          </a:solidFill>
          <a:ln w="12700">
            <a:solidFill>
              <a:srgbClr val="457B9D"/>
            </a:solidFill>
            <a:prstDash val="solid"/>
          </a:ln>
        </p:spPr>
        <p:txBody>
          <a:bodyPr/>
          <a:lstStyle/>
          <a:p>
            <a:endParaRPr lang="en-US"/>
          </a:p>
        </p:txBody>
      </p:sp>
      <p:sp>
        <p:nvSpPr>
          <p:cNvPr id="18" name="Text 16"/>
          <p:cNvSpPr/>
          <p:nvPr/>
        </p:nvSpPr>
        <p:spPr>
          <a:xfrm>
            <a:off x="7114032" y="1234440"/>
            <a:ext cx="1417320" cy="548640"/>
          </a:xfrm>
          <a:prstGeom prst="rect">
            <a:avLst/>
          </a:prstGeom>
          <a:noFill/>
          <a:ln/>
        </p:spPr>
        <p:txBody>
          <a:bodyPr wrap="square" lIns="0" tIns="0" rIns="0" bIns="0" rtlCol="0" anchor="ctr"/>
          <a:lstStyle/>
          <a:p>
            <a:pPr marL="0" indent="0" algn="ctr">
              <a:buNone/>
            </a:pPr>
            <a:r>
              <a:rPr lang="en-US" sz="1300" b="1" dirty="0">
                <a:solidFill>
                  <a:srgbClr val="FFFFFF"/>
                </a:solidFill>
              </a:rPr>
              <a:t>Payload</a:t>
            </a:r>
            <a:endParaRPr lang="en-US" sz="1300" dirty="0"/>
          </a:p>
        </p:txBody>
      </p:sp>
      <p:sp>
        <p:nvSpPr>
          <p:cNvPr id="19" name="Shape 17"/>
          <p:cNvSpPr/>
          <p:nvPr/>
        </p:nvSpPr>
        <p:spPr>
          <a:xfrm>
            <a:off x="457200" y="2011680"/>
            <a:ext cx="2651760" cy="2194560"/>
          </a:xfrm>
          <a:prstGeom prst="rect">
            <a:avLst/>
          </a:prstGeom>
          <a:solidFill>
            <a:srgbClr val="FFFFFF"/>
          </a:solidFill>
          <a:ln w="12700">
            <a:solidFill>
              <a:srgbClr val="457B9D"/>
            </a:solidFill>
            <a:prstDash val="solid"/>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457200" y="2011680"/>
            <a:ext cx="2651760" cy="411480"/>
          </a:xfrm>
          <a:prstGeom prst="rect">
            <a:avLst/>
          </a:prstGeom>
          <a:solidFill>
            <a:srgbClr val="1D3557"/>
          </a:solidFill>
          <a:ln w="12700">
            <a:solidFill>
              <a:srgbClr val="1D3557"/>
            </a:solidFill>
            <a:prstDash val="solid"/>
          </a:ln>
        </p:spPr>
        <p:txBody>
          <a:bodyPr/>
          <a:lstStyle/>
          <a:p>
            <a:endParaRPr lang="en-US"/>
          </a:p>
        </p:txBody>
      </p:sp>
      <p:sp>
        <p:nvSpPr>
          <p:cNvPr id="21" name="Text 19"/>
          <p:cNvSpPr/>
          <p:nvPr/>
        </p:nvSpPr>
        <p:spPr>
          <a:xfrm>
            <a:off x="548640" y="2011680"/>
            <a:ext cx="2468880" cy="411480"/>
          </a:xfrm>
          <a:prstGeom prst="rect">
            <a:avLst/>
          </a:prstGeom>
          <a:noFill/>
          <a:ln/>
        </p:spPr>
        <p:txBody>
          <a:bodyPr wrap="square" lIns="0" tIns="0" rIns="0" bIns="0" rtlCol="0" anchor="ctr"/>
          <a:lstStyle/>
          <a:p>
            <a:pPr marL="0" indent="0">
              <a:buNone/>
            </a:pPr>
            <a:r>
              <a:rPr lang="en-US" sz="1200" b="1" dirty="0">
                <a:solidFill>
                  <a:srgbClr val="FFFFFF"/>
                </a:solidFill>
              </a:rPr>
              <a:t>Credential Harvesting</a:t>
            </a:r>
            <a:endParaRPr lang="en-US" sz="1200" dirty="0"/>
          </a:p>
        </p:txBody>
      </p:sp>
      <p:sp>
        <p:nvSpPr>
          <p:cNvPr id="22" name="Text 20"/>
          <p:cNvSpPr/>
          <p:nvPr/>
        </p:nvSpPr>
        <p:spPr>
          <a:xfrm>
            <a:off x="594360" y="2514600"/>
            <a:ext cx="2423160" cy="1600200"/>
          </a:xfrm>
          <a:prstGeom prst="rect">
            <a:avLst/>
          </a:prstGeom>
          <a:noFill/>
          <a:ln/>
        </p:spPr>
        <p:txBody>
          <a:bodyPr wrap="square" rtlCol="0" anchor="ctr"/>
          <a:lstStyle/>
          <a:p>
            <a:pPr marL="0" indent="0">
              <a:buNone/>
            </a:pPr>
            <a:r>
              <a:rPr lang="en-US" sz="1200" dirty="0">
                <a:solidFill>
                  <a:srgbClr val="0D1B2A"/>
                </a:solidFill>
              </a:rPr>
              <a:t>Captures banking credentials via overlay attacks and keylogging</a:t>
            </a:r>
            <a:endParaRPr lang="en-US" sz="1200" dirty="0"/>
          </a:p>
        </p:txBody>
      </p:sp>
      <p:sp>
        <p:nvSpPr>
          <p:cNvPr id="23" name="Shape 21"/>
          <p:cNvSpPr/>
          <p:nvPr/>
        </p:nvSpPr>
        <p:spPr>
          <a:xfrm>
            <a:off x="3310128" y="2011680"/>
            <a:ext cx="2651760" cy="2194560"/>
          </a:xfrm>
          <a:prstGeom prst="rect">
            <a:avLst/>
          </a:prstGeom>
          <a:solidFill>
            <a:srgbClr val="FFFFFF"/>
          </a:solidFill>
          <a:ln w="12700">
            <a:solidFill>
              <a:srgbClr val="457B9D"/>
            </a:solidFill>
            <a:prstDash val="solid"/>
          </a:ln>
          <a:effectLst>
            <a:outerShdw blurRad="76200" dist="25400" dir="8100000" algn="bl" rotWithShape="0">
              <a:srgbClr val="000000">
                <a:alpha val="10000"/>
              </a:srgbClr>
            </a:outerShdw>
          </a:effectLst>
        </p:spPr>
        <p:txBody>
          <a:bodyPr/>
          <a:lstStyle/>
          <a:p>
            <a:endParaRPr lang="en-US"/>
          </a:p>
        </p:txBody>
      </p:sp>
      <p:sp>
        <p:nvSpPr>
          <p:cNvPr id="24" name="Shape 22"/>
          <p:cNvSpPr/>
          <p:nvPr/>
        </p:nvSpPr>
        <p:spPr>
          <a:xfrm>
            <a:off x="3310128" y="2011680"/>
            <a:ext cx="2651760" cy="411480"/>
          </a:xfrm>
          <a:prstGeom prst="rect">
            <a:avLst/>
          </a:prstGeom>
          <a:solidFill>
            <a:srgbClr val="1D3557"/>
          </a:solidFill>
          <a:ln w="12700">
            <a:solidFill>
              <a:srgbClr val="1D3557"/>
            </a:solidFill>
            <a:prstDash val="solid"/>
          </a:ln>
        </p:spPr>
        <p:txBody>
          <a:bodyPr/>
          <a:lstStyle/>
          <a:p>
            <a:endParaRPr lang="en-US"/>
          </a:p>
        </p:txBody>
      </p:sp>
      <p:sp>
        <p:nvSpPr>
          <p:cNvPr id="25" name="Text 23"/>
          <p:cNvSpPr/>
          <p:nvPr/>
        </p:nvSpPr>
        <p:spPr>
          <a:xfrm>
            <a:off x="3401568" y="2011680"/>
            <a:ext cx="2468880" cy="411480"/>
          </a:xfrm>
          <a:prstGeom prst="rect">
            <a:avLst/>
          </a:prstGeom>
          <a:noFill/>
          <a:ln/>
        </p:spPr>
        <p:txBody>
          <a:bodyPr wrap="square" lIns="0" tIns="0" rIns="0" bIns="0" rtlCol="0" anchor="ctr"/>
          <a:lstStyle/>
          <a:p>
            <a:pPr marL="0" indent="0">
              <a:buNone/>
            </a:pPr>
            <a:r>
              <a:rPr lang="en-US" sz="1200" b="1" dirty="0">
                <a:solidFill>
                  <a:srgbClr val="FFFFFF"/>
                </a:solidFill>
              </a:rPr>
              <a:t>Clipboard Monitoring</a:t>
            </a:r>
            <a:endParaRPr lang="en-US" sz="1200" dirty="0"/>
          </a:p>
        </p:txBody>
      </p:sp>
      <p:sp>
        <p:nvSpPr>
          <p:cNvPr id="26" name="Text 24"/>
          <p:cNvSpPr/>
          <p:nvPr/>
        </p:nvSpPr>
        <p:spPr>
          <a:xfrm>
            <a:off x="3447288" y="2514600"/>
            <a:ext cx="2423160" cy="1600200"/>
          </a:xfrm>
          <a:prstGeom prst="rect">
            <a:avLst/>
          </a:prstGeom>
          <a:noFill/>
          <a:ln/>
        </p:spPr>
        <p:txBody>
          <a:bodyPr wrap="square" rtlCol="0" anchor="ctr"/>
          <a:lstStyle/>
          <a:p>
            <a:pPr marL="0" indent="0">
              <a:buNone/>
            </a:pPr>
            <a:r>
              <a:rPr lang="en-US" sz="1200" dirty="0">
                <a:solidFill>
                  <a:srgbClr val="0D1B2A"/>
                </a:solidFill>
              </a:rPr>
              <a:t>Intercepts copied payment data, crypto addresses, and passwords</a:t>
            </a:r>
            <a:endParaRPr lang="en-US" sz="1200" dirty="0"/>
          </a:p>
        </p:txBody>
      </p:sp>
      <p:sp>
        <p:nvSpPr>
          <p:cNvPr id="27" name="Shape 25"/>
          <p:cNvSpPr/>
          <p:nvPr/>
        </p:nvSpPr>
        <p:spPr>
          <a:xfrm>
            <a:off x="6163056" y="2011680"/>
            <a:ext cx="2651760" cy="2194560"/>
          </a:xfrm>
          <a:prstGeom prst="rect">
            <a:avLst/>
          </a:prstGeom>
          <a:solidFill>
            <a:srgbClr val="FFFFFF"/>
          </a:solidFill>
          <a:ln w="12700">
            <a:solidFill>
              <a:srgbClr val="457B9D"/>
            </a:solidFill>
            <a:prstDash val="solid"/>
          </a:ln>
          <a:effectLst>
            <a:outerShdw blurRad="76200" dist="25400" dir="8100000" algn="bl" rotWithShape="0">
              <a:srgbClr val="000000">
                <a:alpha val="10000"/>
              </a:srgbClr>
            </a:outerShdw>
          </a:effectLst>
        </p:spPr>
        <p:txBody>
          <a:bodyPr/>
          <a:lstStyle/>
          <a:p>
            <a:endParaRPr lang="en-US"/>
          </a:p>
        </p:txBody>
      </p:sp>
      <p:sp>
        <p:nvSpPr>
          <p:cNvPr id="28" name="Shape 26"/>
          <p:cNvSpPr/>
          <p:nvPr/>
        </p:nvSpPr>
        <p:spPr>
          <a:xfrm>
            <a:off x="6163056" y="2011680"/>
            <a:ext cx="2651760" cy="411480"/>
          </a:xfrm>
          <a:prstGeom prst="rect">
            <a:avLst/>
          </a:prstGeom>
          <a:solidFill>
            <a:srgbClr val="1D3557"/>
          </a:solidFill>
          <a:ln w="12700">
            <a:solidFill>
              <a:srgbClr val="1D3557"/>
            </a:solidFill>
            <a:prstDash val="solid"/>
          </a:ln>
        </p:spPr>
        <p:txBody>
          <a:bodyPr/>
          <a:lstStyle/>
          <a:p>
            <a:endParaRPr lang="en-US"/>
          </a:p>
        </p:txBody>
      </p:sp>
      <p:sp>
        <p:nvSpPr>
          <p:cNvPr id="29" name="Text 27"/>
          <p:cNvSpPr/>
          <p:nvPr/>
        </p:nvSpPr>
        <p:spPr>
          <a:xfrm>
            <a:off x="6254496" y="2011680"/>
            <a:ext cx="2468880" cy="411480"/>
          </a:xfrm>
          <a:prstGeom prst="rect">
            <a:avLst/>
          </a:prstGeom>
          <a:noFill/>
          <a:ln/>
        </p:spPr>
        <p:txBody>
          <a:bodyPr wrap="square" lIns="0" tIns="0" rIns="0" bIns="0" rtlCol="0" anchor="ctr"/>
          <a:lstStyle/>
          <a:p>
            <a:pPr marL="0" indent="0">
              <a:buNone/>
            </a:pPr>
            <a:r>
              <a:rPr lang="en-US" sz="1200" b="1" dirty="0">
                <a:solidFill>
                  <a:srgbClr val="FFFFFF"/>
                </a:solidFill>
              </a:rPr>
              <a:t>Banking Overlays</a:t>
            </a:r>
            <a:endParaRPr lang="en-US" sz="1200" dirty="0"/>
          </a:p>
        </p:txBody>
      </p:sp>
      <p:sp>
        <p:nvSpPr>
          <p:cNvPr id="30" name="Text 28"/>
          <p:cNvSpPr/>
          <p:nvPr/>
        </p:nvSpPr>
        <p:spPr>
          <a:xfrm>
            <a:off x="6300216" y="2514600"/>
            <a:ext cx="2423160" cy="1600200"/>
          </a:xfrm>
          <a:prstGeom prst="rect">
            <a:avLst/>
          </a:prstGeom>
          <a:noFill/>
          <a:ln/>
        </p:spPr>
        <p:txBody>
          <a:bodyPr wrap="square" rtlCol="0" anchor="ctr"/>
          <a:lstStyle/>
          <a:p>
            <a:pPr marL="0" indent="0">
              <a:buNone/>
            </a:pPr>
            <a:r>
              <a:rPr lang="en-US" sz="1200" dirty="0">
                <a:solidFill>
                  <a:srgbClr val="0D1B2A"/>
                </a:solidFill>
              </a:rPr>
              <a:t>Targeted fake UI overlays for major banking institutions across LATAM</a:t>
            </a:r>
            <a:endParaRPr lang="en-US" sz="1200" dirty="0"/>
          </a:p>
        </p:txBody>
      </p:sp>
      <p:sp>
        <p:nvSpPr>
          <p:cNvPr id="31" name="Shape 29"/>
          <p:cNvSpPr/>
          <p:nvPr/>
        </p:nvSpPr>
        <p:spPr>
          <a:xfrm>
            <a:off x="457200" y="4434840"/>
            <a:ext cx="8229600" cy="502920"/>
          </a:xfrm>
          <a:prstGeom prst="rect">
            <a:avLst/>
          </a:prstGeom>
          <a:solidFill>
            <a:srgbClr val="1D3557"/>
          </a:solidFill>
          <a:ln w="12700">
            <a:solidFill>
              <a:srgbClr val="1D3557"/>
            </a:solidFill>
            <a:prstDash val="solid"/>
          </a:ln>
        </p:spPr>
        <p:txBody>
          <a:bodyPr/>
          <a:lstStyle/>
          <a:p>
            <a:endParaRPr lang="en-US"/>
          </a:p>
        </p:txBody>
      </p:sp>
      <p:sp>
        <p:nvSpPr>
          <p:cNvPr id="32" name="Text 30"/>
          <p:cNvSpPr/>
          <p:nvPr/>
        </p:nvSpPr>
        <p:spPr>
          <a:xfrm>
            <a:off x="457200" y="4434840"/>
            <a:ext cx="8229600" cy="502920"/>
          </a:xfrm>
          <a:prstGeom prst="rect">
            <a:avLst/>
          </a:prstGeom>
          <a:noFill/>
          <a:ln/>
        </p:spPr>
        <p:txBody>
          <a:bodyPr wrap="square" lIns="0" tIns="0" rIns="0" bIns="0" rtlCol="0" anchor="ctr"/>
          <a:lstStyle/>
          <a:p>
            <a:pPr marL="0" indent="0" algn="ctr">
              <a:buNone/>
            </a:pPr>
            <a:r>
              <a:rPr lang="en-US" sz="1100" b="1" dirty="0">
                <a:solidFill>
                  <a:srgbClr val="FFFFFF"/>
                </a:solidFill>
              </a:rPr>
              <a:t>INSIGHT:  Consistent refinement rather than radical redesign — suggests a structured development lifecycle.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94360"/>
          </a:xfrm>
          <a:prstGeom prst="rect">
            <a:avLst/>
          </a:prstGeom>
          <a:noFill/>
          <a:ln/>
        </p:spPr>
        <p:txBody>
          <a:bodyPr wrap="square" lIns="0" tIns="0" rIns="0" bIns="0" rtlCol="0" anchor="ctr"/>
          <a:lstStyle/>
          <a:p>
            <a:pPr marL="0" indent="0">
              <a:buNone/>
            </a:pPr>
            <a:r>
              <a:rPr lang="en-US" sz="2800" b="1" dirty="0">
                <a:solidFill>
                  <a:srgbClr val="FFFFFF"/>
                </a:solidFill>
              </a:rPr>
              <a:t>Lampion &amp; CHAVECLOAK</a:t>
            </a:r>
            <a:endParaRPr lang="en-US" sz="2800" dirty="0"/>
          </a:p>
        </p:txBody>
      </p:sp>
      <p:sp>
        <p:nvSpPr>
          <p:cNvPr id="4" name="Text 2"/>
          <p:cNvSpPr/>
          <p:nvPr/>
        </p:nvSpPr>
        <p:spPr>
          <a:xfrm>
            <a:off x="457200" y="777240"/>
            <a:ext cx="8229600" cy="274320"/>
          </a:xfrm>
          <a:prstGeom prst="rect">
            <a:avLst/>
          </a:prstGeom>
          <a:noFill/>
          <a:ln/>
        </p:spPr>
        <p:txBody>
          <a:bodyPr wrap="square" lIns="0" tIns="0" rIns="0" bIns="0" rtlCol="0" anchor="ctr"/>
          <a:lstStyle/>
          <a:p>
            <a:pPr marL="0" indent="0">
              <a:buNone/>
            </a:pPr>
            <a:r>
              <a:rPr lang="en-US" sz="1300" i="1" dirty="0">
                <a:solidFill>
                  <a:srgbClr val="A8DADC"/>
                </a:solidFill>
              </a:rPr>
              <a:t>Emerging &amp; Refined Banking Campaigns</a:t>
            </a:r>
            <a:endParaRPr lang="en-US" sz="1300" dirty="0"/>
          </a:p>
        </p:txBody>
      </p:sp>
      <p:sp>
        <p:nvSpPr>
          <p:cNvPr id="5" name="Shape 3"/>
          <p:cNvSpPr/>
          <p:nvPr/>
        </p:nvSpPr>
        <p:spPr>
          <a:xfrm>
            <a:off x="457200" y="1188720"/>
            <a:ext cx="3931920" cy="2834640"/>
          </a:xfrm>
          <a:prstGeom prst="rect">
            <a:avLst/>
          </a:prstGeom>
          <a:solidFill>
            <a:srgbClr val="1D3557"/>
          </a:solidFill>
          <a:ln w="12700">
            <a:solidFill>
              <a:srgbClr val="457B9D"/>
            </a:solidFill>
            <a:prstDash val="solid"/>
          </a:ln>
        </p:spPr>
        <p:txBody>
          <a:bodyPr/>
          <a:lstStyle/>
          <a:p>
            <a:endParaRPr lang="en-US"/>
          </a:p>
        </p:txBody>
      </p:sp>
      <p:sp>
        <p:nvSpPr>
          <p:cNvPr id="6" name="Shape 4"/>
          <p:cNvSpPr/>
          <p:nvPr/>
        </p:nvSpPr>
        <p:spPr>
          <a:xfrm>
            <a:off x="457200" y="1188720"/>
            <a:ext cx="3931920" cy="457200"/>
          </a:xfrm>
          <a:prstGeom prst="rect">
            <a:avLst/>
          </a:prstGeom>
          <a:solidFill>
            <a:srgbClr val="457B9D"/>
          </a:solidFill>
          <a:ln w="12700">
            <a:solidFill>
              <a:srgbClr val="457B9D"/>
            </a:solidFill>
            <a:prstDash val="solid"/>
          </a:ln>
        </p:spPr>
        <p:txBody>
          <a:bodyPr/>
          <a:lstStyle/>
          <a:p>
            <a:endParaRPr lang="en-US"/>
          </a:p>
        </p:txBody>
      </p:sp>
      <p:sp>
        <p:nvSpPr>
          <p:cNvPr id="7" name="Text 5"/>
          <p:cNvSpPr/>
          <p:nvPr/>
        </p:nvSpPr>
        <p:spPr>
          <a:xfrm>
            <a:off x="548640" y="1188720"/>
            <a:ext cx="3749040" cy="457200"/>
          </a:xfrm>
          <a:prstGeom prst="rect">
            <a:avLst/>
          </a:prstGeom>
          <a:noFill/>
          <a:ln/>
        </p:spPr>
        <p:txBody>
          <a:bodyPr wrap="square" lIns="0" tIns="0" rIns="0" bIns="0" rtlCol="0" anchor="ctr"/>
          <a:lstStyle/>
          <a:p>
            <a:pPr marL="0" indent="0">
              <a:buNone/>
            </a:pPr>
            <a:r>
              <a:rPr lang="en-US" sz="1400" b="1" dirty="0">
                <a:solidFill>
                  <a:srgbClr val="FFFFFF"/>
                </a:solidFill>
              </a:rPr>
              <a:t>LAMPION</a:t>
            </a:r>
            <a:endParaRPr lang="en-US" sz="1400" dirty="0"/>
          </a:p>
        </p:txBody>
      </p:sp>
      <p:sp>
        <p:nvSpPr>
          <p:cNvPr id="8" name="Text 6"/>
          <p:cNvSpPr/>
          <p:nvPr/>
        </p:nvSpPr>
        <p:spPr>
          <a:xfrm>
            <a:off x="594360" y="173736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Targeted financial institutions</a:t>
            </a:r>
            <a:endParaRPr lang="en-US" sz="1200" dirty="0"/>
          </a:p>
        </p:txBody>
      </p:sp>
      <p:sp>
        <p:nvSpPr>
          <p:cNvPr id="9" name="Text 7"/>
          <p:cNvSpPr/>
          <p:nvPr/>
        </p:nvSpPr>
        <p:spPr>
          <a:xfrm>
            <a:off x="594360" y="224028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Multi-stage infection chain</a:t>
            </a:r>
            <a:endParaRPr lang="en-US" sz="1200" dirty="0"/>
          </a:p>
        </p:txBody>
      </p:sp>
      <p:sp>
        <p:nvSpPr>
          <p:cNvPr id="10" name="Text 8"/>
          <p:cNvSpPr/>
          <p:nvPr/>
        </p:nvSpPr>
        <p:spPr>
          <a:xfrm>
            <a:off x="594360" y="274320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Scripted payload execution</a:t>
            </a:r>
            <a:endParaRPr lang="en-US" sz="1200" dirty="0"/>
          </a:p>
        </p:txBody>
      </p:sp>
      <p:sp>
        <p:nvSpPr>
          <p:cNvPr id="11" name="Shape 9"/>
          <p:cNvSpPr/>
          <p:nvPr/>
        </p:nvSpPr>
        <p:spPr>
          <a:xfrm>
            <a:off x="4754880" y="1188720"/>
            <a:ext cx="3931920" cy="2834640"/>
          </a:xfrm>
          <a:prstGeom prst="rect">
            <a:avLst/>
          </a:prstGeom>
          <a:solidFill>
            <a:srgbClr val="1D3557"/>
          </a:solidFill>
          <a:ln w="12700">
            <a:solidFill>
              <a:srgbClr val="E63946"/>
            </a:solidFill>
            <a:prstDash val="solid"/>
          </a:ln>
        </p:spPr>
        <p:txBody>
          <a:bodyPr/>
          <a:lstStyle/>
          <a:p>
            <a:endParaRPr lang="en-US"/>
          </a:p>
        </p:txBody>
      </p:sp>
      <p:sp>
        <p:nvSpPr>
          <p:cNvPr id="12" name="Shape 10"/>
          <p:cNvSpPr/>
          <p:nvPr/>
        </p:nvSpPr>
        <p:spPr>
          <a:xfrm>
            <a:off x="4754880" y="1188720"/>
            <a:ext cx="3931920" cy="457200"/>
          </a:xfrm>
          <a:prstGeom prst="rect">
            <a:avLst/>
          </a:prstGeom>
          <a:solidFill>
            <a:srgbClr val="E63946"/>
          </a:solidFill>
          <a:ln w="12700">
            <a:solidFill>
              <a:srgbClr val="E63946"/>
            </a:solidFill>
            <a:prstDash val="solid"/>
          </a:ln>
        </p:spPr>
        <p:txBody>
          <a:bodyPr/>
          <a:lstStyle/>
          <a:p>
            <a:endParaRPr lang="en-US"/>
          </a:p>
        </p:txBody>
      </p:sp>
      <p:sp>
        <p:nvSpPr>
          <p:cNvPr id="13" name="Text 11"/>
          <p:cNvSpPr/>
          <p:nvPr/>
        </p:nvSpPr>
        <p:spPr>
          <a:xfrm>
            <a:off x="4846320" y="1188720"/>
            <a:ext cx="3749040" cy="457200"/>
          </a:xfrm>
          <a:prstGeom prst="rect">
            <a:avLst/>
          </a:prstGeom>
          <a:noFill/>
          <a:ln/>
        </p:spPr>
        <p:txBody>
          <a:bodyPr wrap="square" lIns="0" tIns="0" rIns="0" bIns="0" rtlCol="0" anchor="ctr"/>
          <a:lstStyle/>
          <a:p>
            <a:pPr marL="0" indent="0">
              <a:buNone/>
            </a:pPr>
            <a:r>
              <a:rPr lang="en-US" sz="1400" b="1" dirty="0">
                <a:solidFill>
                  <a:srgbClr val="FFFFFF"/>
                </a:solidFill>
              </a:rPr>
              <a:t>CHAVECLOAK  (2024)</a:t>
            </a:r>
            <a:endParaRPr lang="en-US" sz="1400" dirty="0"/>
          </a:p>
        </p:txBody>
      </p:sp>
      <p:sp>
        <p:nvSpPr>
          <p:cNvPr id="14" name="Text 12"/>
          <p:cNvSpPr/>
          <p:nvPr/>
        </p:nvSpPr>
        <p:spPr>
          <a:xfrm>
            <a:off x="4846320" y="173736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PDF → ZIP → DLL sideloading</a:t>
            </a:r>
            <a:endParaRPr lang="en-US" sz="1200" dirty="0"/>
          </a:p>
        </p:txBody>
      </p:sp>
      <p:sp>
        <p:nvSpPr>
          <p:cNvPr id="15" name="Text 13"/>
          <p:cNvSpPr/>
          <p:nvPr/>
        </p:nvSpPr>
        <p:spPr>
          <a:xfrm>
            <a:off x="4846320" y="224028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Clean execution chain</a:t>
            </a:r>
            <a:endParaRPr lang="en-US" sz="1200" dirty="0"/>
          </a:p>
        </p:txBody>
      </p:sp>
      <p:sp>
        <p:nvSpPr>
          <p:cNvPr id="16" name="Text 14"/>
          <p:cNvSpPr/>
          <p:nvPr/>
        </p:nvSpPr>
        <p:spPr>
          <a:xfrm>
            <a:off x="4846320" y="2743200"/>
            <a:ext cx="3657600" cy="457200"/>
          </a:xfrm>
          <a:prstGeom prst="rect">
            <a:avLst/>
          </a:prstGeom>
          <a:noFill/>
          <a:ln/>
        </p:spPr>
        <p:txBody>
          <a:bodyPr wrap="square" lIns="0" tIns="0" rIns="0" bIns="0" rtlCol="0" anchor="ctr"/>
          <a:lstStyle/>
          <a:p>
            <a:pPr marL="0" indent="0">
              <a:buNone/>
            </a:pPr>
            <a:r>
              <a:rPr lang="en-US" sz="1200" dirty="0">
                <a:solidFill>
                  <a:srgbClr val="F1F1F1"/>
                </a:solidFill>
              </a:rPr>
              <a:t>▸  Trusted binary abuse</a:t>
            </a:r>
            <a:endParaRPr lang="en-US" sz="1200" dirty="0"/>
          </a:p>
        </p:txBody>
      </p:sp>
      <p:sp>
        <p:nvSpPr>
          <p:cNvPr id="17" name="Text 15"/>
          <p:cNvSpPr/>
          <p:nvPr/>
        </p:nvSpPr>
        <p:spPr>
          <a:xfrm>
            <a:off x="457200" y="4160520"/>
            <a:ext cx="2743200" cy="274320"/>
          </a:xfrm>
          <a:prstGeom prst="rect">
            <a:avLst/>
          </a:prstGeom>
          <a:noFill/>
          <a:ln/>
        </p:spPr>
        <p:txBody>
          <a:bodyPr wrap="square" lIns="0" tIns="0" rIns="0" bIns="0" rtlCol="0" anchor="ctr"/>
          <a:lstStyle/>
          <a:p>
            <a:pPr marL="0" indent="0">
              <a:buNone/>
            </a:pPr>
            <a:r>
              <a:rPr lang="en-US" sz="1000" b="1" kern="0" spc="200" dirty="0">
                <a:solidFill>
                  <a:srgbClr val="A8DADC"/>
                </a:solidFill>
              </a:rPr>
              <a:t>ARTIFACT FOCUS</a:t>
            </a:r>
            <a:endParaRPr lang="en-US" sz="1000" dirty="0"/>
          </a:p>
        </p:txBody>
      </p:sp>
      <p:sp>
        <p:nvSpPr>
          <p:cNvPr id="18" name="Text 16"/>
          <p:cNvSpPr/>
          <p:nvPr/>
        </p:nvSpPr>
        <p:spPr>
          <a:xfrm>
            <a:off x="457200" y="4462272"/>
            <a:ext cx="8229600" cy="365760"/>
          </a:xfrm>
          <a:prstGeom prst="rect">
            <a:avLst/>
          </a:prstGeom>
          <a:noFill/>
          <a:ln/>
        </p:spPr>
        <p:txBody>
          <a:bodyPr wrap="square" lIns="0" tIns="0" rIns="0" bIns="0" rtlCol="0" anchor="ctr"/>
          <a:lstStyle/>
          <a:p>
            <a:pPr marL="0" indent="0">
              <a:buNone/>
            </a:pPr>
            <a:r>
              <a:rPr lang="en-US" sz="1200" dirty="0">
                <a:solidFill>
                  <a:srgbClr val="8899A6"/>
                </a:solidFill>
              </a:rPr>
              <a:t>DLL sideload file pairs  ·  Parent-child process anomalies  ·  File path staging consistency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5486400" cy="594360"/>
          </a:xfrm>
          <a:prstGeom prst="rect">
            <a:avLst/>
          </a:prstGeom>
          <a:noFill/>
          <a:ln/>
        </p:spPr>
        <p:txBody>
          <a:bodyPr wrap="square" lIns="0" tIns="0" rIns="0" bIns="0" rtlCol="0" anchor="ctr"/>
          <a:lstStyle/>
          <a:p>
            <a:pPr marL="0" indent="0">
              <a:buNone/>
            </a:pPr>
            <a:r>
              <a:rPr lang="en-US" sz="2800" b="1" dirty="0">
                <a:solidFill>
                  <a:srgbClr val="0D1B2A"/>
                </a:solidFill>
              </a:rPr>
              <a:t>CostaRicto</a:t>
            </a:r>
            <a:endParaRPr lang="en-US" sz="2800" dirty="0"/>
          </a:p>
        </p:txBody>
      </p:sp>
      <p:sp>
        <p:nvSpPr>
          <p:cNvPr id="4" name="Shape 2"/>
          <p:cNvSpPr/>
          <p:nvPr/>
        </p:nvSpPr>
        <p:spPr>
          <a:xfrm>
            <a:off x="6583680" y="228600"/>
            <a:ext cx="2194560" cy="548640"/>
          </a:xfrm>
          <a:prstGeom prst="rect">
            <a:avLst/>
          </a:prstGeom>
          <a:solidFill>
            <a:srgbClr val="E63946"/>
          </a:solidFill>
          <a:ln w="12700">
            <a:solidFill>
              <a:srgbClr val="E63946"/>
            </a:solidFill>
            <a:prstDash val="solid"/>
          </a:ln>
        </p:spPr>
        <p:txBody>
          <a:bodyPr/>
          <a:lstStyle/>
          <a:p>
            <a:endParaRPr lang="en-US"/>
          </a:p>
        </p:txBody>
      </p:sp>
      <p:sp>
        <p:nvSpPr>
          <p:cNvPr id="5" name="Text 3"/>
          <p:cNvSpPr/>
          <p:nvPr/>
        </p:nvSpPr>
        <p:spPr>
          <a:xfrm>
            <a:off x="6583680" y="228600"/>
            <a:ext cx="2194560" cy="548640"/>
          </a:xfrm>
          <a:prstGeom prst="rect">
            <a:avLst/>
          </a:prstGeom>
          <a:noFill/>
          <a:ln/>
        </p:spPr>
        <p:txBody>
          <a:bodyPr wrap="square" lIns="0" tIns="0" rIns="0" bIns="0" rtlCol="0" anchor="ctr"/>
          <a:lstStyle/>
          <a:p>
            <a:pPr marL="0" indent="0" algn="ctr">
              <a:buNone/>
            </a:pPr>
            <a:r>
              <a:rPr lang="en-US" sz="1300" b="1" dirty="0">
                <a:solidFill>
                  <a:srgbClr val="FFFFFF"/>
                </a:solidFill>
              </a:rPr>
              <a:t>Hack-for-Hire</a:t>
            </a:r>
            <a:endParaRPr lang="en-US" sz="1300" dirty="0"/>
          </a:p>
        </p:txBody>
      </p:sp>
      <p:sp>
        <p:nvSpPr>
          <p:cNvPr id="6" name="Text 4"/>
          <p:cNvSpPr/>
          <p:nvPr/>
        </p:nvSpPr>
        <p:spPr>
          <a:xfrm>
            <a:off x="457200" y="822960"/>
            <a:ext cx="8229600" cy="365760"/>
          </a:xfrm>
          <a:prstGeom prst="rect">
            <a:avLst/>
          </a:prstGeom>
          <a:noFill/>
          <a:ln/>
        </p:spPr>
        <p:txBody>
          <a:bodyPr wrap="square" lIns="0" tIns="0" rIns="0" bIns="0" rtlCol="0" anchor="ctr"/>
          <a:lstStyle/>
          <a:p>
            <a:pPr marL="0" indent="0">
              <a:buNone/>
            </a:pPr>
            <a:r>
              <a:rPr lang="en-US" sz="1300" i="1" dirty="0">
                <a:solidFill>
                  <a:srgbClr val="1D3557"/>
                </a:solidFill>
              </a:rPr>
              <a:t>Mercenary cyber-espionage campaign with custom tooling and multi-hop infrastructure</a:t>
            </a:r>
            <a:endParaRPr lang="en-US" sz="1300" dirty="0"/>
          </a:p>
        </p:txBody>
      </p:sp>
      <p:sp>
        <p:nvSpPr>
          <p:cNvPr id="7" name="Shape 5"/>
          <p:cNvSpPr/>
          <p:nvPr/>
        </p:nvSpPr>
        <p:spPr>
          <a:xfrm>
            <a:off x="457200" y="137160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8" name="Text 6"/>
          <p:cNvSpPr/>
          <p:nvPr/>
        </p:nvSpPr>
        <p:spPr>
          <a:xfrm>
            <a:off x="594360" y="146304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Custom Malware</a:t>
            </a:r>
            <a:endParaRPr lang="en-US" sz="1300" dirty="0"/>
          </a:p>
        </p:txBody>
      </p:sp>
      <p:sp>
        <p:nvSpPr>
          <p:cNvPr id="9" name="Text 7"/>
          <p:cNvSpPr/>
          <p:nvPr/>
        </p:nvSpPr>
        <p:spPr>
          <a:xfrm>
            <a:off x="594360" y="1874520"/>
            <a:ext cx="3657600" cy="914400"/>
          </a:xfrm>
          <a:prstGeom prst="rect">
            <a:avLst/>
          </a:prstGeom>
          <a:noFill/>
          <a:ln/>
        </p:spPr>
        <p:txBody>
          <a:bodyPr wrap="square" rtlCol="0" anchor="ctr"/>
          <a:lstStyle/>
          <a:p>
            <a:pPr marL="0" indent="0">
              <a:buNone/>
            </a:pPr>
            <a:r>
              <a:rPr lang="en-US" sz="1200" dirty="0">
                <a:solidFill>
                  <a:srgbClr val="0D1B2A"/>
                </a:solidFill>
              </a:rPr>
              <a:t>Bespoke tooling not shared with crimeware ecosystem</a:t>
            </a:r>
            <a:endParaRPr lang="en-US" sz="1200" dirty="0"/>
          </a:p>
        </p:txBody>
      </p:sp>
      <p:sp>
        <p:nvSpPr>
          <p:cNvPr id="10" name="Shape 8"/>
          <p:cNvSpPr/>
          <p:nvPr/>
        </p:nvSpPr>
        <p:spPr>
          <a:xfrm>
            <a:off x="4709160" y="137160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11" name="Text 9"/>
          <p:cNvSpPr/>
          <p:nvPr/>
        </p:nvSpPr>
        <p:spPr>
          <a:xfrm>
            <a:off x="4846320" y="146304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SSH Tunnel &amp; Proxy</a:t>
            </a:r>
            <a:endParaRPr lang="en-US" sz="1300" dirty="0"/>
          </a:p>
        </p:txBody>
      </p:sp>
      <p:sp>
        <p:nvSpPr>
          <p:cNvPr id="12" name="Text 10"/>
          <p:cNvSpPr/>
          <p:nvPr/>
        </p:nvSpPr>
        <p:spPr>
          <a:xfrm>
            <a:off x="4846320" y="1874520"/>
            <a:ext cx="3657600" cy="914400"/>
          </a:xfrm>
          <a:prstGeom prst="rect">
            <a:avLst/>
          </a:prstGeom>
          <a:noFill/>
          <a:ln/>
        </p:spPr>
        <p:txBody>
          <a:bodyPr wrap="square" rtlCol="0" anchor="ctr"/>
          <a:lstStyle/>
          <a:p>
            <a:pPr marL="0" indent="0">
              <a:buNone/>
            </a:pPr>
            <a:r>
              <a:rPr lang="en-US" sz="1200" dirty="0">
                <a:solidFill>
                  <a:srgbClr val="0D1B2A"/>
                </a:solidFill>
              </a:rPr>
              <a:t>Multi-hop C2 routing obscures operator origin</a:t>
            </a:r>
            <a:endParaRPr lang="en-US" sz="1200" dirty="0"/>
          </a:p>
        </p:txBody>
      </p:sp>
      <p:sp>
        <p:nvSpPr>
          <p:cNvPr id="13" name="Shape 11"/>
          <p:cNvSpPr/>
          <p:nvPr/>
        </p:nvSpPr>
        <p:spPr>
          <a:xfrm>
            <a:off x="457200" y="306324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14" name="Text 12"/>
          <p:cNvSpPr/>
          <p:nvPr/>
        </p:nvSpPr>
        <p:spPr>
          <a:xfrm>
            <a:off x="594360" y="315468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Long Dwell Time</a:t>
            </a:r>
            <a:endParaRPr lang="en-US" sz="1300" dirty="0"/>
          </a:p>
        </p:txBody>
      </p:sp>
      <p:sp>
        <p:nvSpPr>
          <p:cNvPr id="15" name="Text 13"/>
          <p:cNvSpPr/>
          <p:nvPr/>
        </p:nvSpPr>
        <p:spPr>
          <a:xfrm>
            <a:off x="594360" y="3566160"/>
            <a:ext cx="3657600" cy="914400"/>
          </a:xfrm>
          <a:prstGeom prst="rect">
            <a:avLst/>
          </a:prstGeom>
          <a:noFill/>
          <a:ln/>
        </p:spPr>
        <p:txBody>
          <a:bodyPr wrap="square" rtlCol="0" anchor="ctr"/>
          <a:lstStyle/>
          <a:p>
            <a:pPr marL="0" indent="0">
              <a:buNone/>
            </a:pPr>
            <a:r>
              <a:rPr lang="en-US" sz="1200" dirty="0">
                <a:solidFill>
                  <a:srgbClr val="0D1B2A"/>
                </a:solidFill>
              </a:rPr>
              <a:t>Prolonged access prioritized over rapid monetization</a:t>
            </a:r>
            <a:endParaRPr lang="en-US" sz="1200" dirty="0"/>
          </a:p>
        </p:txBody>
      </p:sp>
      <p:sp>
        <p:nvSpPr>
          <p:cNvPr id="16" name="Shape 14"/>
          <p:cNvSpPr/>
          <p:nvPr/>
        </p:nvSpPr>
        <p:spPr>
          <a:xfrm>
            <a:off x="4709160" y="3063240"/>
            <a:ext cx="3931920" cy="1508760"/>
          </a:xfrm>
          <a:prstGeom prst="rect">
            <a:avLst/>
          </a:prstGeom>
          <a:solidFill>
            <a:srgbClr val="FFFFFF"/>
          </a:solidFill>
          <a:ln w="12700">
            <a:solidFill>
              <a:srgbClr val="457B9D"/>
            </a:solidFill>
            <a:prstDash val="solid"/>
          </a:ln>
          <a:effectLst>
            <a:outerShdw blurRad="63500" dist="25400" dir="8100000" algn="bl" rotWithShape="0">
              <a:srgbClr val="000000">
                <a:alpha val="10000"/>
              </a:srgbClr>
            </a:outerShdw>
          </a:effectLst>
        </p:spPr>
        <p:txBody>
          <a:bodyPr/>
          <a:lstStyle/>
          <a:p>
            <a:endParaRPr lang="en-US"/>
          </a:p>
        </p:txBody>
      </p:sp>
      <p:sp>
        <p:nvSpPr>
          <p:cNvPr id="17" name="Text 15"/>
          <p:cNvSpPr/>
          <p:nvPr/>
        </p:nvSpPr>
        <p:spPr>
          <a:xfrm>
            <a:off x="4846320" y="3154680"/>
            <a:ext cx="3657600" cy="411480"/>
          </a:xfrm>
          <a:prstGeom prst="rect">
            <a:avLst/>
          </a:prstGeom>
          <a:noFill/>
          <a:ln/>
        </p:spPr>
        <p:txBody>
          <a:bodyPr wrap="square" lIns="0" tIns="0" rIns="0" bIns="0" rtlCol="0" anchor="ctr"/>
          <a:lstStyle/>
          <a:p>
            <a:pPr marL="0" indent="0">
              <a:buNone/>
            </a:pPr>
            <a:r>
              <a:rPr lang="en-US" sz="1300" b="1" dirty="0">
                <a:solidFill>
                  <a:srgbClr val="1D3557"/>
                </a:solidFill>
              </a:rPr>
              <a:t>🔇  Stealth Persistence</a:t>
            </a:r>
            <a:endParaRPr lang="en-US" sz="1300" dirty="0"/>
          </a:p>
        </p:txBody>
      </p:sp>
      <p:sp>
        <p:nvSpPr>
          <p:cNvPr id="18" name="Text 16"/>
          <p:cNvSpPr/>
          <p:nvPr/>
        </p:nvSpPr>
        <p:spPr>
          <a:xfrm>
            <a:off x="4846320" y="3566160"/>
            <a:ext cx="3657600" cy="914400"/>
          </a:xfrm>
          <a:prstGeom prst="rect">
            <a:avLst/>
          </a:prstGeom>
          <a:noFill/>
          <a:ln/>
        </p:spPr>
        <p:txBody>
          <a:bodyPr wrap="square" rtlCol="0" anchor="ctr"/>
          <a:lstStyle/>
          <a:p>
            <a:pPr marL="0" indent="0">
              <a:buNone/>
            </a:pPr>
            <a:r>
              <a:rPr lang="en-US" sz="1200" dirty="0">
                <a:solidFill>
                  <a:srgbClr val="0D1B2A"/>
                </a:solidFill>
              </a:rPr>
              <a:t>Emphasis on staying hidden vs. fast-action banking malware</a:t>
            </a:r>
            <a:endParaRPr lang="en-US" sz="1200" dirty="0"/>
          </a:p>
        </p:txBody>
      </p:sp>
      <p:sp>
        <p:nvSpPr>
          <p:cNvPr id="19" name="Shape 17"/>
          <p:cNvSpPr/>
          <p:nvPr/>
        </p:nvSpPr>
        <p:spPr>
          <a:xfrm>
            <a:off x="457200" y="4663440"/>
            <a:ext cx="8229600" cy="320040"/>
          </a:xfrm>
          <a:prstGeom prst="rect">
            <a:avLst/>
          </a:prstGeom>
          <a:solidFill>
            <a:srgbClr val="1D3557"/>
          </a:solidFill>
          <a:ln w="12700">
            <a:solidFill>
              <a:srgbClr val="1D3557"/>
            </a:solidFill>
            <a:prstDash val="solid"/>
          </a:ln>
        </p:spPr>
        <p:txBody>
          <a:bodyPr/>
          <a:lstStyle/>
          <a:p>
            <a:endParaRPr lang="en-US"/>
          </a:p>
        </p:txBody>
      </p:sp>
      <p:sp>
        <p:nvSpPr>
          <p:cNvPr id="20" name="Text 18"/>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000" b="1" dirty="0">
                <a:solidFill>
                  <a:srgbClr val="FFFFFF"/>
                </a:solidFill>
              </a:rPr>
              <a:t>KEY INSIGHT:  CostaRicto prioritizes stealth persistence over rapid monetization — unlike banking malware groups.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37160"/>
            <a:ext cx="8229600" cy="548640"/>
          </a:xfrm>
          <a:prstGeom prst="rect">
            <a:avLst/>
          </a:prstGeom>
          <a:noFill/>
          <a:ln/>
        </p:spPr>
        <p:txBody>
          <a:bodyPr wrap="square" lIns="0" tIns="0" rIns="0" bIns="0" rtlCol="0" anchor="ctr"/>
          <a:lstStyle/>
          <a:p>
            <a:pPr marL="0" indent="0">
              <a:buNone/>
            </a:pPr>
            <a:r>
              <a:rPr lang="en-US" sz="2600" b="1" dirty="0">
                <a:solidFill>
                  <a:srgbClr val="FFFFFF"/>
                </a:solidFill>
              </a:rPr>
              <a:t>MITRE ATT&amp;CK Mapping</a:t>
            </a:r>
            <a:endParaRPr lang="en-US" sz="2600" dirty="0"/>
          </a:p>
        </p:txBody>
      </p:sp>
      <p:sp>
        <p:nvSpPr>
          <p:cNvPr id="4" name="Text 2"/>
          <p:cNvSpPr/>
          <p:nvPr/>
        </p:nvSpPr>
        <p:spPr>
          <a:xfrm>
            <a:off x="457200" y="685800"/>
            <a:ext cx="8229600" cy="274320"/>
          </a:xfrm>
          <a:prstGeom prst="rect">
            <a:avLst/>
          </a:prstGeom>
          <a:noFill/>
          <a:ln/>
        </p:spPr>
        <p:txBody>
          <a:bodyPr wrap="square" lIns="0" tIns="0" rIns="0" bIns="0" rtlCol="0" anchor="ctr"/>
          <a:lstStyle/>
          <a:p>
            <a:pPr marL="0" indent="0">
              <a:buNone/>
            </a:pPr>
            <a:r>
              <a:rPr lang="en-US" sz="1200" i="1" dirty="0">
                <a:solidFill>
                  <a:srgbClr val="A8DADC"/>
                </a:solidFill>
              </a:rPr>
              <a:t>Common TTP Alignment Across LATAM Families</a:t>
            </a:r>
            <a:endParaRPr lang="en-US" sz="1200" dirty="0"/>
          </a:p>
        </p:txBody>
      </p:sp>
      <p:sp>
        <p:nvSpPr>
          <p:cNvPr id="5" name="Shape 3"/>
          <p:cNvSpPr/>
          <p:nvPr/>
        </p:nvSpPr>
        <p:spPr>
          <a:xfrm>
            <a:off x="457200" y="1051560"/>
            <a:ext cx="2286000" cy="502920"/>
          </a:xfrm>
          <a:prstGeom prst="rect">
            <a:avLst/>
          </a:prstGeom>
          <a:solidFill>
            <a:srgbClr val="E63946"/>
          </a:solidFill>
          <a:ln w="12700">
            <a:solidFill>
              <a:srgbClr val="E63946"/>
            </a:solidFill>
            <a:prstDash val="solid"/>
          </a:ln>
        </p:spPr>
        <p:txBody>
          <a:bodyPr/>
          <a:lstStyle/>
          <a:p>
            <a:endParaRPr lang="en-US"/>
          </a:p>
        </p:txBody>
      </p:sp>
      <p:sp>
        <p:nvSpPr>
          <p:cNvPr id="6" name="Text 4"/>
          <p:cNvSpPr/>
          <p:nvPr/>
        </p:nvSpPr>
        <p:spPr>
          <a:xfrm>
            <a:off x="457200" y="1051560"/>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Initial Access</a:t>
            </a:r>
            <a:endParaRPr lang="en-US" sz="1200" dirty="0"/>
          </a:p>
        </p:txBody>
      </p:sp>
      <p:sp>
        <p:nvSpPr>
          <p:cNvPr id="7" name="Shape 5"/>
          <p:cNvSpPr/>
          <p:nvPr/>
        </p:nvSpPr>
        <p:spPr>
          <a:xfrm>
            <a:off x="2834640" y="1051560"/>
            <a:ext cx="1371600" cy="502920"/>
          </a:xfrm>
          <a:prstGeom prst="rect">
            <a:avLst/>
          </a:prstGeom>
          <a:solidFill>
            <a:srgbClr val="1D3557"/>
          </a:solidFill>
          <a:ln w="6350">
            <a:solidFill>
              <a:srgbClr val="457B9D"/>
            </a:solidFill>
            <a:prstDash val="solid"/>
          </a:ln>
        </p:spPr>
        <p:txBody>
          <a:bodyPr/>
          <a:lstStyle/>
          <a:p>
            <a:endParaRPr lang="en-US"/>
          </a:p>
        </p:txBody>
      </p:sp>
      <p:sp>
        <p:nvSpPr>
          <p:cNvPr id="8" name="Text 6"/>
          <p:cNvSpPr/>
          <p:nvPr/>
        </p:nvSpPr>
        <p:spPr>
          <a:xfrm>
            <a:off x="2834640" y="1051560"/>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T1566</a:t>
            </a:r>
            <a:endParaRPr lang="en-US" sz="1100" dirty="0"/>
          </a:p>
        </p:txBody>
      </p:sp>
      <p:sp>
        <p:nvSpPr>
          <p:cNvPr id="9" name="Text 7"/>
          <p:cNvSpPr/>
          <p:nvPr/>
        </p:nvSpPr>
        <p:spPr>
          <a:xfrm>
            <a:off x="4343400" y="1051560"/>
            <a:ext cx="4572000" cy="502920"/>
          </a:xfrm>
          <a:prstGeom prst="rect">
            <a:avLst/>
          </a:prstGeom>
          <a:noFill/>
          <a:ln/>
        </p:spPr>
        <p:txBody>
          <a:bodyPr wrap="square" lIns="0" tIns="0" rIns="0" bIns="0" rtlCol="0" anchor="ctr"/>
          <a:lstStyle/>
          <a:p>
            <a:pPr marL="0" indent="0">
              <a:buNone/>
            </a:pPr>
            <a:r>
              <a:rPr lang="en-US" sz="1200" dirty="0">
                <a:solidFill>
                  <a:srgbClr val="FFFFFF"/>
                </a:solidFill>
              </a:rPr>
              <a:t>Phishing</a:t>
            </a:r>
            <a:endParaRPr lang="en-US" sz="1200" dirty="0"/>
          </a:p>
        </p:txBody>
      </p:sp>
      <p:sp>
        <p:nvSpPr>
          <p:cNvPr id="10" name="Shape 8"/>
          <p:cNvSpPr/>
          <p:nvPr/>
        </p:nvSpPr>
        <p:spPr>
          <a:xfrm>
            <a:off x="457200" y="1655064"/>
            <a:ext cx="2286000" cy="502920"/>
          </a:xfrm>
          <a:prstGeom prst="rect">
            <a:avLst/>
          </a:prstGeom>
          <a:solidFill>
            <a:srgbClr val="E85D04"/>
          </a:solidFill>
          <a:ln w="12700">
            <a:solidFill>
              <a:srgbClr val="E85D04"/>
            </a:solidFill>
            <a:prstDash val="solid"/>
          </a:ln>
        </p:spPr>
        <p:txBody>
          <a:bodyPr/>
          <a:lstStyle/>
          <a:p>
            <a:endParaRPr lang="en-US"/>
          </a:p>
        </p:txBody>
      </p:sp>
      <p:sp>
        <p:nvSpPr>
          <p:cNvPr id="11" name="Text 9"/>
          <p:cNvSpPr/>
          <p:nvPr/>
        </p:nvSpPr>
        <p:spPr>
          <a:xfrm>
            <a:off x="457200" y="1655064"/>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Execution</a:t>
            </a:r>
            <a:endParaRPr lang="en-US" sz="1200" dirty="0"/>
          </a:p>
        </p:txBody>
      </p:sp>
      <p:sp>
        <p:nvSpPr>
          <p:cNvPr id="12" name="Shape 10"/>
          <p:cNvSpPr/>
          <p:nvPr/>
        </p:nvSpPr>
        <p:spPr>
          <a:xfrm>
            <a:off x="2834640" y="1655064"/>
            <a:ext cx="1371600" cy="502920"/>
          </a:xfrm>
          <a:prstGeom prst="rect">
            <a:avLst/>
          </a:prstGeom>
          <a:solidFill>
            <a:srgbClr val="1D3557"/>
          </a:solidFill>
          <a:ln w="6350">
            <a:solidFill>
              <a:srgbClr val="457B9D"/>
            </a:solidFill>
            <a:prstDash val="solid"/>
          </a:ln>
        </p:spPr>
        <p:txBody>
          <a:bodyPr/>
          <a:lstStyle/>
          <a:p>
            <a:endParaRPr lang="en-US"/>
          </a:p>
        </p:txBody>
      </p:sp>
      <p:sp>
        <p:nvSpPr>
          <p:cNvPr id="13" name="Text 11"/>
          <p:cNvSpPr/>
          <p:nvPr/>
        </p:nvSpPr>
        <p:spPr>
          <a:xfrm>
            <a:off x="2834640" y="1655064"/>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T1059.001</a:t>
            </a:r>
            <a:endParaRPr lang="en-US" sz="1100" dirty="0"/>
          </a:p>
        </p:txBody>
      </p:sp>
      <p:sp>
        <p:nvSpPr>
          <p:cNvPr id="14" name="Text 12"/>
          <p:cNvSpPr/>
          <p:nvPr/>
        </p:nvSpPr>
        <p:spPr>
          <a:xfrm>
            <a:off x="4343400" y="1655064"/>
            <a:ext cx="4572000" cy="502920"/>
          </a:xfrm>
          <a:prstGeom prst="rect">
            <a:avLst/>
          </a:prstGeom>
          <a:noFill/>
          <a:ln/>
        </p:spPr>
        <p:txBody>
          <a:bodyPr wrap="square" lIns="0" tIns="0" rIns="0" bIns="0" rtlCol="0" anchor="ctr"/>
          <a:lstStyle/>
          <a:p>
            <a:pPr marL="0" indent="0">
              <a:buNone/>
            </a:pPr>
            <a:r>
              <a:rPr lang="en-US" sz="1200" dirty="0">
                <a:solidFill>
                  <a:srgbClr val="FFFFFF"/>
                </a:solidFill>
              </a:rPr>
              <a:t>PowerShell</a:t>
            </a:r>
            <a:endParaRPr lang="en-US" sz="1200" dirty="0"/>
          </a:p>
        </p:txBody>
      </p:sp>
      <p:sp>
        <p:nvSpPr>
          <p:cNvPr id="15" name="Shape 13"/>
          <p:cNvSpPr/>
          <p:nvPr/>
        </p:nvSpPr>
        <p:spPr>
          <a:xfrm>
            <a:off x="457200" y="2258568"/>
            <a:ext cx="2286000" cy="502920"/>
          </a:xfrm>
          <a:prstGeom prst="rect">
            <a:avLst/>
          </a:prstGeom>
          <a:solidFill>
            <a:srgbClr val="9C4A1A"/>
          </a:solidFill>
          <a:ln w="12700">
            <a:solidFill>
              <a:srgbClr val="9C4A1A"/>
            </a:solidFill>
            <a:prstDash val="solid"/>
          </a:ln>
        </p:spPr>
        <p:txBody>
          <a:bodyPr/>
          <a:lstStyle/>
          <a:p>
            <a:endParaRPr lang="en-US"/>
          </a:p>
        </p:txBody>
      </p:sp>
      <p:sp>
        <p:nvSpPr>
          <p:cNvPr id="16" name="Text 14"/>
          <p:cNvSpPr/>
          <p:nvPr/>
        </p:nvSpPr>
        <p:spPr>
          <a:xfrm>
            <a:off x="457200" y="2258568"/>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Persistence</a:t>
            </a:r>
            <a:endParaRPr lang="en-US" sz="1200" dirty="0"/>
          </a:p>
        </p:txBody>
      </p:sp>
      <p:sp>
        <p:nvSpPr>
          <p:cNvPr id="17" name="Shape 15"/>
          <p:cNvSpPr/>
          <p:nvPr/>
        </p:nvSpPr>
        <p:spPr>
          <a:xfrm>
            <a:off x="2834640" y="2258568"/>
            <a:ext cx="1371600" cy="502920"/>
          </a:xfrm>
          <a:prstGeom prst="rect">
            <a:avLst/>
          </a:prstGeom>
          <a:solidFill>
            <a:srgbClr val="1D3557"/>
          </a:solidFill>
          <a:ln w="6350">
            <a:solidFill>
              <a:srgbClr val="457B9D"/>
            </a:solidFill>
            <a:prstDash val="solid"/>
          </a:ln>
        </p:spPr>
        <p:txBody>
          <a:bodyPr/>
          <a:lstStyle/>
          <a:p>
            <a:endParaRPr lang="en-US"/>
          </a:p>
        </p:txBody>
      </p:sp>
      <p:sp>
        <p:nvSpPr>
          <p:cNvPr id="18" name="Text 16"/>
          <p:cNvSpPr/>
          <p:nvPr/>
        </p:nvSpPr>
        <p:spPr>
          <a:xfrm>
            <a:off x="2834640" y="2258568"/>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T1547</a:t>
            </a:r>
            <a:endParaRPr lang="en-US" sz="1100" dirty="0"/>
          </a:p>
        </p:txBody>
      </p:sp>
      <p:sp>
        <p:nvSpPr>
          <p:cNvPr id="19" name="Text 17"/>
          <p:cNvSpPr/>
          <p:nvPr/>
        </p:nvSpPr>
        <p:spPr>
          <a:xfrm>
            <a:off x="4343400" y="2258568"/>
            <a:ext cx="4572000" cy="502920"/>
          </a:xfrm>
          <a:prstGeom prst="rect">
            <a:avLst/>
          </a:prstGeom>
          <a:noFill/>
          <a:ln/>
        </p:spPr>
        <p:txBody>
          <a:bodyPr wrap="square" lIns="0" tIns="0" rIns="0" bIns="0" rtlCol="0" anchor="ctr"/>
          <a:lstStyle/>
          <a:p>
            <a:pPr marL="0" indent="0">
              <a:buNone/>
            </a:pPr>
            <a:r>
              <a:rPr lang="en-US" sz="1200" dirty="0">
                <a:solidFill>
                  <a:srgbClr val="FFFFFF"/>
                </a:solidFill>
              </a:rPr>
              <a:t>Registry Run Keys</a:t>
            </a:r>
            <a:endParaRPr lang="en-US" sz="1200" dirty="0"/>
          </a:p>
        </p:txBody>
      </p:sp>
      <p:sp>
        <p:nvSpPr>
          <p:cNvPr id="20" name="Shape 18"/>
          <p:cNvSpPr/>
          <p:nvPr/>
        </p:nvSpPr>
        <p:spPr>
          <a:xfrm>
            <a:off x="457200" y="2862072"/>
            <a:ext cx="2286000" cy="502920"/>
          </a:xfrm>
          <a:prstGeom prst="rect">
            <a:avLst/>
          </a:prstGeom>
          <a:solidFill>
            <a:srgbClr val="457B9D"/>
          </a:solidFill>
          <a:ln w="12700">
            <a:solidFill>
              <a:srgbClr val="457B9D"/>
            </a:solidFill>
            <a:prstDash val="solid"/>
          </a:ln>
        </p:spPr>
        <p:txBody>
          <a:bodyPr/>
          <a:lstStyle/>
          <a:p>
            <a:endParaRPr lang="en-US"/>
          </a:p>
        </p:txBody>
      </p:sp>
      <p:sp>
        <p:nvSpPr>
          <p:cNvPr id="21" name="Text 19"/>
          <p:cNvSpPr/>
          <p:nvPr/>
        </p:nvSpPr>
        <p:spPr>
          <a:xfrm>
            <a:off x="457200" y="2862072"/>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Defense Evasion</a:t>
            </a:r>
            <a:endParaRPr lang="en-US" sz="1200" dirty="0"/>
          </a:p>
        </p:txBody>
      </p:sp>
      <p:sp>
        <p:nvSpPr>
          <p:cNvPr id="22" name="Shape 20"/>
          <p:cNvSpPr/>
          <p:nvPr/>
        </p:nvSpPr>
        <p:spPr>
          <a:xfrm>
            <a:off x="2834640" y="2862072"/>
            <a:ext cx="1371600" cy="502920"/>
          </a:xfrm>
          <a:prstGeom prst="rect">
            <a:avLst/>
          </a:prstGeom>
          <a:solidFill>
            <a:srgbClr val="1D3557"/>
          </a:solidFill>
          <a:ln w="6350">
            <a:solidFill>
              <a:srgbClr val="457B9D"/>
            </a:solidFill>
            <a:prstDash val="solid"/>
          </a:ln>
        </p:spPr>
        <p:txBody>
          <a:bodyPr/>
          <a:lstStyle/>
          <a:p>
            <a:endParaRPr lang="en-US"/>
          </a:p>
        </p:txBody>
      </p:sp>
      <p:sp>
        <p:nvSpPr>
          <p:cNvPr id="23" name="Text 21"/>
          <p:cNvSpPr/>
          <p:nvPr/>
        </p:nvSpPr>
        <p:spPr>
          <a:xfrm>
            <a:off x="2834640" y="2862072"/>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T1027</a:t>
            </a:r>
            <a:endParaRPr lang="en-US" sz="1100" dirty="0"/>
          </a:p>
        </p:txBody>
      </p:sp>
      <p:sp>
        <p:nvSpPr>
          <p:cNvPr id="24" name="Text 22"/>
          <p:cNvSpPr/>
          <p:nvPr/>
        </p:nvSpPr>
        <p:spPr>
          <a:xfrm>
            <a:off x="4343400" y="2862072"/>
            <a:ext cx="4572000" cy="502920"/>
          </a:xfrm>
          <a:prstGeom prst="rect">
            <a:avLst/>
          </a:prstGeom>
          <a:noFill/>
          <a:ln/>
        </p:spPr>
        <p:txBody>
          <a:bodyPr wrap="square" lIns="0" tIns="0" rIns="0" bIns="0" rtlCol="0" anchor="ctr"/>
          <a:lstStyle/>
          <a:p>
            <a:pPr marL="0" indent="0">
              <a:buNone/>
            </a:pPr>
            <a:r>
              <a:rPr lang="en-US" sz="1200" dirty="0">
                <a:solidFill>
                  <a:srgbClr val="FFFFFF"/>
                </a:solidFill>
              </a:rPr>
              <a:t>Obfuscated Files</a:t>
            </a:r>
            <a:endParaRPr lang="en-US" sz="1200" dirty="0"/>
          </a:p>
        </p:txBody>
      </p:sp>
      <p:sp>
        <p:nvSpPr>
          <p:cNvPr id="25" name="Shape 23"/>
          <p:cNvSpPr/>
          <p:nvPr/>
        </p:nvSpPr>
        <p:spPr>
          <a:xfrm>
            <a:off x="457200" y="3465576"/>
            <a:ext cx="2286000" cy="502920"/>
          </a:xfrm>
          <a:prstGeom prst="rect">
            <a:avLst/>
          </a:prstGeom>
          <a:solidFill>
            <a:srgbClr val="1D3557"/>
          </a:solidFill>
          <a:ln w="12700">
            <a:solidFill>
              <a:srgbClr val="1D3557"/>
            </a:solidFill>
            <a:prstDash val="solid"/>
          </a:ln>
        </p:spPr>
        <p:txBody>
          <a:bodyPr/>
          <a:lstStyle/>
          <a:p>
            <a:endParaRPr lang="en-US"/>
          </a:p>
        </p:txBody>
      </p:sp>
      <p:sp>
        <p:nvSpPr>
          <p:cNvPr id="26" name="Text 24"/>
          <p:cNvSpPr/>
          <p:nvPr/>
        </p:nvSpPr>
        <p:spPr>
          <a:xfrm>
            <a:off x="457200" y="3465576"/>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Credential Access</a:t>
            </a:r>
            <a:endParaRPr lang="en-US" sz="1200" dirty="0"/>
          </a:p>
        </p:txBody>
      </p:sp>
      <p:sp>
        <p:nvSpPr>
          <p:cNvPr id="27" name="Shape 25"/>
          <p:cNvSpPr/>
          <p:nvPr/>
        </p:nvSpPr>
        <p:spPr>
          <a:xfrm>
            <a:off x="2834640" y="3465576"/>
            <a:ext cx="1371600" cy="502920"/>
          </a:xfrm>
          <a:prstGeom prst="rect">
            <a:avLst/>
          </a:prstGeom>
          <a:solidFill>
            <a:srgbClr val="1D3557"/>
          </a:solidFill>
          <a:ln w="6350">
            <a:solidFill>
              <a:srgbClr val="457B9D"/>
            </a:solidFill>
            <a:prstDash val="solid"/>
          </a:ln>
        </p:spPr>
        <p:txBody>
          <a:bodyPr/>
          <a:lstStyle/>
          <a:p>
            <a:endParaRPr lang="en-US"/>
          </a:p>
        </p:txBody>
      </p:sp>
      <p:sp>
        <p:nvSpPr>
          <p:cNvPr id="28" name="Text 26"/>
          <p:cNvSpPr/>
          <p:nvPr/>
        </p:nvSpPr>
        <p:spPr>
          <a:xfrm>
            <a:off x="2834640" y="3465576"/>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T1003</a:t>
            </a:r>
            <a:endParaRPr lang="en-US" sz="1100" dirty="0"/>
          </a:p>
        </p:txBody>
      </p:sp>
      <p:sp>
        <p:nvSpPr>
          <p:cNvPr id="29" name="Text 27"/>
          <p:cNvSpPr/>
          <p:nvPr/>
        </p:nvSpPr>
        <p:spPr>
          <a:xfrm>
            <a:off x="4343400" y="3465576"/>
            <a:ext cx="4572000" cy="502920"/>
          </a:xfrm>
          <a:prstGeom prst="rect">
            <a:avLst/>
          </a:prstGeom>
          <a:noFill/>
          <a:ln/>
        </p:spPr>
        <p:txBody>
          <a:bodyPr wrap="square" lIns="0" tIns="0" rIns="0" bIns="0" rtlCol="0" anchor="ctr"/>
          <a:lstStyle/>
          <a:p>
            <a:pPr marL="0" indent="0">
              <a:buNone/>
            </a:pPr>
            <a:r>
              <a:rPr lang="en-US" sz="1200" dirty="0">
                <a:solidFill>
                  <a:srgbClr val="FFFFFF"/>
                </a:solidFill>
              </a:rPr>
              <a:t>Credential Dumping</a:t>
            </a:r>
            <a:endParaRPr lang="en-US" sz="1200" dirty="0"/>
          </a:p>
        </p:txBody>
      </p:sp>
      <p:sp>
        <p:nvSpPr>
          <p:cNvPr id="30" name="Shape 28"/>
          <p:cNvSpPr/>
          <p:nvPr/>
        </p:nvSpPr>
        <p:spPr>
          <a:xfrm>
            <a:off x="457200" y="4069080"/>
            <a:ext cx="2286000" cy="502920"/>
          </a:xfrm>
          <a:prstGeom prst="rect">
            <a:avLst/>
          </a:prstGeom>
          <a:solidFill>
            <a:srgbClr val="1B4332"/>
          </a:solidFill>
          <a:ln w="12700">
            <a:solidFill>
              <a:srgbClr val="1B4332"/>
            </a:solidFill>
            <a:prstDash val="solid"/>
          </a:ln>
        </p:spPr>
        <p:txBody>
          <a:bodyPr/>
          <a:lstStyle/>
          <a:p>
            <a:endParaRPr lang="en-US"/>
          </a:p>
        </p:txBody>
      </p:sp>
      <p:sp>
        <p:nvSpPr>
          <p:cNvPr id="31" name="Text 29"/>
          <p:cNvSpPr/>
          <p:nvPr/>
        </p:nvSpPr>
        <p:spPr>
          <a:xfrm>
            <a:off x="457200" y="4069080"/>
            <a:ext cx="2286000" cy="502920"/>
          </a:xfrm>
          <a:prstGeom prst="rect">
            <a:avLst/>
          </a:prstGeom>
          <a:noFill/>
          <a:ln/>
        </p:spPr>
        <p:txBody>
          <a:bodyPr wrap="square" lIns="0" tIns="0" rIns="0" bIns="0" rtlCol="0" anchor="ctr"/>
          <a:lstStyle/>
          <a:p>
            <a:pPr marL="0" indent="0" algn="ctr">
              <a:buNone/>
            </a:pPr>
            <a:r>
              <a:rPr lang="en-US" sz="1200" b="1" dirty="0">
                <a:solidFill>
                  <a:srgbClr val="FFFFFF"/>
                </a:solidFill>
              </a:rPr>
              <a:t>C2</a:t>
            </a:r>
            <a:endParaRPr lang="en-US" sz="1200" dirty="0"/>
          </a:p>
        </p:txBody>
      </p:sp>
      <p:sp>
        <p:nvSpPr>
          <p:cNvPr id="32" name="Shape 30"/>
          <p:cNvSpPr/>
          <p:nvPr/>
        </p:nvSpPr>
        <p:spPr>
          <a:xfrm>
            <a:off x="2834640" y="4069080"/>
            <a:ext cx="1371600" cy="502920"/>
          </a:xfrm>
          <a:prstGeom prst="rect">
            <a:avLst/>
          </a:prstGeom>
          <a:solidFill>
            <a:srgbClr val="1D3557"/>
          </a:solidFill>
          <a:ln w="6350">
            <a:solidFill>
              <a:srgbClr val="457B9D"/>
            </a:solidFill>
            <a:prstDash val="solid"/>
          </a:ln>
        </p:spPr>
        <p:txBody>
          <a:bodyPr/>
          <a:lstStyle/>
          <a:p>
            <a:endParaRPr lang="en-US"/>
          </a:p>
        </p:txBody>
      </p:sp>
      <p:sp>
        <p:nvSpPr>
          <p:cNvPr id="33" name="Text 31"/>
          <p:cNvSpPr/>
          <p:nvPr/>
        </p:nvSpPr>
        <p:spPr>
          <a:xfrm>
            <a:off x="2834640" y="4069080"/>
            <a:ext cx="1371600" cy="502920"/>
          </a:xfrm>
          <a:prstGeom prst="rect">
            <a:avLst/>
          </a:prstGeom>
          <a:noFill/>
          <a:ln/>
        </p:spPr>
        <p:txBody>
          <a:bodyPr wrap="square" lIns="0" tIns="0" rIns="0" bIns="0" rtlCol="0" anchor="ctr"/>
          <a:lstStyle/>
          <a:p>
            <a:pPr marL="0" indent="0" algn="ctr">
              <a:buNone/>
            </a:pPr>
            <a:r>
              <a:rPr lang="en-US" sz="1100" b="1" dirty="0">
                <a:solidFill>
                  <a:srgbClr val="A8DADC"/>
                </a:solidFill>
                <a:latin typeface="Consolas" pitchFamily="34" charset="0"/>
                <a:ea typeface="Consolas" pitchFamily="34" charset="-122"/>
                <a:cs typeface="Consolas" pitchFamily="34" charset="-120"/>
              </a:rPr>
              <a:t>T1071</a:t>
            </a:r>
            <a:endParaRPr lang="en-US" sz="1100" dirty="0"/>
          </a:p>
        </p:txBody>
      </p:sp>
      <p:sp>
        <p:nvSpPr>
          <p:cNvPr id="34" name="Text 32"/>
          <p:cNvSpPr/>
          <p:nvPr/>
        </p:nvSpPr>
        <p:spPr>
          <a:xfrm>
            <a:off x="4343400" y="4069080"/>
            <a:ext cx="4572000" cy="502920"/>
          </a:xfrm>
          <a:prstGeom prst="rect">
            <a:avLst/>
          </a:prstGeom>
          <a:noFill/>
          <a:ln/>
        </p:spPr>
        <p:txBody>
          <a:bodyPr wrap="square" lIns="0" tIns="0" rIns="0" bIns="0" rtlCol="0" anchor="ctr"/>
          <a:lstStyle/>
          <a:p>
            <a:pPr marL="0" indent="0">
              <a:buNone/>
            </a:pPr>
            <a:r>
              <a:rPr lang="en-US" sz="1200" dirty="0">
                <a:solidFill>
                  <a:srgbClr val="FFFFFF"/>
                </a:solidFill>
              </a:rPr>
              <a:t>Application Layer Protocol</a:t>
            </a:r>
            <a:endParaRPr lang="en-US" sz="1200" dirty="0"/>
          </a:p>
        </p:txBody>
      </p:sp>
      <p:sp>
        <p:nvSpPr>
          <p:cNvPr id="35" name="Shape 33"/>
          <p:cNvSpPr/>
          <p:nvPr/>
        </p:nvSpPr>
        <p:spPr>
          <a:xfrm>
            <a:off x="457200" y="4663440"/>
            <a:ext cx="8229600" cy="320040"/>
          </a:xfrm>
          <a:prstGeom prst="rect">
            <a:avLst/>
          </a:prstGeom>
          <a:solidFill>
            <a:srgbClr val="E63946">
              <a:alpha val="80000"/>
            </a:srgbClr>
          </a:solidFill>
          <a:ln w="12700">
            <a:solidFill>
              <a:srgbClr val="E63946"/>
            </a:solidFill>
            <a:prstDash val="solid"/>
          </a:ln>
        </p:spPr>
        <p:txBody>
          <a:bodyPr/>
          <a:lstStyle/>
          <a:p>
            <a:endParaRPr lang="en-US"/>
          </a:p>
        </p:txBody>
      </p:sp>
      <p:sp>
        <p:nvSpPr>
          <p:cNvPr id="36" name="Text 34"/>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100" b="1" dirty="0">
                <a:solidFill>
                  <a:srgbClr val="FFFFFF"/>
                </a:solidFill>
              </a:rPr>
              <a:t>OBSERVATION:  Heavy reliance on LOLBins — T1218 Signed Binary Proxy Execution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E8EEF2"/>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600" b="1" dirty="0">
                <a:solidFill>
                  <a:srgbClr val="0D1B2A"/>
                </a:solidFill>
              </a:rPr>
              <a:t>Defensive Implications</a:t>
            </a:r>
            <a:endParaRPr lang="en-US" sz="2600" dirty="0"/>
          </a:p>
        </p:txBody>
      </p:sp>
      <p:sp>
        <p:nvSpPr>
          <p:cNvPr id="4" name="Shape 2"/>
          <p:cNvSpPr/>
          <p:nvPr/>
        </p:nvSpPr>
        <p:spPr>
          <a:xfrm>
            <a:off x="457200" y="914400"/>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5" name="Text 3"/>
          <p:cNvSpPr/>
          <p:nvPr/>
        </p:nvSpPr>
        <p:spPr>
          <a:xfrm>
            <a:off x="548640" y="914400"/>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6" name="Text 4"/>
          <p:cNvSpPr/>
          <p:nvPr/>
        </p:nvSpPr>
        <p:spPr>
          <a:xfrm>
            <a:off x="1188720" y="960120"/>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Signature Detection Is Insufficient</a:t>
            </a:r>
            <a:endParaRPr lang="en-US" sz="1300" dirty="0"/>
          </a:p>
        </p:txBody>
      </p:sp>
      <p:sp>
        <p:nvSpPr>
          <p:cNvPr id="7" name="Text 5"/>
          <p:cNvSpPr/>
          <p:nvPr/>
        </p:nvSpPr>
        <p:spPr>
          <a:xfrm>
            <a:off x="1188720" y="1252728"/>
            <a:ext cx="7223760" cy="310896"/>
          </a:xfrm>
          <a:prstGeom prst="rect">
            <a:avLst/>
          </a:prstGeom>
          <a:noFill/>
          <a:ln/>
        </p:spPr>
        <p:txBody>
          <a:bodyPr wrap="square" lIns="0" tIns="0" rIns="0" bIns="0" rtlCol="0" anchor="ctr"/>
          <a:lstStyle/>
          <a:p>
            <a:pPr marL="0" indent="0">
              <a:buNone/>
            </a:pPr>
            <a:r>
              <a:rPr lang="en-US" sz="1100" dirty="0">
                <a:solidFill>
                  <a:srgbClr val="0D1B2A"/>
                </a:solidFill>
              </a:rPr>
              <a:t>LATAM actors iterate rapidly; static signatures become outdated within weeks of a campaign.</a:t>
            </a:r>
            <a:endParaRPr lang="en-US" sz="1100" dirty="0"/>
          </a:p>
        </p:txBody>
      </p:sp>
      <p:sp>
        <p:nvSpPr>
          <p:cNvPr id="8" name="Shape 6"/>
          <p:cNvSpPr/>
          <p:nvPr/>
        </p:nvSpPr>
        <p:spPr>
          <a:xfrm>
            <a:off x="457200" y="1719072"/>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9" name="Text 7"/>
          <p:cNvSpPr/>
          <p:nvPr/>
        </p:nvSpPr>
        <p:spPr>
          <a:xfrm>
            <a:off x="548640" y="1719072"/>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0" name="Text 8"/>
          <p:cNvSpPr/>
          <p:nvPr/>
        </p:nvSpPr>
        <p:spPr>
          <a:xfrm>
            <a:off x="1188720" y="1764792"/>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Monitor Encoded PowerShell</a:t>
            </a:r>
            <a:endParaRPr lang="en-US" sz="1300" dirty="0"/>
          </a:p>
        </p:txBody>
      </p:sp>
      <p:sp>
        <p:nvSpPr>
          <p:cNvPr id="11" name="Text 9"/>
          <p:cNvSpPr/>
          <p:nvPr/>
        </p:nvSpPr>
        <p:spPr>
          <a:xfrm>
            <a:off x="1188720" y="2057400"/>
            <a:ext cx="7223760" cy="310896"/>
          </a:xfrm>
          <a:prstGeom prst="rect">
            <a:avLst/>
          </a:prstGeom>
          <a:noFill/>
          <a:ln/>
        </p:spPr>
        <p:txBody>
          <a:bodyPr wrap="square" lIns="0" tIns="0" rIns="0" bIns="0" rtlCol="0" anchor="ctr"/>
          <a:lstStyle/>
          <a:p>
            <a:pPr marL="0" indent="0">
              <a:buNone/>
            </a:pPr>
            <a:r>
              <a:rPr lang="en-US" sz="1100" dirty="0">
                <a:solidFill>
                  <a:srgbClr val="0D1B2A"/>
                </a:solidFill>
              </a:rPr>
              <a:t>Multi-layer encoding is standard practice. Behavioral monitoring of PowerShell execution is critical.</a:t>
            </a:r>
            <a:endParaRPr lang="en-US" sz="1100" dirty="0"/>
          </a:p>
        </p:txBody>
      </p:sp>
      <p:sp>
        <p:nvSpPr>
          <p:cNvPr id="12" name="Shape 10"/>
          <p:cNvSpPr/>
          <p:nvPr/>
        </p:nvSpPr>
        <p:spPr>
          <a:xfrm>
            <a:off x="457200" y="2523744"/>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13" name="Text 11"/>
          <p:cNvSpPr/>
          <p:nvPr/>
        </p:nvSpPr>
        <p:spPr>
          <a:xfrm>
            <a:off x="548640" y="2523744"/>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4" name="Text 12"/>
          <p:cNvSpPr/>
          <p:nvPr/>
        </p:nvSpPr>
        <p:spPr>
          <a:xfrm>
            <a:off x="1188720" y="2569464"/>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Abnormal Process Trees</a:t>
            </a:r>
            <a:endParaRPr lang="en-US" sz="1300" dirty="0"/>
          </a:p>
        </p:txBody>
      </p:sp>
      <p:sp>
        <p:nvSpPr>
          <p:cNvPr id="15" name="Text 13"/>
          <p:cNvSpPr/>
          <p:nvPr/>
        </p:nvSpPr>
        <p:spPr>
          <a:xfrm>
            <a:off x="1188720" y="2862072"/>
            <a:ext cx="7223760" cy="310896"/>
          </a:xfrm>
          <a:prstGeom prst="rect">
            <a:avLst/>
          </a:prstGeom>
          <a:noFill/>
          <a:ln/>
        </p:spPr>
        <p:txBody>
          <a:bodyPr wrap="square" lIns="0" tIns="0" rIns="0" bIns="0" rtlCol="0" anchor="ctr"/>
          <a:lstStyle/>
          <a:p>
            <a:pPr marL="0" indent="0">
              <a:buNone/>
            </a:pPr>
            <a:r>
              <a:rPr lang="en-US" sz="1100" dirty="0">
                <a:solidFill>
                  <a:srgbClr val="0D1B2A"/>
                </a:solidFill>
              </a:rPr>
              <a:t>Detect unusual parent-child process chains (e.g., Office spawning scripting engines).</a:t>
            </a:r>
            <a:endParaRPr lang="en-US" sz="1100" dirty="0"/>
          </a:p>
        </p:txBody>
      </p:sp>
      <p:sp>
        <p:nvSpPr>
          <p:cNvPr id="16" name="Shape 14"/>
          <p:cNvSpPr/>
          <p:nvPr/>
        </p:nvSpPr>
        <p:spPr>
          <a:xfrm>
            <a:off x="457200" y="3328416"/>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17" name="Text 15"/>
          <p:cNvSpPr/>
          <p:nvPr/>
        </p:nvSpPr>
        <p:spPr>
          <a:xfrm>
            <a:off x="548640" y="3328416"/>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8" name="Text 16"/>
          <p:cNvSpPr/>
          <p:nvPr/>
        </p:nvSpPr>
        <p:spPr>
          <a:xfrm>
            <a:off x="1188720" y="3374136"/>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Cross-Family Behavioral Patterns</a:t>
            </a:r>
            <a:endParaRPr lang="en-US" sz="1300" dirty="0"/>
          </a:p>
        </p:txBody>
      </p:sp>
      <p:sp>
        <p:nvSpPr>
          <p:cNvPr id="19" name="Text 17"/>
          <p:cNvSpPr/>
          <p:nvPr/>
        </p:nvSpPr>
        <p:spPr>
          <a:xfrm>
            <a:off x="1188720" y="3666744"/>
            <a:ext cx="7223760" cy="310896"/>
          </a:xfrm>
          <a:prstGeom prst="rect">
            <a:avLst/>
          </a:prstGeom>
          <a:noFill/>
          <a:ln/>
        </p:spPr>
        <p:txBody>
          <a:bodyPr wrap="square" lIns="0" tIns="0" rIns="0" bIns="0" rtlCol="0" anchor="ctr"/>
          <a:lstStyle/>
          <a:p>
            <a:pPr marL="0" indent="0">
              <a:buNone/>
            </a:pPr>
            <a:r>
              <a:rPr lang="en-US" sz="1100" dirty="0">
                <a:solidFill>
                  <a:srgbClr val="0D1B2A"/>
                </a:solidFill>
              </a:rPr>
              <a:t>Focus on shared TTPs across families, not individual malware signatures or names.</a:t>
            </a:r>
            <a:endParaRPr lang="en-US" sz="1100" dirty="0"/>
          </a:p>
        </p:txBody>
      </p:sp>
      <p:sp>
        <p:nvSpPr>
          <p:cNvPr id="20" name="Shape 18"/>
          <p:cNvSpPr/>
          <p:nvPr/>
        </p:nvSpPr>
        <p:spPr>
          <a:xfrm>
            <a:off x="457200" y="4133088"/>
            <a:ext cx="8229600" cy="694944"/>
          </a:xfrm>
          <a:prstGeom prst="rect">
            <a:avLst/>
          </a:prstGeom>
          <a:solidFill>
            <a:srgbClr val="FFFFFF"/>
          </a:solidFill>
          <a:ln w="12700">
            <a:solidFill>
              <a:srgbClr val="457B9D"/>
            </a:solidFill>
            <a:prstDash val="solid"/>
          </a:ln>
          <a:effectLst>
            <a:outerShdw blurRad="38100" dist="12700" dir="8100000" algn="bl" rotWithShape="0">
              <a:srgbClr val="000000">
                <a:alpha val="7000"/>
              </a:srgbClr>
            </a:outerShdw>
          </a:effectLst>
        </p:spPr>
        <p:txBody>
          <a:bodyPr/>
          <a:lstStyle/>
          <a:p>
            <a:endParaRPr lang="en-US"/>
          </a:p>
        </p:txBody>
      </p:sp>
      <p:sp>
        <p:nvSpPr>
          <p:cNvPr id="21" name="Text 19"/>
          <p:cNvSpPr/>
          <p:nvPr/>
        </p:nvSpPr>
        <p:spPr>
          <a:xfrm>
            <a:off x="548640" y="4133088"/>
            <a:ext cx="548640" cy="694944"/>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2" name="Text 20"/>
          <p:cNvSpPr/>
          <p:nvPr/>
        </p:nvSpPr>
        <p:spPr>
          <a:xfrm>
            <a:off x="1188720" y="4178808"/>
            <a:ext cx="7223760" cy="292608"/>
          </a:xfrm>
          <a:prstGeom prst="rect">
            <a:avLst/>
          </a:prstGeom>
          <a:noFill/>
          <a:ln/>
        </p:spPr>
        <p:txBody>
          <a:bodyPr wrap="square" lIns="0" tIns="0" rIns="0" bIns="0" rtlCol="0" anchor="ctr"/>
          <a:lstStyle/>
          <a:p>
            <a:pPr marL="0" indent="0">
              <a:buNone/>
            </a:pPr>
            <a:r>
              <a:rPr lang="en-US" sz="1300" b="1" dirty="0">
                <a:solidFill>
                  <a:srgbClr val="1D3557"/>
                </a:solidFill>
              </a:rPr>
              <a:t>Infrastructure Intelligence</a:t>
            </a:r>
            <a:endParaRPr lang="en-US" sz="1300" dirty="0"/>
          </a:p>
        </p:txBody>
      </p:sp>
      <p:sp>
        <p:nvSpPr>
          <p:cNvPr id="23" name="Text 21"/>
          <p:cNvSpPr/>
          <p:nvPr/>
        </p:nvSpPr>
        <p:spPr>
          <a:xfrm>
            <a:off x="1188720" y="4471416"/>
            <a:ext cx="7223760" cy="310896"/>
          </a:xfrm>
          <a:prstGeom prst="rect">
            <a:avLst/>
          </a:prstGeom>
          <a:noFill/>
          <a:ln/>
        </p:spPr>
        <p:txBody>
          <a:bodyPr wrap="square" lIns="0" tIns="0" rIns="0" bIns="0" rtlCol="0" anchor="ctr"/>
          <a:lstStyle/>
          <a:p>
            <a:pPr marL="0" indent="0">
              <a:buNone/>
            </a:pPr>
            <a:r>
              <a:rPr lang="en-US" sz="1100" dirty="0">
                <a:solidFill>
                  <a:srgbClr val="0D1B2A"/>
                </a:solidFill>
              </a:rPr>
              <a:t>Correlate short-TTL domains, cloud provider abuse, and TLS fingerprints across campaigns.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a:ln w="12700">
            <a:solidFill>
              <a:srgbClr val="E63946"/>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FFFFFF"/>
                </a:solidFill>
              </a:rPr>
              <a:t>Strategic Conclusion</a:t>
            </a:r>
            <a:endParaRPr lang="en-US" sz="2800" dirty="0"/>
          </a:p>
        </p:txBody>
      </p:sp>
      <p:sp>
        <p:nvSpPr>
          <p:cNvPr id="4" name="Shape 2"/>
          <p:cNvSpPr/>
          <p:nvPr/>
        </p:nvSpPr>
        <p:spPr>
          <a:xfrm>
            <a:off x="457200" y="914400"/>
            <a:ext cx="8229600" cy="530352"/>
          </a:xfrm>
          <a:prstGeom prst="rect">
            <a:avLst/>
          </a:prstGeom>
          <a:solidFill>
            <a:srgbClr val="1D3557"/>
          </a:solidFill>
          <a:ln w="6350">
            <a:solidFill>
              <a:srgbClr val="457B9D"/>
            </a:solidFill>
            <a:prstDash val="solid"/>
          </a:ln>
        </p:spPr>
        <p:txBody>
          <a:bodyPr/>
          <a:lstStyle/>
          <a:p>
            <a:endParaRPr lang="en-US"/>
          </a:p>
        </p:txBody>
      </p:sp>
      <p:sp>
        <p:nvSpPr>
          <p:cNvPr id="5" name="Text 3"/>
          <p:cNvSpPr/>
          <p:nvPr/>
        </p:nvSpPr>
        <p:spPr>
          <a:xfrm>
            <a:off x="502920" y="91440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1.</a:t>
            </a:r>
            <a:endParaRPr lang="en-US" sz="1400" dirty="0"/>
          </a:p>
        </p:txBody>
      </p:sp>
      <p:sp>
        <p:nvSpPr>
          <p:cNvPr id="6" name="Text 4"/>
          <p:cNvSpPr/>
          <p:nvPr/>
        </p:nvSpPr>
        <p:spPr>
          <a:xfrm>
            <a:off x="960120" y="914400"/>
            <a:ext cx="7589520" cy="530352"/>
          </a:xfrm>
          <a:prstGeom prst="rect">
            <a:avLst/>
          </a:prstGeom>
          <a:noFill/>
          <a:ln/>
        </p:spPr>
        <p:txBody>
          <a:bodyPr wrap="square" lIns="0" tIns="0" rIns="0" bIns="0" rtlCol="0" anchor="ctr"/>
          <a:lstStyle/>
          <a:p>
            <a:pPr marL="0" indent="0">
              <a:buNone/>
            </a:pPr>
            <a:r>
              <a:rPr lang="en-US" sz="1300" dirty="0">
                <a:solidFill>
                  <a:srgbClr val="FFFFFF"/>
                </a:solidFill>
              </a:rPr>
              <a:t>LATAM threat actors are no longer regionally confined.</a:t>
            </a:r>
            <a:endParaRPr lang="en-US" sz="1300" dirty="0"/>
          </a:p>
        </p:txBody>
      </p:sp>
      <p:sp>
        <p:nvSpPr>
          <p:cNvPr id="7" name="Shape 5"/>
          <p:cNvSpPr/>
          <p:nvPr/>
        </p:nvSpPr>
        <p:spPr>
          <a:xfrm>
            <a:off x="457200" y="1554480"/>
            <a:ext cx="8229600" cy="530352"/>
          </a:xfrm>
          <a:prstGeom prst="rect">
            <a:avLst/>
          </a:prstGeom>
          <a:solidFill>
            <a:srgbClr val="1D3557">
              <a:alpha val="70000"/>
            </a:srgbClr>
          </a:solidFill>
          <a:ln w="6350">
            <a:solidFill>
              <a:srgbClr val="457B9D"/>
            </a:solidFill>
            <a:prstDash val="solid"/>
          </a:ln>
        </p:spPr>
        <p:txBody>
          <a:bodyPr/>
          <a:lstStyle/>
          <a:p>
            <a:endParaRPr lang="en-US"/>
          </a:p>
        </p:txBody>
      </p:sp>
      <p:sp>
        <p:nvSpPr>
          <p:cNvPr id="8" name="Text 6"/>
          <p:cNvSpPr/>
          <p:nvPr/>
        </p:nvSpPr>
        <p:spPr>
          <a:xfrm>
            <a:off x="502920" y="155448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2.</a:t>
            </a:r>
            <a:endParaRPr lang="en-US" sz="1400" dirty="0"/>
          </a:p>
        </p:txBody>
      </p:sp>
      <p:sp>
        <p:nvSpPr>
          <p:cNvPr id="9" name="Text 7"/>
          <p:cNvSpPr/>
          <p:nvPr/>
        </p:nvSpPr>
        <p:spPr>
          <a:xfrm>
            <a:off x="960120" y="1554480"/>
            <a:ext cx="7589520" cy="530352"/>
          </a:xfrm>
          <a:prstGeom prst="rect">
            <a:avLst/>
          </a:prstGeom>
          <a:noFill/>
          <a:ln/>
        </p:spPr>
        <p:txBody>
          <a:bodyPr wrap="square" lIns="0" tIns="0" rIns="0" bIns="0" rtlCol="0" anchor="ctr"/>
          <a:lstStyle/>
          <a:p>
            <a:pPr marL="0" indent="0">
              <a:buNone/>
            </a:pPr>
            <a:r>
              <a:rPr lang="en-US" sz="1300" dirty="0">
                <a:solidFill>
                  <a:srgbClr val="FFFFFF"/>
                </a:solidFill>
              </a:rPr>
              <a:t>Banking malware groups show professional development cycles.</a:t>
            </a:r>
            <a:endParaRPr lang="en-US" sz="1300" dirty="0"/>
          </a:p>
        </p:txBody>
      </p:sp>
      <p:sp>
        <p:nvSpPr>
          <p:cNvPr id="10" name="Shape 8"/>
          <p:cNvSpPr/>
          <p:nvPr/>
        </p:nvSpPr>
        <p:spPr>
          <a:xfrm>
            <a:off x="457200" y="2194560"/>
            <a:ext cx="8229600" cy="530352"/>
          </a:xfrm>
          <a:prstGeom prst="rect">
            <a:avLst/>
          </a:prstGeom>
          <a:solidFill>
            <a:srgbClr val="1D3557"/>
          </a:solidFill>
          <a:ln w="6350">
            <a:solidFill>
              <a:srgbClr val="457B9D"/>
            </a:solidFill>
            <a:prstDash val="solid"/>
          </a:ln>
        </p:spPr>
        <p:txBody>
          <a:bodyPr/>
          <a:lstStyle/>
          <a:p>
            <a:endParaRPr lang="en-US"/>
          </a:p>
        </p:txBody>
      </p:sp>
      <p:sp>
        <p:nvSpPr>
          <p:cNvPr id="11" name="Text 9"/>
          <p:cNvSpPr/>
          <p:nvPr/>
        </p:nvSpPr>
        <p:spPr>
          <a:xfrm>
            <a:off x="502920" y="219456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3.</a:t>
            </a:r>
            <a:endParaRPr lang="en-US" sz="1400" dirty="0"/>
          </a:p>
        </p:txBody>
      </p:sp>
      <p:sp>
        <p:nvSpPr>
          <p:cNvPr id="12" name="Text 10"/>
          <p:cNvSpPr/>
          <p:nvPr/>
        </p:nvSpPr>
        <p:spPr>
          <a:xfrm>
            <a:off x="960120" y="2194560"/>
            <a:ext cx="7589520" cy="530352"/>
          </a:xfrm>
          <a:prstGeom prst="rect">
            <a:avLst/>
          </a:prstGeom>
          <a:noFill/>
          <a:ln/>
        </p:spPr>
        <p:txBody>
          <a:bodyPr wrap="square" lIns="0" tIns="0" rIns="0" bIns="0" rtlCol="0" anchor="ctr"/>
          <a:lstStyle/>
          <a:p>
            <a:pPr marL="0" indent="0">
              <a:buNone/>
            </a:pPr>
            <a:r>
              <a:rPr lang="en-US" sz="1300" dirty="0">
                <a:solidFill>
                  <a:srgbClr val="FFFFFF"/>
                </a:solidFill>
              </a:rPr>
              <a:t>Infrastructure agility is increasing.</a:t>
            </a:r>
            <a:endParaRPr lang="en-US" sz="1300" dirty="0"/>
          </a:p>
        </p:txBody>
      </p:sp>
      <p:sp>
        <p:nvSpPr>
          <p:cNvPr id="13" name="Shape 11"/>
          <p:cNvSpPr/>
          <p:nvPr/>
        </p:nvSpPr>
        <p:spPr>
          <a:xfrm>
            <a:off x="457200" y="2834640"/>
            <a:ext cx="8229600" cy="530352"/>
          </a:xfrm>
          <a:prstGeom prst="rect">
            <a:avLst/>
          </a:prstGeom>
          <a:solidFill>
            <a:srgbClr val="1D3557">
              <a:alpha val="70000"/>
            </a:srgbClr>
          </a:solidFill>
          <a:ln w="6350">
            <a:solidFill>
              <a:srgbClr val="457B9D"/>
            </a:solidFill>
            <a:prstDash val="solid"/>
          </a:ln>
        </p:spPr>
        <p:txBody>
          <a:bodyPr/>
          <a:lstStyle/>
          <a:p>
            <a:endParaRPr lang="en-US"/>
          </a:p>
        </p:txBody>
      </p:sp>
      <p:sp>
        <p:nvSpPr>
          <p:cNvPr id="14" name="Text 12"/>
          <p:cNvSpPr/>
          <p:nvPr/>
        </p:nvSpPr>
        <p:spPr>
          <a:xfrm>
            <a:off x="502920" y="283464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4.</a:t>
            </a:r>
            <a:endParaRPr lang="en-US" sz="1400" dirty="0"/>
          </a:p>
        </p:txBody>
      </p:sp>
      <p:sp>
        <p:nvSpPr>
          <p:cNvPr id="15" name="Text 13"/>
          <p:cNvSpPr/>
          <p:nvPr/>
        </p:nvSpPr>
        <p:spPr>
          <a:xfrm>
            <a:off x="960120" y="2834640"/>
            <a:ext cx="7589520" cy="530352"/>
          </a:xfrm>
          <a:prstGeom prst="rect">
            <a:avLst/>
          </a:prstGeom>
          <a:noFill/>
          <a:ln/>
        </p:spPr>
        <p:txBody>
          <a:bodyPr wrap="square" lIns="0" tIns="0" rIns="0" bIns="0" rtlCol="0" anchor="ctr"/>
          <a:lstStyle/>
          <a:p>
            <a:pPr marL="0" indent="0">
              <a:buNone/>
            </a:pPr>
            <a:r>
              <a:rPr lang="en-US" sz="1300" dirty="0">
                <a:solidFill>
                  <a:srgbClr val="FFFFFF"/>
                </a:solidFill>
              </a:rPr>
              <a:t>Shared delivery innovation signals ecosystem maturity.</a:t>
            </a:r>
            <a:endParaRPr lang="en-US" sz="1300" dirty="0"/>
          </a:p>
        </p:txBody>
      </p:sp>
      <p:sp>
        <p:nvSpPr>
          <p:cNvPr id="16" name="Shape 14"/>
          <p:cNvSpPr/>
          <p:nvPr/>
        </p:nvSpPr>
        <p:spPr>
          <a:xfrm>
            <a:off x="457200" y="3474720"/>
            <a:ext cx="8229600" cy="530352"/>
          </a:xfrm>
          <a:prstGeom prst="rect">
            <a:avLst/>
          </a:prstGeom>
          <a:solidFill>
            <a:srgbClr val="1D3557"/>
          </a:solidFill>
          <a:ln w="6350">
            <a:solidFill>
              <a:srgbClr val="457B9D"/>
            </a:solidFill>
            <a:prstDash val="solid"/>
          </a:ln>
        </p:spPr>
        <p:txBody>
          <a:bodyPr/>
          <a:lstStyle/>
          <a:p>
            <a:endParaRPr lang="en-US"/>
          </a:p>
        </p:txBody>
      </p:sp>
      <p:sp>
        <p:nvSpPr>
          <p:cNvPr id="17" name="Text 15"/>
          <p:cNvSpPr/>
          <p:nvPr/>
        </p:nvSpPr>
        <p:spPr>
          <a:xfrm>
            <a:off x="502920" y="347472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5.</a:t>
            </a:r>
            <a:endParaRPr lang="en-US" sz="1400" dirty="0"/>
          </a:p>
        </p:txBody>
      </p:sp>
      <p:sp>
        <p:nvSpPr>
          <p:cNvPr id="18" name="Text 16"/>
          <p:cNvSpPr/>
          <p:nvPr/>
        </p:nvSpPr>
        <p:spPr>
          <a:xfrm>
            <a:off x="960120" y="3474720"/>
            <a:ext cx="7589520" cy="530352"/>
          </a:xfrm>
          <a:prstGeom prst="rect">
            <a:avLst/>
          </a:prstGeom>
          <a:noFill/>
          <a:ln/>
        </p:spPr>
        <p:txBody>
          <a:bodyPr wrap="square" lIns="0" tIns="0" rIns="0" bIns="0" rtlCol="0" anchor="ctr"/>
          <a:lstStyle/>
          <a:p>
            <a:pPr marL="0" indent="0">
              <a:buNone/>
            </a:pPr>
            <a:r>
              <a:rPr lang="en-US" sz="1300" dirty="0">
                <a:solidFill>
                  <a:srgbClr val="FFFFFF"/>
                </a:solidFill>
              </a:rPr>
              <a:t>Detection must focus on behavior over malware branding.</a:t>
            </a:r>
            <a:endParaRPr lang="en-US" sz="1300" dirty="0"/>
          </a:p>
        </p:txBody>
      </p:sp>
      <p:sp>
        <p:nvSpPr>
          <p:cNvPr id="19" name="Shape 17"/>
          <p:cNvSpPr/>
          <p:nvPr/>
        </p:nvSpPr>
        <p:spPr>
          <a:xfrm>
            <a:off x="457200" y="4343400"/>
            <a:ext cx="8229600" cy="640080"/>
          </a:xfrm>
          <a:prstGeom prst="rect">
            <a:avLst/>
          </a:prstGeom>
          <a:solidFill>
            <a:srgbClr val="E63946"/>
          </a:solidFill>
          <a:ln w="12700">
            <a:solidFill>
              <a:srgbClr val="E63946"/>
            </a:solidFill>
            <a:prstDash val="solid"/>
          </a:ln>
        </p:spPr>
        <p:txBody>
          <a:bodyPr/>
          <a:lstStyle/>
          <a:p>
            <a:endParaRPr lang="en-US"/>
          </a:p>
        </p:txBody>
      </p:sp>
      <p:sp>
        <p:nvSpPr>
          <p:cNvPr id="20" name="Text 18"/>
          <p:cNvSpPr/>
          <p:nvPr/>
        </p:nvSpPr>
        <p:spPr>
          <a:xfrm>
            <a:off x="548640" y="4343400"/>
            <a:ext cx="8046720" cy="640080"/>
          </a:xfrm>
          <a:prstGeom prst="rect">
            <a:avLst/>
          </a:prstGeom>
          <a:noFill/>
          <a:ln/>
        </p:spPr>
        <p:txBody>
          <a:bodyPr wrap="square" lIns="0" tIns="0" rIns="0" bIns="0" rtlCol="0" anchor="ctr"/>
          <a:lstStyle/>
          <a:p>
            <a:pPr marL="0" indent="0" algn="ctr">
              <a:buNone/>
            </a:pPr>
            <a:r>
              <a:rPr lang="en-US" sz="1400" b="1" i="1" dirty="0">
                <a:solidFill>
                  <a:srgbClr val="FFFFFF"/>
                </a:solidFill>
              </a:rPr>
              <a:t>The true defensive advantage comes from tracking evolution patterns — not chasing malware names.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GHORA Demo Section">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p:spPr>
        <p:txBody>
          <a:bodyPr/>
          <a:lstStyle/>
          <a:p>
            <a:endParaRPr lang="en-US"/>
          </a:p>
        </p:txBody>
      </p:sp>
      <p:sp>
        <p:nvSpPr>
          <p:cNvPr id="3" name="Shape 1"/>
          <p:cNvSpPr/>
          <p:nvPr/>
        </p:nvSpPr>
        <p:spPr>
          <a:xfrm>
            <a:off x="5486400" y="-1371600"/>
            <a:ext cx="5943600" cy="5943600"/>
          </a:xfrm>
          <a:prstGeom prst="ellipse">
            <a:avLst/>
          </a:prstGeom>
          <a:solidFill>
            <a:srgbClr val="1D3557">
              <a:alpha val="50000"/>
            </a:srgbClr>
          </a:solidFill>
          <a:ln w="19050">
            <a:solidFill>
              <a:srgbClr val="457B9D"/>
            </a:solidFill>
          </a:ln>
        </p:spPr>
        <p:txBody>
          <a:bodyPr/>
          <a:lstStyle/>
          <a:p>
            <a:endParaRPr lang="en-US"/>
          </a:p>
        </p:txBody>
      </p:sp>
      <p:sp>
        <p:nvSpPr>
          <p:cNvPr id="4" name="Text 2"/>
          <p:cNvSpPr/>
          <p:nvPr/>
        </p:nvSpPr>
        <p:spPr>
          <a:xfrm>
            <a:off x="457200" y="1280160"/>
            <a:ext cx="5486400" cy="365760"/>
          </a:xfrm>
          <a:prstGeom prst="rect">
            <a:avLst/>
          </a:prstGeom>
          <a:noFill/>
          <a:ln/>
        </p:spPr>
        <p:txBody>
          <a:bodyPr wrap="square" lIns="0" tIns="0" rIns="0" bIns="0" rtlCol="0" anchor="ctr"/>
          <a:lstStyle/>
          <a:p>
            <a:pPr marL="0" indent="0">
              <a:buNone/>
            </a:pPr>
            <a:endParaRPr lang="en-US" sz="1100" b="1" dirty="0">
              <a:solidFill>
                <a:srgbClr val="E63946"/>
              </a:solidFill>
              <a:latin typeface="Consolas" pitchFamily="34" charset="0"/>
            </a:endParaRPr>
          </a:p>
        </p:txBody>
      </p:sp>
      <p:sp>
        <p:nvSpPr>
          <p:cNvPr id="5" name="Text 3"/>
          <p:cNvSpPr/>
          <p:nvPr/>
        </p:nvSpPr>
        <p:spPr>
          <a:xfrm>
            <a:off x="457200" y="1645920"/>
            <a:ext cx="7315200" cy="913860"/>
          </a:xfrm>
          <a:prstGeom prst="rect">
            <a:avLst/>
          </a:prstGeom>
          <a:noFill/>
          <a:ln/>
        </p:spPr>
        <p:txBody>
          <a:bodyPr wrap="square" lIns="0" tIns="0" rIns="0" bIns="0" rtlCol="0" anchor="ctr"/>
          <a:lstStyle/>
          <a:p>
            <a:pPr marL="0" indent="0">
              <a:buNone/>
            </a:pPr>
            <a:r>
              <a:rPr lang="en-US" sz="5400" b="1" dirty="0">
                <a:solidFill>
                  <a:srgbClr val="FFFFFF"/>
                </a:solidFill>
              </a:rPr>
              <a:t>AGHORA</a:t>
            </a:r>
          </a:p>
        </p:txBody>
      </p:sp>
      <p:sp>
        <p:nvSpPr>
          <p:cNvPr id="6" name="Text 4"/>
          <p:cNvSpPr/>
          <p:nvPr/>
        </p:nvSpPr>
        <p:spPr>
          <a:xfrm>
            <a:off x="457200" y="2606040"/>
            <a:ext cx="7315200" cy="457200"/>
          </a:xfrm>
          <a:prstGeom prst="rect">
            <a:avLst/>
          </a:prstGeom>
          <a:noFill/>
          <a:ln/>
        </p:spPr>
        <p:txBody>
          <a:bodyPr wrap="square" lIns="0" tIns="0" rIns="0" bIns="0" rtlCol="0" anchor="ctr"/>
          <a:lstStyle/>
          <a:p>
            <a:pPr marL="0" indent="0">
              <a:buNone/>
            </a:pPr>
            <a:r>
              <a:rPr lang="en-US" sz="1600" i="1" dirty="0">
                <a:solidFill>
                  <a:srgbClr val="A8DADC"/>
                </a:solidFill>
              </a:rPr>
              <a:t>Agentic Guided Heuristic, Orchestration, Reasoning, and Analysis</a:t>
            </a:r>
          </a:p>
        </p:txBody>
      </p:sp>
      <p:sp>
        <p:nvSpPr>
          <p:cNvPr id="7" name="Text 5"/>
          <p:cNvSpPr/>
          <p:nvPr/>
        </p:nvSpPr>
        <p:spPr>
          <a:xfrm>
            <a:off x="457200" y="3200400"/>
            <a:ext cx="5943600" cy="320040"/>
          </a:xfrm>
          <a:prstGeom prst="rect">
            <a:avLst/>
          </a:prstGeom>
          <a:noFill/>
          <a:ln/>
        </p:spPr>
        <p:txBody>
          <a:bodyPr wrap="square" lIns="0" tIns="0" rIns="0" bIns="0" rtlCol="0" anchor="ctr"/>
          <a:lstStyle/>
          <a:p>
            <a:pPr marL="0" indent="0">
              <a:buNone/>
            </a:pPr>
            <a:r>
              <a:rPr lang="en-US" sz="1100" dirty="0">
                <a:solidFill>
                  <a:srgbClr val="8899A6"/>
                </a:solidFill>
              </a:rPr>
              <a:t>AI-powered malware analysis platform built to automate what analysts do manually</a:t>
            </a:r>
          </a:p>
        </p:txBody>
      </p:sp>
      <p:sp>
        <p:nvSpPr>
          <p:cNvPr id="8" name="Shape 6"/>
          <p:cNvSpPr/>
          <p:nvPr/>
        </p:nvSpPr>
        <p:spPr>
          <a:xfrm>
            <a:off x="0" y="5070348"/>
            <a:ext cx="9144000" cy="73152"/>
          </a:xfrm>
          <a:prstGeom prst="rect">
            <a:avLst/>
          </a:prstGeom>
          <a:solidFill>
            <a:srgbClr val="E63946"/>
          </a:solidFill>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AGHORA What Is It">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FFFFFF"/>
                </a:solidFill>
              </a:rPr>
              <a:t>What is AGHORA?</a:t>
            </a:r>
          </a:p>
        </p:txBody>
      </p:sp>
      <p:sp>
        <p:nvSpPr>
          <p:cNvPr id="4" name="Shape 2"/>
          <p:cNvSpPr/>
          <p:nvPr/>
        </p:nvSpPr>
        <p:spPr>
          <a:xfrm>
            <a:off x="457200" y="868680"/>
            <a:ext cx="3932280" cy="548640"/>
          </a:xfrm>
          <a:prstGeom prst="rect">
            <a:avLst/>
          </a:prstGeom>
          <a:solidFill>
            <a:srgbClr val="1D3557"/>
          </a:solidFill>
          <a:ln w="6350">
            <a:solidFill>
              <a:srgbClr val="457B9D"/>
            </a:solidFill>
          </a:ln>
        </p:spPr>
        <p:txBody>
          <a:bodyPr/>
          <a:lstStyle/>
          <a:p>
            <a:endParaRPr lang="en-US"/>
          </a:p>
        </p:txBody>
      </p:sp>
      <p:sp>
        <p:nvSpPr>
          <p:cNvPr id="5" name="Text 3"/>
          <p:cNvSpPr/>
          <p:nvPr/>
        </p:nvSpPr>
        <p:spPr>
          <a:xfrm>
            <a:off x="457200" y="868680"/>
            <a:ext cx="3932280" cy="548640"/>
          </a:xfrm>
          <a:prstGeom prst="rect">
            <a:avLst/>
          </a:prstGeom>
          <a:noFill/>
          <a:ln/>
        </p:spPr>
        <p:txBody>
          <a:bodyPr wrap="square" lIns="91440" tIns="45720" rIns="91440" bIns="45720" rtlCol="0" anchor="ctr"/>
          <a:lstStyle/>
          <a:p>
            <a:pPr marL="0" indent="0">
              <a:buNone/>
            </a:pPr>
            <a:r>
              <a:rPr lang="en-US" sz="1400" b="1" dirty="0">
                <a:solidFill>
                  <a:srgbClr val="E63946"/>
                </a:solidFill>
              </a:rPr>
              <a:t>The Problem</a:t>
            </a:r>
          </a:p>
        </p:txBody>
      </p:sp>
      <p:sp>
        <p:nvSpPr>
          <p:cNvPr id="6" name="Text 4"/>
          <p:cNvSpPr/>
          <p:nvPr/>
        </p:nvSpPr>
        <p:spPr>
          <a:xfrm>
            <a:off x="457200" y="1462320"/>
            <a:ext cx="3932280" cy="2926080"/>
          </a:xfrm>
          <a:prstGeom prst="rect">
            <a:avLst/>
          </a:prstGeom>
          <a:solidFill>
            <a:srgbClr val="1D3557">
              <a:alpha val="60000"/>
            </a:srgbClr>
          </a:solidFill>
          <a:ln w="6350">
            <a:solidFill>
              <a:srgbClr val="457B9D"/>
            </a:solidFill>
          </a:ln>
        </p:spPr>
        <p:txBody>
          <a:bodyPr/>
          <a:lstStyle/>
          <a:p>
            <a:endParaRPr lang="en-US"/>
          </a:p>
        </p:txBody>
      </p:sp>
      <p:sp>
        <p:nvSpPr>
          <p:cNvPr id="7" name="Text 5"/>
          <p:cNvSpPr/>
          <p:nvPr/>
        </p:nvSpPr>
        <p:spPr>
          <a:xfrm>
            <a:off x="548640" y="1553760"/>
            <a:ext cx="3749400" cy="2743200"/>
          </a:xfrm>
          <a:prstGeom prst="rect">
            <a:avLst/>
          </a:prstGeom>
          <a:noFill/>
          <a:ln/>
        </p:spPr>
        <p:txBody>
          <a:bodyPr wrap="square" lIns="0" tIns="0" rIns="0" bIns="0" rtlCol="0" anchor="t"/>
          <a:lstStyle/>
          <a:p>
            <a:pPr marL="0" indent="0">
              <a:buNone/>
            </a:pPr>
            <a:r>
              <a:rPr lang="en-US" sz="1050" dirty="0">
                <a:solidFill>
                  <a:srgbClr val="8899A6"/>
                </a:solidFill>
              </a:rPr>
              <a:t>Manual malware analysis is time-consuming, inconsistent, and doesn’t scale. Analysts spend hours on static analysis, MITRE mapping, and report writing for each sample.</a:t>
            </a:r>
          </a:p>
          <a:p>
            <a:pPr marL="0" indent="0">
              <a:buNone/>
            </a:pPr>
            <a:endParaRPr lang="en-US" sz="1050" dirty="0"/>
          </a:p>
          <a:p>
            <a:pPr marL="0" indent="0">
              <a:buNone/>
            </a:pPr>
            <a:r>
              <a:rPr lang="en-US" sz="1050" b="1" dirty="0">
                <a:solidFill>
                  <a:srgbClr val="FFFFFF"/>
                </a:solidFill>
              </a:rPr>
              <a:t>Existing tools are siloed:</a:t>
            </a:r>
          </a:p>
          <a:p>
            <a:pPr marL="228600" indent="0">
              <a:buNone/>
            </a:pPr>
            <a:r>
              <a:rPr lang="en-US" sz="1000" dirty="0">
                <a:solidFill>
                  <a:srgbClr val="8899A6"/>
                </a:solidFill>
              </a:rPr>
              <a:t>▸  Static analysis tools (PE Studio, DIE)</a:t>
            </a:r>
          </a:p>
          <a:p>
            <a:pPr marL="228600" indent="0">
              <a:buNone/>
            </a:pPr>
            <a:r>
              <a:rPr lang="en-US" sz="1000" dirty="0">
                <a:solidFill>
                  <a:srgbClr val="8899A6"/>
                </a:solidFill>
              </a:rPr>
              <a:t>▸  Reverse engineering (Ghidra)</a:t>
            </a:r>
          </a:p>
          <a:p>
            <a:pPr marL="228600" indent="0">
              <a:buNone/>
            </a:pPr>
            <a:r>
              <a:rPr lang="en-US" sz="1000" dirty="0">
                <a:solidFill>
                  <a:srgbClr val="8899A6"/>
                </a:solidFill>
              </a:rPr>
              <a:t>▸  AI reasoning (separate LLMs)</a:t>
            </a:r>
          </a:p>
          <a:p>
            <a:pPr marL="228600" indent="0">
              <a:buNone/>
            </a:pPr>
            <a:r>
              <a:rPr lang="en-US" sz="1000" dirty="0">
                <a:solidFill>
                  <a:srgbClr val="8899A6"/>
                </a:solidFill>
              </a:rPr>
              <a:t>▸  MITRE ATT&amp;CK mapping (manual)</a:t>
            </a:r>
          </a:p>
        </p:txBody>
      </p:sp>
      <p:sp>
        <p:nvSpPr>
          <p:cNvPr id="8" name="Shape 6"/>
          <p:cNvSpPr/>
          <p:nvPr/>
        </p:nvSpPr>
        <p:spPr>
          <a:xfrm>
            <a:off x="4754520" y="868680"/>
            <a:ext cx="3932280" cy="548640"/>
          </a:xfrm>
          <a:prstGeom prst="rect">
            <a:avLst/>
          </a:prstGeom>
          <a:solidFill>
            <a:srgbClr val="E63946"/>
          </a:solidFill>
          <a:ln w="6350">
            <a:solidFill>
              <a:srgbClr val="E63946"/>
            </a:solidFill>
          </a:ln>
        </p:spPr>
        <p:txBody>
          <a:bodyPr/>
          <a:lstStyle/>
          <a:p>
            <a:endParaRPr lang="en-US"/>
          </a:p>
        </p:txBody>
      </p:sp>
      <p:sp>
        <p:nvSpPr>
          <p:cNvPr id="9" name="Text 7"/>
          <p:cNvSpPr/>
          <p:nvPr/>
        </p:nvSpPr>
        <p:spPr>
          <a:xfrm>
            <a:off x="4754520" y="868680"/>
            <a:ext cx="3932280" cy="548640"/>
          </a:xfrm>
          <a:prstGeom prst="rect">
            <a:avLst/>
          </a:prstGeom>
          <a:noFill/>
          <a:ln/>
        </p:spPr>
        <p:txBody>
          <a:bodyPr wrap="square" lIns="91440" tIns="45720" rIns="91440" bIns="45720" rtlCol="0" anchor="ctr"/>
          <a:lstStyle/>
          <a:p>
            <a:pPr marL="0" indent="0">
              <a:buNone/>
            </a:pPr>
            <a:r>
              <a:rPr lang="en-US" sz="1400" b="1" dirty="0">
                <a:solidFill>
                  <a:srgbClr val="FFFFFF"/>
                </a:solidFill>
              </a:rPr>
              <a:t>AGHORA’s Solution</a:t>
            </a:r>
          </a:p>
        </p:txBody>
      </p:sp>
      <p:sp>
        <p:nvSpPr>
          <p:cNvPr id="10" name="Text 8"/>
          <p:cNvSpPr/>
          <p:nvPr/>
        </p:nvSpPr>
        <p:spPr>
          <a:xfrm>
            <a:off x="4845960" y="1462320"/>
            <a:ext cx="3749400" cy="2743200"/>
          </a:xfrm>
          <a:prstGeom prst="rect">
            <a:avLst/>
          </a:prstGeom>
          <a:noFill/>
          <a:ln/>
        </p:spPr>
        <p:txBody>
          <a:bodyPr wrap="square" lIns="0" tIns="0" rIns="0" bIns="0" rtlCol="0" anchor="t"/>
          <a:lstStyle/>
          <a:p>
            <a:pPr marL="0" indent="0">
              <a:buNone/>
            </a:pPr>
            <a:r>
              <a:rPr lang="en-US" sz="1050" dirty="0">
                <a:solidFill>
                  <a:srgbClr val="A8DADC"/>
                </a:solidFill>
              </a:rPr>
              <a:t>A unified agentic platform that ingests a file and produces a complete, AI-authored threat report in minutes.</a:t>
            </a:r>
          </a:p>
          <a:p>
            <a:pPr marL="0" indent="0">
              <a:buNone/>
            </a:pPr>
            <a:endParaRPr lang="en-US" sz="1050" dirty="0"/>
          </a:p>
          <a:p>
            <a:pPr marL="0" indent="0">
              <a:buNone/>
            </a:pPr>
            <a:r>
              <a:rPr lang="en-US" sz="1050" b="1" dirty="0">
                <a:solidFill>
                  <a:srgbClr val="FFFFFF"/>
                </a:solidFill>
              </a:rPr>
              <a:t>All tools, orchestrated:</a:t>
            </a:r>
          </a:p>
          <a:p>
            <a:pPr marL="228600" indent="0">
              <a:buNone/>
            </a:pPr>
            <a:r>
              <a:rPr lang="en-US" sz="1000" dirty="0">
                <a:solidFill>
                  <a:srgbClr val="FFFFFF"/>
                </a:solidFill>
              </a:rPr>
              <a:t>▸  PE/ELF static analysis (PE Studio, DIE)</a:t>
            </a:r>
          </a:p>
          <a:p>
            <a:pPr marL="228600" indent="0">
              <a:buNone/>
            </a:pPr>
            <a:r>
              <a:rPr lang="en-US" sz="1000" dirty="0">
                <a:solidFill>
                  <a:srgbClr val="FFFFFF"/>
                </a:solidFill>
              </a:rPr>
              <a:t>▸  Ghidra headless decompilation</a:t>
            </a:r>
          </a:p>
          <a:p>
            <a:pPr marL="228600" indent="0">
              <a:buNone/>
            </a:pPr>
            <a:r>
              <a:rPr lang="en-US" sz="1000" dirty="0">
                <a:solidFill>
                  <a:srgbClr val="FFFFFF"/>
                </a:solidFill>
              </a:rPr>
              <a:t>▸  Local LLM reasoning (Ollama)</a:t>
            </a:r>
          </a:p>
          <a:p>
            <a:pPr marL="228600" indent="0">
              <a:buNone/>
            </a:pPr>
            <a:r>
              <a:rPr lang="en-US" sz="1000" dirty="0">
                <a:solidFill>
                  <a:srgbClr val="FFFFFF"/>
                </a:solidFill>
              </a:rPr>
              <a:t>▸  Automatic MITRE ATT&amp;CK mapping</a:t>
            </a:r>
          </a:p>
          <a:p>
            <a:pPr marL="228600" indent="0">
              <a:buNone/>
            </a:pPr>
            <a:r>
              <a:rPr lang="en-US" sz="1000" dirty="0">
                <a:solidFill>
                  <a:srgbClr val="FFFFFF"/>
                </a:solidFill>
              </a:rPr>
              <a:t>▸  AI-authored professional PDF report</a:t>
            </a:r>
          </a:p>
        </p:txBody>
      </p:sp>
      <p:sp>
        <p:nvSpPr>
          <p:cNvPr id="11" name="Shape 9"/>
          <p:cNvSpPr/>
          <p:nvPr/>
        </p:nvSpPr>
        <p:spPr>
          <a:xfrm>
            <a:off x="457200" y="4526280"/>
            <a:ext cx="8229600" cy="457200"/>
          </a:xfrm>
          <a:prstGeom prst="rect">
            <a:avLst/>
          </a:prstGeom>
          <a:solidFill>
            <a:srgbClr val="E63946"/>
          </a:solidFill>
          <a:ln w="12700">
            <a:solidFill>
              <a:srgbClr val="E63946"/>
            </a:solidFill>
          </a:ln>
        </p:spPr>
        <p:txBody>
          <a:bodyPr/>
          <a:lstStyle/>
          <a:p>
            <a:endParaRPr lang="en-US"/>
          </a:p>
        </p:txBody>
      </p:sp>
      <p:sp>
        <p:nvSpPr>
          <p:cNvPr id="12" name="Text 10"/>
          <p:cNvSpPr/>
          <p:nvPr/>
        </p:nvSpPr>
        <p:spPr>
          <a:xfrm>
            <a:off x="548640" y="4526280"/>
            <a:ext cx="8046720" cy="457200"/>
          </a:xfrm>
          <a:prstGeom prst="rect">
            <a:avLst/>
          </a:prstGeom>
          <a:noFill/>
          <a:ln/>
        </p:spPr>
        <p:txBody>
          <a:bodyPr wrap="square" lIns="0" tIns="0" rIns="0" bIns="0" rtlCol="0" anchor="ctr"/>
          <a:lstStyle/>
          <a:p>
            <a:pPr marL="0" indent="0" algn="ctr">
              <a:buNone/>
            </a:pPr>
            <a:r>
              <a:rPr lang="en-US" sz="1100" b="1" i="1" dirty="0">
                <a:solidFill>
                  <a:srgbClr val="FFFFFF"/>
                </a:solidFill>
              </a:rPr>
              <a:t>AGHORA applies the same analytical approach to any sample that this research applied to LATAM threat groups.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GHORA Achievements">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63946"/>
          </a:solidFill>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FFFFFF"/>
                </a:solidFill>
              </a:rPr>
              <a:t>AGHORA — Key Achievements</a:t>
            </a:r>
          </a:p>
        </p:txBody>
      </p:sp>
      <p:sp>
        <p:nvSpPr>
          <p:cNvPr id="4" name="Shape 2"/>
          <p:cNvSpPr/>
          <p:nvPr/>
        </p:nvSpPr>
        <p:spPr>
          <a:xfrm>
            <a:off x="457200" y="914400"/>
            <a:ext cx="8229600" cy="530352"/>
          </a:xfrm>
          <a:prstGeom prst="rect">
            <a:avLst/>
          </a:prstGeom>
          <a:solidFill>
            <a:srgbClr val="1D3557"/>
          </a:solidFill>
          <a:ln w="6350">
            <a:solidFill>
              <a:srgbClr val="457B9D"/>
            </a:solidFill>
          </a:ln>
        </p:spPr>
        <p:txBody>
          <a:bodyPr/>
          <a:lstStyle/>
          <a:p>
            <a:endParaRPr lang="en-US"/>
          </a:p>
        </p:txBody>
      </p:sp>
      <p:sp>
        <p:nvSpPr>
          <p:cNvPr id="5" name="Text 3"/>
          <p:cNvSpPr/>
          <p:nvPr/>
        </p:nvSpPr>
        <p:spPr>
          <a:xfrm>
            <a:off x="502920" y="91440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a:t>
            </a:r>
          </a:p>
        </p:txBody>
      </p:sp>
      <p:sp>
        <p:nvSpPr>
          <p:cNvPr id="6" name="Text 4"/>
          <p:cNvSpPr/>
          <p:nvPr/>
        </p:nvSpPr>
        <p:spPr>
          <a:xfrm>
            <a:off x="960120" y="914400"/>
            <a:ext cx="7589520" cy="530352"/>
          </a:xfrm>
          <a:prstGeom prst="rect">
            <a:avLst/>
          </a:prstGeom>
          <a:noFill/>
          <a:ln/>
        </p:spPr>
        <p:txBody>
          <a:bodyPr wrap="square" lIns="0" tIns="0" rIns="0" bIns="0" rtlCol="0" anchor="ctr"/>
          <a:lstStyle/>
          <a:p>
            <a:pPr marL="0" indent="0">
              <a:buNone/>
            </a:pPr>
            <a:r>
              <a:rPr lang="en-US" sz="1100" b="1" dirty="0">
                <a:solidFill>
                  <a:srgbClr val="A8DADC"/>
                </a:solidFill>
              </a:rPr>
              <a:t>Full-stack AI malware platform — </a:t>
            </a:r>
            <a:r>
              <a:rPr lang="en-US" sz="1100" dirty="0">
                <a:solidFill>
                  <a:srgbClr val="FFFFFF"/>
                </a:solidFill>
              </a:rPr>
              <a:t>Next.JS frontend + FastAPI backend + Python analysis engine, all integrated end-to-end</a:t>
            </a:r>
          </a:p>
        </p:txBody>
      </p:sp>
      <p:sp>
        <p:nvSpPr>
          <p:cNvPr id="7" name="Shape 5"/>
          <p:cNvSpPr/>
          <p:nvPr/>
        </p:nvSpPr>
        <p:spPr>
          <a:xfrm>
            <a:off x="457200" y="1554480"/>
            <a:ext cx="8229600" cy="530352"/>
          </a:xfrm>
          <a:prstGeom prst="rect">
            <a:avLst/>
          </a:prstGeom>
          <a:solidFill>
            <a:srgbClr val="1D3557">
              <a:alpha val="70000"/>
            </a:srgbClr>
          </a:solidFill>
          <a:ln w="6350">
            <a:solidFill>
              <a:srgbClr val="457B9D"/>
            </a:solidFill>
          </a:ln>
        </p:spPr>
        <p:txBody>
          <a:bodyPr/>
          <a:lstStyle/>
          <a:p>
            <a:endParaRPr lang="en-US"/>
          </a:p>
        </p:txBody>
      </p:sp>
      <p:sp>
        <p:nvSpPr>
          <p:cNvPr id="8" name="Text 6"/>
          <p:cNvSpPr/>
          <p:nvPr/>
        </p:nvSpPr>
        <p:spPr>
          <a:xfrm>
            <a:off x="502920" y="155448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a:t>
            </a:r>
          </a:p>
        </p:txBody>
      </p:sp>
      <p:sp>
        <p:nvSpPr>
          <p:cNvPr id="9" name="Text 7"/>
          <p:cNvSpPr/>
          <p:nvPr/>
        </p:nvSpPr>
        <p:spPr>
          <a:xfrm>
            <a:off x="960120" y="1554480"/>
            <a:ext cx="7589520" cy="530352"/>
          </a:xfrm>
          <a:prstGeom prst="rect">
            <a:avLst/>
          </a:prstGeom>
          <a:noFill/>
          <a:ln/>
        </p:spPr>
        <p:txBody>
          <a:bodyPr wrap="square" lIns="0" tIns="0" rIns="0" bIns="0" rtlCol="0" anchor="ctr"/>
          <a:lstStyle/>
          <a:p>
            <a:pPr marL="0" indent="0">
              <a:buNone/>
            </a:pPr>
            <a:r>
              <a:rPr lang="en-US" sz="1100" b="1" dirty="0">
                <a:solidFill>
                  <a:srgbClr val="A8DADC"/>
                </a:solidFill>
              </a:rPr>
              <a:t>Ghidra headless decompilation integration — </a:t>
            </a:r>
            <a:r>
              <a:rPr lang="en-US" sz="1100" dirty="0">
                <a:solidFill>
                  <a:srgbClr val="FFFFFF"/>
                </a:solidFill>
              </a:rPr>
              <a:t>automated reverse engineering embedded in the analysis pipeline</a:t>
            </a:r>
          </a:p>
        </p:txBody>
      </p:sp>
      <p:sp>
        <p:nvSpPr>
          <p:cNvPr id="10" name="Shape 8"/>
          <p:cNvSpPr/>
          <p:nvPr/>
        </p:nvSpPr>
        <p:spPr>
          <a:xfrm>
            <a:off x="457200" y="2194560"/>
            <a:ext cx="8229600" cy="530352"/>
          </a:xfrm>
          <a:prstGeom prst="rect">
            <a:avLst/>
          </a:prstGeom>
          <a:solidFill>
            <a:srgbClr val="1D3557"/>
          </a:solidFill>
          <a:ln w="6350">
            <a:solidFill>
              <a:srgbClr val="457B9D"/>
            </a:solidFill>
          </a:ln>
        </p:spPr>
        <p:txBody>
          <a:bodyPr/>
          <a:lstStyle/>
          <a:p>
            <a:endParaRPr lang="en-US"/>
          </a:p>
        </p:txBody>
      </p:sp>
      <p:sp>
        <p:nvSpPr>
          <p:cNvPr id="11" name="Text 9"/>
          <p:cNvSpPr/>
          <p:nvPr/>
        </p:nvSpPr>
        <p:spPr>
          <a:xfrm>
            <a:off x="502920" y="219456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a:t>
            </a:r>
          </a:p>
        </p:txBody>
      </p:sp>
      <p:sp>
        <p:nvSpPr>
          <p:cNvPr id="12" name="Text 10"/>
          <p:cNvSpPr/>
          <p:nvPr/>
        </p:nvSpPr>
        <p:spPr>
          <a:xfrm>
            <a:off x="960120" y="2194560"/>
            <a:ext cx="7589520" cy="530352"/>
          </a:xfrm>
          <a:prstGeom prst="rect">
            <a:avLst/>
          </a:prstGeom>
          <a:noFill/>
          <a:ln/>
        </p:spPr>
        <p:txBody>
          <a:bodyPr wrap="square" lIns="0" tIns="0" rIns="0" bIns="0" rtlCol="0" anchor="ctr"/>
          <a:lstStyle/>
          <a:p>
            <a:pPr marL="0" indent="0">
              <a:buNone/>
            </a:pPr>
            <a:r>
              <a:rPr lang="en-US" sz="1100" b="1" dirty="0">
                <a:solidFill>
                  <a:srgbClr val="A8DADC"/>
                </a:solidFill>
              </a:rPr>
              <a:t>Local-LLM powered narrative reporting — </a:t>
            </a:r>
            <a:r>
              <a:rPr lang="en-US" sz="1100" dirty="0">
                <a:solidFill>
                  <a:srgbClr val="FFFFFF"/>
                </a:solidFill>
              </a:rPr>
              <a:t>AI writes full analyst assessment citing specific binary evidence, fully air-gapped</a:t>
            </a:r>
          </a:p>
        </p:txBody>
      </p:sp>
      <p:sp>
        <p:nvSpPr>
          <p:cNvPr id="13" name="Shape 11"/>
          <p:cNvSpPr/>
          <p:nvPr/>
        </p:nvSpPr>
        <p:spPr>
          <a:xfrm>
            <a:off x="457200" y="2834640"/>
            <a:ext cx="8229600" cy="530352"/>
          </a:xfrm>
          <a:prstGeom prst="rect">
            <a:avLst/>
          </a:prstGeom>
          <a:solidFill>
            <a:srgbClr val="1D3557">
              <a:alpha val="70000"/>
            </a:srgbClr>
          </a:solidFill>
          <a:ln w="6350">
            <a:solidFill>
              <a:srgbClr val="457B9D"/>
            </a:solidFill>
          </a:ln>
        </p:spPr>
        <p:txBody>
          <a:bodyPr/>
          <a:lstStyle/>
          <a:p>
            <a:endParaRPr lang="en-US"/>
          </a:p>
        </p:txBody>
      </p:sp>
      <p:sp>
        <p:nvSpPr>
          <p:cNvPr id="14" name="Text 12"/>
          <p:cNvSpPr/>
          <p:nvPr/>
        </p:nvSpPr>
        <p:spPr>
          <a:xfrm>
            <a:off x="502920" y="283464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a:t>
            </a:r>
          </a:p>
        </p:txBody>
      </p:sp>
      <p:sp>
        <p:nvSpPr>
          <p:cNvPr id="15" name="Text 13"/>
          <p:cNvSpPr/>
          <p:nvPr/>
        </p:nvSpPr>
        <p:spPr>
          <a:xfrm>
            <a:off x="960120" y="2834640"/>
            <a:ext cx="7589520" cy="530352"/>
          </a:xfrm>
          <a:prstGeom prst="rect">
            <a:avLst/>
          </a:prstGeom>
          <a:noFill/>
          <a:ln/>
        </p:spPr>
        <p:txBody>
          <a:bodyPr wrap="square" lIns="0" tIns="0" rIns="0" bIns="0" rtlCol="0" anchor="ctr"/>
          <a:lstStyle/>
          <a:p>
            <a:pPr marL="0" indent="0">
              <a:buNone/>
            </a:pPr>
            <a:r>
              <a:rPr lang="en-US" sz="1100" b="1" dirty="0">
                <a:solidFill>
                  <a:srgbClr val="A8DADC"/>
                </a:solidFill>
              </a:rPr>
              <a:t>Real-time WebSocket analysis tracking + live progress — </a:t>
            </a:r>
            <a:r>
              <a:rPr lang="en-US" sz="1100" dirty="0">
                <a:solidFill>
                  <a:srgbClr val="FFFFFF"/>
                </a:solidFill>
              </a:rPr>
              <a:t>users see live step-by-step analysis status as it happens</a:t>
            </a:r>
          </a:p>
        </p:txBody>
      </p:sp>
      <p:sp>
        <p:nvSpPr>
          <p:cNvPr id="16" name="Shape 14"/>
          <p:cNvSpPr/>
          <p:nvPr/>
        </p:nvSpPr>
        <p:spPr>
          <a:xfrm>
            <a:off x="457200" y="3474720"/>
            <a:ext cx="8229600" cy="530352"/>
          </a:xfrm>
          <a:prstGeom prst="rect">
            <a:avLst/>
          </a:prstGeom>
          <a:solidFill>
            <a:srgbClr val="1D3557"/>
          </a:solidFill>
          <a:ln w="6350">
            <a:solidFill>
              <a:srgbClr val="457B9D"/>
            </a:solidFill>
          </a:ln>
        </p:spPr>
        <p:txBody>
          <a:bodyPr/>
          <a:lstStyle/>
          <a:p>
            <a:endParaRPr lang="en-US"/>
          </a:p>
        </p:txBody>
      </p:sp>
      <p:sp>
        <p:nvSpPr>
          <p:cNvPr id="17" name="Text 15"/>
          <p:cNvSpPr/>
          <p:nvPr/>
        </p:nvSpPr>
        <p:spPr>
          <a:xfrm>
            <a:off x="502920" y="3474720"/>
            <a:ext cx="365760" cy="530352"/>
          </a:xfrm>
          <a:prstGeom prst="rect">
            <a:avLst/>
          </a:prstGeom>
          <a:noFill/>
          <a:ln/>
        </p:spPr>
        <p:txBody>
          <a:bodyPr wrap="square" lIns="0" tIns="0" rIns="0" bIns="0" rtlCol="0" anchor="ctr"/>
          <a:lstStyle/>
          <a:p>
            <a:pPr marL="0" indent="0" algn="ctr">
              <a:buNone/>
            </a:pPr>
            <a:r>
              <a:rPr lang="en-US" sz="1400" b="1" dirty="0">
                <a:solidFill>
                  <a:srgbClr val="E63946"/>
                </a:solidFill>
              </a:rPr>
              <a:t>★</a:t>
            </a:r>
          </a:p>
        </p:txBody>
      </p:sp>
      <p:sp>
        <p:nvSpPr>
          <p:cNvPr id="18" name="Text 16"/>
          <p:cNvSpPr/>
          <p:nvPr/>
        </p:nvSpPr>
        <p:spPr>
          <a:xfrm>
            <a:off x="960120" y="3474720"/>
            <a:ext cx="7589520" cy="530352"/>
          </a:xfrm>
          <a:prstGeom prst="rect">
            <a:avLst/>
          </a:prstGeom>
          <a:noFill/>
          <a:ln/>
        </p:spPr>
        <p:txBody>
          <a:bodyPr wrap="square" lIns="0" tIns="0" rIns="0" bIns="0" rtlCol="0" anchor="ctr"/>
          <a:lstStyle/>
          <a:p>
            <a:pPr marL="0" indent="0">
              <a:buNone/>
            </a:pPr>
            <a:r>
              <a:rPr lang="en-US" sz="1100" b="1" dirty="0">
                <a:solidFill>
                  <a:srgbClr val="A8DADC"/>
                </a:solidFill>
              </a:rPr>
              <a:t>MITRE ATT&amp;CK auto-mapping + IOC graph visualization — </a:t>
            </a:r>
            <a:r>
              <a:rPr lang="en-US" sz="1100" dirty="0">
                <a:solidFill>
                  <a:srgbClr val="FFFFFF"/>
                </a:solidFill>
              </a:rPr>
              <a:t>interactive relationship graph built from extracted indicators</a:t>
            </a:r>
          </a:p>
        </p:txBody>
      </p:sp>
      <p:sp>
        <p:nvSpPr>
          <p:cNvPr id="19" name="Shape 17"/>
          <p:cNvSpPr/>
          <p:nvPr/>
        </p:nvSpPr>
        <p:spPr>
          <a:xfrm>
            <a:off x="457200" y="4343400"/>
            <a:ext cx="8229600" cy="640080"/>
          </a:xfrm>
          <a:prstGeom prst="rect">
            <a:avLst/>
          </a:prstGeom>
          <a:solidFill>
            <a:srgbClr val="E63946"/>
          </a:solidFill>
          <a:ln w="12700">
            <a:solidFill>
              <a:srgbClr val="E63946"/>
            </a:solidFill>
          </a:ln>
        </p:spPr>
        <p:txBody>
          <a:bodyPr/>
          <a:lstStyle/>
          <a:p>
            <a:endParaRPr lang="en-US"/>
          </a:p>
        </p:txBody>
      </p:sp>
      <p:sp>
        <p:nvSpPr>
          <p:cNvPr id="20" name="Text 18"/>
          <p:cNvSpPr/>
          <p:nvPr/>
        </p:nvSpPr>
        <p:spPr>
          <a:xfrm>
            <a:off x="548640" y="4343400"/>
            <a:ext cx="8046720" cy="640080"/>
          </a:xfrm>
          <a:prstGeom prst="rect">
            <a:avLst/>
          </a:prstGeom>
          <a:noFill/>
          <a:ln/>
        </p:spPr>
        <p:txBody>
          <a:bodyPr wrap="square" lIns="0" tIns="0" rIns="0" bIns="0" rtlCol="0" anchor="ctr"/>
          <a:lstStyle/>
          <a:p>
            <a:pPr marL="0" indent="0" algn="ctr">
              <a:buNone/>
            </a:pPr>
            <a:r>
              <a:rPr lang="en-US" sz="1200" b="1" i="1" dirty="0">
                <a:solidFill>
                  <a:srgbClr val="FFFFFF"/>
                </a:solidFill>
              </a:rPr>
              <a:t>AGHORA operationalizes this research — from threat intelligence to automated detection in a single platform.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57B9D"/>
          </a:solidFill>
          <a:ln w="12700">
            <a:solidFill>
              <a:srgbClr val="457B9D"/>
            </a:solidFill>
            <a:prstDash val="solid"/>
          </a:ln>
        </p:spPr>
        <p:txBody>
          <a:bodyPr/>
          <a:lstStyle/>
          <a:p>
            <a:endParaRPr lang="en-US"/>
          </a:p>
        </p:txBody>
      </p:sp>
      <p:sp>
        <p:nvSpPr>
          <p:cNvPr id="3" name="Text 1"/>
          <p:cNvSpPr/>
          <p:nvPr/>
        </p:nvSpPr>
        <p:spPr>
          <a:xfrm>
            <a:off x="457200" y="182880"/>
            <a:ext cx="8229600" cy="548640"/>
          </a:xfrm>
          <a:prstGeom prst="rect">
            <a:avLst/>
          </a:prstGeom>
          <a:noFill/>
          <a:ln/>
        </p:spPr>
        <p:txBody>
          <a:bodyPr wrap="square" lIns="0" tIns="0" rIns="0" bIns="0" rtlCol="0" anchor="ctr"/>
          <a:lstStyle/>
          <a:p>
            <a:pPr marL="0" indent="0">
              <a:buNone/>
            </a:pPr>
            <a:r>
              <a:rPr lang="en-US" sz="2800" b="1" dirty="0">
                <a:solidFill>
                  <a:srgbClr val="FFFFFF"/>
                </a:solidFill>
              </a:rPr>
              <a:t>References</a:t>
            </a:r>
            <a:endParaRPr lang="en-US" sz="2800" dirty="0"/>
          </a:p>
        </p:txBody>
      </p:sp>
      <p:sp>
        <p:nvSpPr>
          <p:cNvPr id="4" name="Text 2"/>
          <p:cNvSpPr/>
          <p:nvPr/>
        </p:nvSpPr>
        <p:spPr>
          <a:xfrm>
            <a:off x="457200" y="914400"/>
            <a:ext cx="8229600" cy="475488"/>
          </a:xfrm>
          <a:prstGeom prst="rect">
            <a:avLst/>
          </a:prstGeom>
          <a:noFill/>
          <a:ln/>
        </p:spPr>
        <p:txBody>
          <a:bodyPr wrap="square" lIns="0" tIns="0" rIns="0" bIns="0" rtlCol="0" anchor="ctr"/>
          <a:lstStyle/>
          <a:p>
            <a:pPr marL="0" indent="0">
              <a:buNone/>
            </a:pPr>
            <a:r>
              <a:rPr lang="en-US" sz="1100" dirty="0">
                <a:solidFill>
                  <a:srgbClr val="A8DADC"/>
                </a:solidFill>
              </a:rPr>
              <a:t>[1]  MITRE ATT&amp;CK. (2024–2026). Enterprise ATT&amp;CK Framework. https://attack.mitre.org</a:t>
            </a:r>
            <a:endParaRPr lang="en-US" sz="1100" dirty="0"/>
          </a:p>
        </p:txBody>
      </p:sp>
      <p:sp>
        <p:nvSpPr>
          <p:cNvPr id="5" name="Text 3"/>
          <p:cNvSpPr/>
          <p:nvPr/>
        </p:nvSpPr>
        <p:spPr>
          <a:xfrm>
            <a:off x="457200" y="1463040"/>
            <a:ext cx="8229600" cy="475488"/>
          </a:xfrm>
          <a:prstGeom prst="rect">
            <a:avLst/>
          </a:prstGeom>
          <a:noFill/>
          <a:ln/>
        </p:spPr>
        <p:txBody>
          <a:bodyPr wrap="square" lIns="0" tIns="0" rIns="0" bIns="0" rtlCol="0" anchor="ctr"/>
          <a:lstStyle/>
          <a:p>
            <a:pPr marL="0" indent="0">
              <a:buNone/>
            </a:pPr>
            <a:r>
              <a:rPr lang="en-US" sz="1100" dirty="0">
                <a:solidFill>
                  <a:srgbClr val="F1F1F1"/>
                </a:solidFill>
              </a:rPr>
              <a:t>[2]  INTERPOL. (2024). Disrupting a Grandoreiro malware operation.</a:t>
            </a:r>
            <a:endParaRPr lang="en-US" sz="1100" dirty="0"/>
          </a:p>
        </p:txBody>
      </p:sp>
      <p:sp>
        <p:nvSpPr>
          <p:cNvPr id="6" name="Text 4"/>
          <p:cNvSpPr/>
          <p:nvPr/>
        </p:nvSpPr>
        <p:spPr>
          <a:xfrm>
            <a:off x="457200" y="2011680"/>
            <a:ext cx="8229600" cy="475488"/>
          </a:xfrm>
          <a:prstGeom prst="rect">
            <a:avLst/>
          </a:prstGeom>
          <a:noFill/>
          <a:ln/>
        </p:spPr>
        <p:txBody>
          <a:bodyPr wrap="square" lIns="0" tIns="0" rIns="0" bIns="0" rtlCol="0" anchor="ctr"/>
          <a:lstStyle/>
          <a:p>
            <a:pPr marL="0" indent="0">
              <a:buNone/>
            </a:pPr>
            <a:r>
              <a:rPr lang="en-US" sz="1100" dirty="0">
                <a:solidFill>
                  <a:srgbClr val="F1F1F1"/>
                </a:solidFill>
              </a:rPr>
              <a:t>[3]  CrowdStrike. (2024). LATAM eCrime Malware Evolution Report.</a:t>
            </a:r>
            <a:endParaRPr lang="en-US" sz="1100" dirty="0"/>
          </a:p>
        </p:txBody>
      </p:sp>
      <p:sp>
        <p:nvSpPr>
          <p:cNvPr id="7" name="Text 5"/>
          <p:cNvSpPr/>
          <p:nvPr/>
        </p:nvSpPr>
        <p:spPr>
          <a:xfrm>
            <a:off x="457200" y="2560320"/>
            <a:ext cx="8229600" cy="475488"/>
          </a:xfrm>
          <a:prstGeom prst="rect">
            <a:avLst/>
          </a:prstGeom>
          <a:noFill/>
          <a:ln/>
        </p:spPr>
        <p:txBody>
          <a:bodyPr wrap="square" lIns="0" tIns="0" rIns="0" bIns="0" rtlCol="0" anchor="ctr"/>
          <a:lstStyle/>
          <a:p>
            <a:pPr marL="0" indent="0">
              <a:buNone/>
            </a:pPr>
            <a:r>
              <a:rPr lang="en-US" sz="1100" dirty="0">
                <a:solidFill>
                  <a:srgbClr val="F1F1F1"/>
                </a:solidFill>
              </a:rPr>
              <a:t>[4]  Cisco Talos. (2024). Cloud abuse in LATAM banking campaigns.</a:t>
            </a:r>
            <a:endParaRPr lang="en-US" sz="1100" dirty="0"/>
          </a:p>
        </p:txBody>
      </p:sp>
      <p:sp>
        <p:nvSpPr>
          <p:cNvPr id="8" name="Text 6"/>
          <p:cNvSpPr/>
          <p:nvPr/>
        </p:nvSpPr>
        <p:spPr>
          <a:xfrm>
            <a:off x="457200" y="3108960"/>
            <a:ext cx="8229600" cy="475488"/>
          </a:xfrm>
          <a:prstGeom prst="rect">
            <a:avLst/>
          </a:prstGeom>
          <a:noFill/>
          <a:ln/>
        </p:spPr>
        <p:txBody>
          <a:bodyPr wrap="square" lIns="0" tIns="0" rIns="0" bIns="0" rtlCol="0" anchor="ctr"/>
          <a:lstStyle/>
          <a:p>
            <a:pPr marL="0" indent="0">
              <a:buNone/>
            </a:pPr>
            <a:r>
              <a:rPr lang="en-US" sz="1100" dirty="0">
                <a:solidFill>
                  <a:srgbClr val="F1F1F1"/>
                </a:solidFill>
              </a:rPr>
              <a:t>[5]  Palo Alto Networks Unit 42. (2025). Lampion &amp; banking malware analysis.</a:t>
            </a:r>
            <a:endParaRPr lang="en-US" sz="1100" dirty="0"/>
          </a:p>
        </p:txBody>
      </p:sp>
      <p:sp>
        <p:nvSpPr>
          <p:cNvPr id="9" name="Text 7"/>
          <p:cNvSpPr/>
          <p:nvPr/>
        </p:nvSpPr>
        <p:spPr>
          <a:xfrm>
            <a:off x="457200" y="3657600"/>
            <a:ext cx="8229600" cy="475488"/>
          </a:xfrm>
          <a:prstGeom prst="rect">
            <a:avLst/>
          </a:prstGeom>
          <a:noFill/>
          <a:ln/>
        </p:spPr>
        <p:txBody>
          <a:bodyPr wrap="square" lIns="0" tIns="0" rIns="0" bIns="0" rtlCol="0" anchor="ctr"/>
          <a:lstStyle/>
          <a:p>
            <a:pPr marL="0" indent="0">
              <a:buNone/>
            </a:pPr>
            <a:r>
              <a:rPr lang="en-US" sz="1100" dirty="0">
                <a:solidFill>
                  <a:srgbClr val="F1F1F1"/>
                </a:solidFill>
              </a:rPr>
              <a:t>[6]  Trend Micro. (2024). Mekotio Banking Trojan Research.</a:t>
            </a:r>
            <a:endParaRPr lang="en-US" sz="1100" dirty="0"/>
          </a:p>
        </p:txBody>
      </p:sp>
      <p:sp>
        <p:nvSpPr>
          <p:cNvPr id="10" name="Text 8"/>
          <p:cNvSpPr/>
          <p:nvPr/>
        </p:nvSpPr>
        <p:spPr>
          <a:xfrm>
            <a:off x="457200" y="4206240"/>
            <a:ext cx="8229600" cy="475488"/>
          </a:xfrm>
          <a:prstGeom prst="rect">
            <a:avLst/>
          </a:prstGeom>
          <a:noFill/>
          <a:ln/>
        </p:spPr>
        <p:txBody>
          <a:bodyPr wrap="square" lIns="0" tIns="0" rIns="0" bIns="0" rtlCol="0" anchor="ctr"/>
          <a:lstStyle/>
          <a:p>
            <a:pPr marL="0" indent="0">
              <a:buNone/>
            </a:pPr>
            <a:r>
              <a:rPr lang="en-US" sz="1100" dirty="0">
                <a:solidFill>
                  <a:srgbClr val="F1F1F1"/>
                </a:solidFill>
              </a:rPr>
              <a:t>[7]  Kaspersky Securelist. (2020–2024). Tétrade banking malware ecosystem.</a:t>
            </a:r>
            <a:endParaRPr lang="en-US" sz="1100" dirty="0"/>
          </a:p>
        </p:txBody>
      </p:sp>
      <p:sp>
        <p:nvSpPr>
          <p:cNvPr id="11" name="Shape 9"/>
          <p:cNvSpPr/>
          <p:nvPr/>
        </p:nvSpPr>
        <p:spPr>
          <a:xfrm>
            <a:off x="0" y="4892040"/>
            <a:ext cx="9144000" cy="251460"/>
          </a:xfrm>
          <a:prstGeom prst="rect">
            <a:avLst/>
          </a:prstGeom>
          <a:solidFill>
            <a:srgbClr val="1D3557"/>
          </a:solidFill>
          <a:ln w="12700">
            <a:solidFill>
              <a:srgbClr val="1D3557"/>
            </a:solidFill>
            <a:prstDash val="solid"/>
          </a:ln>
        </p:spPr>
        <p:txBody>
          <a:bodyPr/>
          <a:lstStyle/>
          <a:p>
            <a:endParaRPr lang="en-US"/>
          </a:p>
        </p:txBody>
      </p:sp>
      <p:sp>
        <p:nvSpPr>
          <p:cNvPr id="12" name="Text 10"/>
          <p:cNvSpPr/>
          <p:nvPr/>
        </p:nvSpPr>
        <p:spPr>
          <a:xfrm>
            <a:off x="274320" y="4892040"/>
            <a:ext cx="8595360" cy="251460"/>
          </a:xfrm>
          <a:prstGeom prst="rect">
            <a:avLst/>
          </a:prstGeom>
          <a:noFill/>
          <a:ln/>
        </p:spPr>
        <p:txBody>
          <a:bodyPr wrap="square" lIns="0" tIns="0" rIns="0" bIns="0" rtlCol="0" anchor="ctr"/>
          <a:lstStyle/>
          <a:p>
            <a:pPr marL="0" indent="0" algn="ctr">
              <a:buNone/>
            </a:pPr>
            <a:r>
              <a:rPr lang="en-US" sz="900" dirty="0">
                <a:solidFill>
                  <a:srgbClr val="8899A6"/>
                </a:solidFill>
              </a:rPr>
              <a:t>Beyond ASTAROTH: LATAM Threat Groups, Malware Ecosystems, and Evolving Tradecraft  |  Karthikeya Thota  |  Eastern Michigan University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1142</TotalTime>
  <Words>2814</Words>
  <Application>Microsoft Office PowerPoint</Application>
  <PresentationFormat>On-screen Show (16:9)</PresentationFormat>
  <Paragraphs>308</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ASTAROTH: LATAM Threat Groups</dc:title>
  <dc:creator>Karthikeya Thota</dc:creator>
  <cp:lastModifiedBy>Karthikeya Thota</cp:lastModifiedBy>
  <cp:revision>30</cp:revision>
  <dcterms:created xsi:type="dcterms:W3CDTF">2026-02-27T17:14:19Z</dcterms:created>
  <dcterms:modified xsi:type="dcterms:W3CDTF">2026-04-27T05:31:10Z</dcterms:modified>
</cp:coreProperties>
</file>
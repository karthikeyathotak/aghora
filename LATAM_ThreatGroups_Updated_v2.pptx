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7" r:id="rId11"/>
    <p:sldId id="270" r:id="rId12"/>
    <p:sldId id="271" r:id="rId13"/>
    <p:sldId id="273" r:id="rId14"/>
    <p:sldId id="272"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0062" autoAdjust="0"/>
  </p:normalViewPr>
  <p:slideViewPr>
    <p:cSldViewPr snapToGrid="0" snapToObjects="1">
      <p:cViewPr varScale="1">
        <p:scale>
          <a:sx n="124" d="100"/>
          <a:sy n="124" d="100"/>
        </p:scale>
        <p:origin x="70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6507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to everyone.</a:t>
            </a:r>
          </a:p>
          <a:p>
            <a:endParaRPr lang="en-US" dirty="0"/>
          </a:p>
          <a:p>
            <a:r>
              <a:rPr lang="en-US" dirty="0"/>
              <a:t>So, my name is Karthikeya Thota, </a:t>
            </a:r>
          </a:p>
          <a:p>
            <a:endParaRPr lang="en-US" dirty="0"/>
          </a:p>
          <a:p>
            <a:r>
              <a:rPr lang="en-US" dirty="0"/>
              <a:t>Tonight I want to take you somewhere a little different. </a:t>
            </a:r>
          </a:p>
          <a:p>
            <a:endParaRPr lang="en-US" dirty="0"/>
          </a:p>
          <a:p>
            <a:r>
              <a:rPr lang="en-US" dirty="0"/>
              <a:t>We're going to look at what's been happening in the Latin American threat landscape…some groups that are honestly way more sophisticated than most people give them credit for. </a:t>
            </a:r>
          </a:p>
          <a:p>
            <a:endParaRPr lang="en-US" dirty="0"/>
          </a:p>
          <a:p>
            <a:r>
              <a:rPr lang="en-US" dirty="0"/>
              <a:t>And then at the end, I'm going to show you a tool I built that actually automates a lot of the analysis work we're about to talk </a:t>
            </a:r>
            <a:r>
              <a:rPr lang="en-US" dirty="0" err="1"/>
              <a:t>about.So</a:t>
            </a:r>
            <a:r>
              <a:rPr lang="en-US" dirty="0"/>
              <a:t>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quick — who am I, right? So I'm a student at Eastern Michigan University, doing a combined bachelor's and master in cybersecurity, focused malware analysis and offensive Security. Outside of school, I am also a  vice president of GDSC( Google Developer Student Club). I also run a home lab — got a </a:t>
            </a:r>
            <a:r>
              <a:rPr lang="en-US" dirty="0" err="1"/>
              <a:t>Proxmox</a:t>
            </a:r>
            <a:r>
              <a:rPr lang="en-US" dirty="0"/>
              <a:t> setup.</a:t>
            </a:r>
          </a:p>
          <a:p>
            <a:endParaRPr lang="en-US" dirty="0"/>
          </a:p>
          <a:p>
            <a:r>
              <a:rPr lang="en-US" dirty="0"/>
              <a:t>where I actually sandbox and run malware in a controlled environment. So when I talk about this stuff tonight, it's coming from actual hands-on research, not just reading papers.</a:t>
            </a:r>
          </a:p>
          <a:p>
            <a:endParaRPr lang="en-US" dirty="0"/>
          </a:p>
          <a:p>
            <a:r>
              <a:rPr lang="en-US" dirty="0"/>
              <a:t>I've won in about eight hackathons and CTF competitions all over Michigan, mostly in the AI and cybersecurity space. And the biggest thing I've been building is something called AGHORA, which is an AI-powered malware analysis platform I wrote from scratch. We'll get to that toward the end </a:t>
            </a:r>
            <a:r>
              <a:rPr lang="en-US" dirty="0" err="1"/>
              <a:t>tonight.And</a:t>
            </a:r>
            <a:r>
              <a:rPr lang="en-US" dirty="0"/>
              <a:t> I'm genuinely happy to be part of this chapter. It's a great community, and I'm excited to share what I've been working on with you all.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 me frame the research for you. The question I kept coming back to was </a:t>
            </a:r>
            <a:r>
              <a:rPr lang="en-US" dirty="0" err="1"/>
              <a:t>this:Are</a:t>
            </a:r>
            <a:r>
              <a:rPr lang="en-US" dirty="0"/>
              <a:t> the threat groups coming out of Latin America just isolated criminal gangs doing their own thing? Or are they more like an ecosystem — sharing ideas, sharing techniques, learning from each </a:t>
            </a:r>
            <a:r>
              <a:rPr lang="en-US" dirty="0" err="1"/>
              <a:t>other?Because</a:t>
            </a:r>
            <a:r>
              <a:rPr lang="en-US" dirty="0"/>
              <a:t> the answer to that question completely changes how you think about defending against </a:t>
            </a:r>
            <a:r>
              <a:rPr lang="en-US" dirty="0" err="1"/>
              <a:t>them.I</a:t>
            </a:r>
            <a:r>
              <a:rPr lang="en-US" dirty="0"/>
              <a:t> focused on groups active from 2024 through 2026, pulled real campaign artifacts, mapped everything to MITRE ATT&amp;CK, and compared them side by side to see what patterns showed up. Keep that question in mind as we walk through the individual families.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 some of you might be thinking, okay, South American threat groups, why does that affect me sitting here in Michigan? And that's a fair question. But here's the thing — these are not regional threats </a:t>
            </a:r>
            <a:r>
              <a:rPr lang="en-US" dirty="0" err="1"/>
              <a:t>anymore.LATAM</a:t>
            </a:r>
            <a:r>
              <a:rPr lang="en-US" dirty="0"/>
              <a:t> banking malware has been showing up in European and North American campaigns. And I think the most telling example is </a:t>
            </a:r>
            <a:r>
              <a:rPr lang="en-US" dirty="0" err="1"/>
              <a:t>Grandoreiro</a:t>
            </a:r>
            <a:r>
              <a:rPr lang="en-US" dirty="0"/>
              <a:t>. There was a big international law enforcement action in 2024 that took it down. And you'd think, great, problem solved. But it wasn't. The infrastructure survived. The knowledge survived. The people behind it didn't disappear — they </a:t>
            </a:r>
            <a:r>
              <a:rPr lang="en-US" dirty="0" err="1"/>
              <a:t>adapted.And</a:t>
            </a:r>
            <a:r>
              <a:rPr lang="en-US" dirty="0"/>
              <a:t> on top of that, these groups are iterating on their tools faster than most enterprise teams can write signatures to catch them. They're abusing Google Cloud Run, legitimate VPS providers — infrastructure that your network controls are basically giving a pass to because it looks </a:t>
            </a:r>
            <a:r>
              <a:rPr lang="en-US" dirty="0" err="1"/>
              <a:t>clean.The</a:t>
            </a:r>
            <a:r>
              <a:rPr lang="en-US" dirty="0"/>
              <a:t> bottom line is that the operational maturity of these groups is now genuinely comparable to global threat actors. These are not script kiddies.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first group — Blind Eagle, also tracked as APT-C-36. They primarily target Colombia and broader Latin American government and financial </a:t>
            </a:r>
            <a:r>
              <a:rPr lang="en-US" dirty="0" err="1"/>
              <a:t>sectors.What</a:t>
            </a:r>
            <a:r>
              <a:rPr lang="en-US" dirty="0"/>
              <a:t> stands out about them is their speed. When a new vulnerability drops, they move fast. We're talking a very short window between a patch being released and them having weaponized something based on it. That tells you they're actively watching vulnerability disclosures — this isn't opportunistic, it's </a:t>
            </a:r>
            <a:r>
              <a:rPr lang="en-US" dirty="0" err="1"/>
              <a:t>deliberate.Their</a:t>
            </a:r>
            <a:r>
              <a:rPr lang="en-US" dirty="0"/>
              <a:t> delivery chain uses spear phishing with weaponized attachments, web-based staging infrastructure, and WebDAV for payload URLs. And their C2 domains have very short TTLs — they're constantly burning through infrastructure to stay ahead of </a:t>
            </a:r>
            <a:r>
              <a:rPr lang="en-US" dirty="0" err="1"/>
              <a:t>blocklists.If</a:t>
            </a:r>
            <a:r>
              <a:rPr lang="en-US" dirty="0"/>
              <a:t> you're hunting for artifacts from this group: phishing lure templates, WebDAV staging URLs, and registry persistence entries are what you're looking for.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Grandoreiro</a:t>
            </a:r>
            <a:r>
              <a:rPr lang="en-US" dirty="0"/>
              <a:t> — this is probably the name most people in this room have heard before. It was the centerpiece of that 2024 international law enforcement action. And I want to spend a second on this because I think the lesson from it is really </a:t>
            </a:r>
            <a:r>
              <a:rPr lang="en-US" dirty="0" err="1"/>
              <a:t>important.The</a:t>
            </a:r>
            <a:r>
              <a:rPr lang="en-US" dirty="0"/>
              <a:t> takedown happened. It was real. But the capability didn't disappear. Why? Because the malware was modular — the loader was separate from the payload. The knowledge about how to build this kind of thing is still out there. Not everyone involved got </a:t>
            </a:r>
            <a:r>
              <a:rPr lang="en-US" dirty="0" err="1"/>
              <a:t>arrested.Technically</a:t>
            </a:r>
            <a:r>
              <a:rPr lang="en-US" dirty="0"/>
              <a:t>, this family used DGA — domain generation algorithms — to resolve C2, so you couldn't just block a static list of domains. It spread through Outlook client abuse. And it intercepted banking credentials through overlay attacks that literally display a fake login page on top of the real bank website, in real </a:t>
            </a:r>
            <a:r>
              <a:rPr lang="en-US" dirty="0" err="1"/>
              <a:t>time.And</a:t>
            </a:r>
            <a:r>
              <a:rPr lang="en-US" dirty="0"/>
              <a:t> the delivery chain — LNK files inside ZIPs — is still one of the most common techniques in use today. Because it still works. People still click </a:t>
            </a:r>
            <a:r>
              <a:rPr lang="en-US" dirty="0" err="1"/>
              <a:t>things.The</a:t>
            </a:r>
            <a:r>
              <a:rPr lang="en-US" dirty="0"/>
              <a:t> lesson: law enforcement action buys time. It doesn't solve the underlying ecosystem problem.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up — </a:t>
            </a:r>
            <a:r>
              <a:rPr lang="en-US" dirty="0" err="1"/>
              <a:t>Mispadu</a:t>
            </a:r>
            <a:r>
              <a:rPr lang="en-US" dirty="0"/>
              <a:t> and </a:t>
            </a:r>
            <a:r>
              <a:rPr lang="en-US" dirty="0" err="1"/>
              <a:t>Mekotio</a:t>
            </a:r>
            <a:r>
              <a:rPr lang="en-US" dirty="0"/>
              <a:t>. These two originate out of Brazil and have been active since roughly 2019, but they've seen significant evolution through 2024 and 2025. </a:t>
            </a:r>
            <a:r>
              <a:rPr lang="en-US" dirty="0" err="1"/>
              <a:t>Mispadu</a:t>
            </a:r>
            <a:r>
              <a:rPr lang="en-US" dirty="0"/>
              <a:t> primarily targets Brazil, Mexico, and Chile — financial sector users, everyday banking customers. </a:t>
            </a:r>
            <a:r>
              <a:rPr lang="en-US" dirty="0" err="1"/>
              <a:t>Mekotio</a:t>
            </a:r>
            <a:r>
              <a:rPr lang="en-US" dirty="0"/>
              <a:t> operates similarly across the same region and has also been observed expanding into Spanish-speaking Europe, particularly Spain.</a:t>
            </a:r>
          </a:p>
          <a:p>
            <a:r>
              <a:rPr lang="en-US" dirty="0"/>
              <a:t>What makes them worth covering together is that they're almost twins operationally. The delivery chain is: phishing email → user opens a ZIP → inside the ZIP is a malicious LNK shortcut → that LNK triggers PowerShell → PowerShell drops the payload. You could write a recipe card for it. Consistent, repeatable, and it keeps working because users keep opening things they shouldn't.</a:t>
            </a:r>
          </a:p>
          <a:p>
            <a:r>
              <a:rPr lang="en-US" dirty="0"/>
              <a:t>Both are focused on credential harvesting and clipboard monitoring. Clipboard monitoring is worth flagging specifically — if anyone in your organization handles cryptocurrency, anything they copy to their clipboard gets captured. Wallet addresses, passwords, one-time codes. Gone.</a:t>
            </a:r>
          </a:p>
          <a:p>
            <a:r>
              <a:rPr lang="en-US" dirty="0"/>
              <a:t>Both also deploy banking overlay attacks — fake login pages rendered on top of real bank websites in real time. They've invested real effort into making those overlays look convincing.</a:t>
            </a:r>
          </a:p>
          <a:p>
            <a:r>
              <a:rPr lang="en-US" dirty="0"/>
              <a:t>But here's the insight that stood out to me: these codebases are not being rewritten from scratch every few months. They are being refined. Small incremental improvements, regular update cycles, consistent structure across versions. That is a software development lifecycle. That is the kind of engineering discipline you'd expect from a professional team — not from what we tend to dismiss as crimeware.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Lampion has been around since 2019 and operates heavily in Portugal and Brazil — it targets banking customers specifically, with a strong focus on Portuguese-language lures. CHAVECLOAK is newer, emerging in 2023 and evolving through 2024, targeting Brazilian users and financial institutions.</a:t>
            </a:r>
          </a:p>
          <a:p>
            <a:r>
              <a:rPr lang="en-US" dirty="0"/>
              <a:t>Both groups made a significant technical pivot: they adopted DLL sideloading as their primary execution method — and it's worth taking thirty seconds to understand why this matters.</a:t>
            </a:r>
          </a:p>
          <a:p>
            <a:r>
              <a:rPr lang="en-US" dirty="0"/>
              <a:t>Windows applications sometimes load supporting libraries — DLLs — from the same folder as the main executable. If a legitimate, signed application does this, an attacker can drop a malicious DLL with the right name into that same folder, and the signed app loads it for them. No unsigned code running directly. No obvious alert. Malicious execution hiding behind a trusted binary that your security tools have no reason to flag.</a:t>
            </a:r>
          </a:p>
          <a:p>
            <a:r>
              <a:rPr lang="en-US" dirty="0"/>
              <a:t>CHAVECLOAK's full chain: PDF lure → user opens it → drops a ZIP → ZIP contains the DLL sideload setup. The initial execution looks completely benign from the outside.</a:t>
            </a:r>
          </a:p>
          <a:p>
            <a:r>
              <a:rPr lang="en-US" dirty="0"/>
              <a:t>For detection: look for DLL sideload file pairs where a signed executable sits next to an unexpected DLL, unusual parent-child process relationships, and consistent file path staging patterns that repeat across samples.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CostaRicto</a:t>
            </a:r>
            <a:r>
              <a:rPr lang="en-US" dirty="0"/>
              <a:t> is fundamentally different from everything else we've looked at tonight. This isn't a crimeware gang going after banking credentials. This is a hack-for-hire operation — mercenary cyber espionage. Someone pays them to get into a target, and they do it.</a:t>
            </a:r>
          </a:p>
          <a:p>
            <a:r>
              <a:rPr lang="en-US" dirty="0"/>
              <a:t>They use custom tooling that you won't find anywhere else in the crimeware ecosystem. That's significant because it makes attribution a lot harder — you can't match a known tool to a known group.</a:t>
            </a:r>
          </a:p>
          <a:p>
            <a:r>
              <a:rPr lang="en-US" dirty="0"/>
              <a:t>They route their C2 through multiple SSH tunnels to obscure where the operators actually are.</a:t>
            </a:r>
          </a:p>
          <a:p>
            <a:r>
              <a:rPr lang="en-US" dirty="0"/>
              <a:t>And most importantly — their priority is dwell time, not speed. They are not trying to steal your credentials today and cash out. They want to sit inside your network for months without being detected. That is a completely different threat model, and it requires completely different detection strategies — you're looking for behavioral anomalies over time, not fast IOC matching.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to MITRE gives everyone a common language, which matters when you're building detections or trying to communicate with your team or with leadership.</a:t>
            </a:r>
          </a:p>
          <a:p>
            <a:r>
              <a:rPr lang="en-US" dirty="0"/>
              <a:t>What's striking is how consistent these families are across the techniques. T1566 for phishing, T1059 for PowerShell, T1547 for registry persistence, T1027 for obfuscation — you see these across the board.</a:t>
            </a:r>
          </a:p>
          <a:p>
            <a:r>
              <a:rPr lang="en-US" dirty="0"/>
              <a:t>But the one I really want to flag is T1218. Signed Binary Proxy Execution. The </a:t>
            </a:r>
            <a:r>
              <a:rPr lang="en-US" dirty="0" err="1"/>
              <a:t>LOLBin</a:t>
            </a:r>
            <a:r>
              <a:rPr lang="en-US" dirty="0"/>
              <a:t> category.</a:t>
            </a:r>
          </a:p>
          <a:p>
            <a:r>
              <a:rPr lang="en-US" dirty="0"/>
              <a:t>If you are not actively monitoring for legitimate Windows binaries being abused to execute malicious code in your environment right now — that is a genuine blind spot. Because it shows up in almost every family we've talked about tonight.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you actually do with all of this? Five practical things.</a:t>
            </a:r>
          </a:p>
          <a:p>
            <a:r>
              <a:rPr lang="en-US" dirty="0"/>
              <a:t>One — signature detection is losing the race. These groups iterate faster than signatures can track. By the time a sig is written and deployed, they've already moved.</a:t>
            </a:r>
          </a:p>
          <a:p>
            <a:r>
              <a:rPr lang="en-US" dirty="0"/>
              <a:t>Two — behavioral monitoring of PowerShell is not optional. Multi-layer encoding is standard practice now.</a:t>
            </a:r>
          </a:p>
          <a:p>
            <a:r>
              <a:rPr lang="en-US" dirty="0"/>
              <a:t>Three — hunt abnormal process trees. Office spawning PowerShell spawning </a:t>
            </a:r>
            <a:r>
              <a:rPr lang="en-US" dirty="0" err="1"/>
              <a:t>wscript</a:t>
            </a:r>
            <a:r>
              <a:rPr lang="en-US" dirty="0"/>
              <a:t>. That pattern doesn't depend on any specific IOC or malware name — it's behavioral, and it's durable.</a:t>
            </a:r>
          </a:p>
          <a:p>
            <a:r>
              <a:rPr lang="en-US" dirty="0"/>
              <a:t>Four — build detections around shared TTPs, not around malware family names. A detection tuned to </a:t>
            </a:r>
            <a:r>
              <a:rPr lang="en-US" dirty="0" err="1"/>
              <a:t>Grandoreiro's</a:t>
            </a:r>
            <a:r>
              <a:rPr lang="en-US" dirty="0"/>
              <a:t> specific IOCs will be outdated in weeks. A detection for "encoded PowerShell spawned from an Office application" will catch things across families for years.</a:t>
            </a:r>
          </a:p>
          <a:p>
            <a:r>
              <a:rPr lang="en-US" dirty="0"/>
              <a:t>Five — correlate your infrastructure intelligence. Short-TTL domains, cloud provider abuse, TLS fingerprint reuse — these are actor-level signals that persist across individual campaigns and across multiple groups.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to wrap up the threat research portion.</a:t>
            </a:r>
          </a:p>
          <a:p>
            <a:r>
              <a:rPr lang="en-US" dirty="0"/>
              <a:t>LATAM actors are not regionally confined anymore. They show professional development discipline. Their infrastructure is becoming more agile, not less. Delivery innovation is spreading ecosystem-wide. And your detection strategy has to be built on behavior — not on malware names.</a:t>
            </a:r>
          </a:p>
          <a:p>
            <a:r>
              <a:rPr lang="en-US" dirty="0"/>
              <a:t>The real advantage comes from tracking how they evolve, not chasing what they've already done.</a:t>
            </a:r>
          </a:p>
          <a:p>
            <a:r>
              <a:rPr lang="en-US" dirty="0"/>
              <a:t>Now — let me show you what I built to apply exactly this kind of analysis automatically to any piece of malware you put in front of 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This is AGHORA. Agentic Guided Heuristic, Orchestration, Reasoning, and Analysis. An AI-powered malware analysis platform I built from scratch. Let me show you what it does.</a:t>
            </a:r>
          </a:p>
        </p:txBody>
      </p:sp>
    </p:spTree>
    <p:extLst>
      <p:ext uri="{BB962C8B-B14F-4D97-AF65-F5344CB8AC3E}">
        <p14:creationId xmlns:p14="http://schemas.microsoft.com/office/powerpoint/2010/main" val="3781589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Shape 1"/>
          <p:cNvSpPr/>
          <p:nvPr/>
        </p:nvSpPr>
        <p:spPr>
          <a:xfrm>
            <a:off x="5486400" y="-1371600"/>
            <a:ext cx="5943600" cy="5943600"/>
          </a:xfrm>
          <a:prstGeom prst="ellipse">
            <a:avLst/>
          </a:prstGeom>
          <a:solidFill>
            <a:srgbClr val="1D3557">
              <a:alpha val="50000"/>
            </a:srgbClr>
          </a:solidFill>
          <a:ln w="19050">
            <a:solidFill>
              <a:srgbClr val="457B9D"/>
            </a:solidFill>
            <a:prstDash val="solid"/>
          </a:ln>
        </p:spPr>
        <p:txBody>
          <a:bodyPr/>
          <a:lstStyle/>
          <a:p>
            <a:endParaRPr lang="en-US"/>
          </a:p>
        </p:txBody>
      </p:sp>
      <p:sp>
        <p:nvSpPr>
          <p:cNvPr id="4" name="Text 2"/>
          <p:cNvSpPr/>
          <p:nvPr/>
        </p:nvSpPr>
        <p:spPr>
          <a:xfrm>
            <a:off x="548640" y="731520"/>
            <a:ext cx="6400800" cy="457200"/>
          </a:xfrm>
          <a:prstGeom prst="rect">
            <a:avLst/>
          </a:prstGeom>
          <a:noFill/>
          <a:ln/>
        </p:spPr>
        <p:txBody>
          <a:bodyPr wrap="square" lIns="0" tIns="0" rIns="0" bIns="0" rtlCol="0" anchor="ctr"/>
          <a:lstStyle/>
          <a:p>
            <a:pPr marL="0" indent="0">
              <a:buNone/>
            </a:pPr>
            <a:r>
              <a:rPr lang="en-US" sz="1100" b="1" kern="0" spc="400" dirty="0">
                <a:solidFill>
                  <a:srgbClr val="E63946"/>
                </a:solidFill>
              </a:rPr>
              <a:t>BEYOND ASTAROTH</a:t>
            </a:r>
            <a:endParaRPr lang="en-US" sz="1100" dirty="0"/>
          </a:p>
        </p:txBody>
      </p:sp>
      <p:sp>
        <p:nvSpPr>
          <p:cNvPr id="5" name="Text 3"/>
          <p:cNvSpPr/>
          <p:nvPr/>
        </p:nvSpPr>
        <p:spPr>
          <a:xfrm>
            <a:off x="548640" y="1188720"/>
            <a:ext cx="7315200" cy="2286000"/>
          </a:xfrm>
          <a:prstGeom prst="rect">
            <a:avLst/>
          </a:prstGeom>
          <a:noFill/>
          <a:ln/>
        </p:spPr>
        <p:txBody>
          <a:bodyPr wrap="square" rtlCol="0" anchor="ctr"/>
          <a:lstStyle/>
          <a:p>
            <a:pPr marL="0" indent="0">
              <a:lnSpc>
                <a:spcPct val="115000"/>
              </a:lnSpc>
              <a:buNone/>
            </a:pPr>
            <a:r>
              <a:rPr lang="en-US" sz="3400" b="1" dirty="0">
                <a:solidFill>
                  <a:srgbClr val="FFFFFF"/>
                </a:solidFill>
                <a:latin typeface="Calibri" pitchFamily="34" charset="0"/>
                <a:ea typeface="Calibri" pitchFamily="34" charset="-122"/>
                <a:cs typeface="Calibri" pitchFamily="34" charset="-120"/>
              </a:rPr>
              <a:t>LATAM Threat Groups,</a:t>
            </a:r>
            <a:endParaRPr lang="en-US" sz="3400" dirty="0"/>
          </a:p>
          <a:p>
            <a:pPr marL="0" indent="0">
              <a:lnSpc>
                <a:spcPct val="115000"/>
              </a:lnSpc>
              <a:buNone/>
            </a:pPr>
            <a:r>
              <a:rPr lang="en-US" sz="3400" b="1" dirty="0">
                <a:solidFill>
                  <a:srgbClr val="FFFFFF"/>
                </a:solidFill>
                <a:latin typeface="Calibri" pitchFamily="34" charset="0"/>
                <a:ea typeface="Calibri" pitchFamily="34" charset="-122"/>
                <a:cs typeface="Calibri" pitchFamily="34" charset="-120"/>
              </a:rPr>
              <a:t>Malware Ecosystems &amp;</a:t>
            </a:r>
            <a:endParaRPr lang="en-US" sz="3400" dirty="0"/>
          </a:p>
          <a:p>
            <a:pPr marL="0" indent="0">
              <a:lnSpc>
                <a:spcPct val="115000"/>
              </a:lnSpc>
              <a:buNone/>
            </a:pPr>
            <a:r>
              <a:rPr lang="en-US" sz="3400" b="1" dirty="0">
                <a:solidFill>
                  <a:srgbClr val="FFFFFF"/>
                </a:solidFill>
                <a:latin typeface="Calibri" pitchFamily="34" charset="0"/>
                <a:ea typeface="Calibri" pitchFamily="34" charset="-122"/>
                <a:cs typeface="Calibri" pitchFamily="34" charset="-120"/>
              </a:rPr>
              <a:t>Evolving Tradecraft</a:t>
            </a:r>
            <a:endParaRPr lang="en-US" sz="3400" dirty="0"/>
          </a:p>
        </p:txBody>
      </p:sp>
      <p:sp>
        <p:nvSpPr>
          <p:cNvPr id="6" name="Text 4"/>
          <p:cNvSpPr/>
          <p:nvPr/>
        </p:nvSpPr>
        <p:spPr>
          <a:xfrm>
            <a:off x="548640" y="3474720"/>
            <a:ext cx="3657600" cy="365760"/>
          </a:xfrm>
          <a:prstGeom prst="rect">
            <a:avLst/>
          </a:prstGeom>
          <a:noFill/>
          <a:ln/>
        </p:spPr>
        <p:txBody>
          <a:bodyPr wrap="square" lIns="0" tIns="0" rIns="0" bIns="0" rtlCol="0" anchor="ctr"/>
          <a:lstStyle/>
          <a:p>
            <a:pPr marL="0" indent="0">
              <a:buNone/>
            </a:pPr>
            <a:r>
              <a:rPr lang="en-US" sz="1400" i="1" dirty="0">
                <a:solidFill>
                  <a:srgbClr val="A8DADC"/>
                </a:solidFill>
              </a:rPr>
              <a:t>2024 — 2026</a:t>
            </a:r>
            <a:endParaRPr lang="en-US" sz="1400" dirty="0"/>
          </a:p>
        </p:txBody>
      </p:sp>
      <p:sp>
        <p:nvSpPr>
          <p:cNvPr id="7" name="Shape 5"/>
          <p:cNvSpPr/>
          <p:nvPr/>
        </p:nvSpPr>
        <p:spPr>
          <a:xfrm>
            <a:off x="548640" y="3977640"/>
            <a:ext cx="4114800" cy="0"/>
          </a:xfrm>
          <a:prstGeom prst="line">
            <a:avLst/>
          </a:prstGeom>
          <a:noFill/>
          <a:ln w="12700">
            <a:solidFill>
              <a:srgbClr val="457B9D"/>
            </a:solidFill>
            <a:prstDash val="solid"/>
          </a:ln>
        </p:spPr>
        <p:txBody>
          <a:bodyPr/>
          <a:lstStyle/>
          <a:p>
            <a:endParaRPr lang="en-US"/>
          </a:p>
        </p:txBody>
      </p:sp>
      <p:sp>
        <p:nvSpPr>
          <p:cNvPr id="8" name="Text 6"/>
          <p:cNvSpPr/>
          <p:nvPr/>
        </p:nvSpPr>
        <p:spPr>
          <a:xfrm>
            <a:off x="548640" y="4160520"/>
            <a:ext cx="4572000" cy="320040"/>
          </a:xfrm>
          <a:prstGeom prst="rect">
            <a:avLst/>
          </a:prstGeom>
          <a:noFill/>
          <a:ln/>
        </p:spPr>
        <p:txBody>
          <a:bodyPr wrap="square" lIns="0" tIns="0" rIns="0" bIns="0" rtlCol="0" anchor="ctr"/>
          <a:lstStyle/>
          <a:p>
            <a:pPr marL="0" indent="0">
              <a:buNone/>
            </a:pPr>
            <a:r>
              <a:rPr lang="en-US" sz="1300" b="1" dirty="0">
                <a:solidFill>
                  <a:srgbClr val="FFFFFF"/>
                </a:solidFill>
              </a:rPr>
              <a:t>Karthikeya Thota</a:t>
            </a:r>
            <a:endParaRPr lang="en-US" sz="1300" dirty="0"/>
          </a:p>
        </p:txBody>
      </p:sp>
      <p:sp>
        <p:nvSpPr>
          <p:cNvPr id="9" name="Text 7"/>
          <p:cNvSpPr/>
          <p:nvPr/>
        </p:nvSpPr>
        <p:spPr>
          <a:xfrm>
            <a:off x="548640" y="4507992"/>
            <a:ext cx="6400800" cy="274320"/>
          </a:xfrm>
          <a:prstGeom prst="rect">
            <a:avLst/>
          </a:prstGeom>
          <a:noFill/>
          <a:ln/>
        </p:spPr>
        <p:txBody>
          <a:bodyPr wrap="square" lIns="0" tIns="0" rIns="0" bIns="0" rtlCol="0" anchor="ctr"/>
          <a:lstStyle/>
          <a:p>
            <a:pPr marL="0" indent="0">
              <a:buNone/>
            </a:pPr>
            <a:r>
              <a:rPr lang="en-US" sz="1100" dirty="0">
                <a:solidFill>
                  <a:srgbClr val="8899A6"/>
                </a:solidFill>
              </a:rPr>
              <a:t>Eastern Michigan University  |  ISC² Detroit Chapter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Shape 1"/>
          <p:cNvSpPr/>
          <p:nvPr/>
        </p:nvSpPr>
        <p:spPr>
          <a:xfrm>
            <a:off x="0" y="93726"/>
            <a:ext cx="2926080" cy="5070348"/>
          </a:xfrm>
          <a:prstGeom prst="rect">
            <a:avLst/>
          </a:prstGeom>
          <a:solidFill>
            <a:srgbClr val="1D3557"/>
          </a:solidFill>
          <a:ln w="12700">
            <a:solidFill>
              <a:srgbClr val="1D3557"/>
            </a:solidFill>
            <a:prstDash val="solid"/>
          </a:ln>
        </p:spPr>
        <p:txBody>
          <a:bodyPr/>
          <a:lstStyle/>
          <a:p>
            <a:endParaRPr lang="en-US"/>
          </a:p>
        </p:txBody>
      </p:sp>
      <p:sp>
        <p:nvSpPr>
          <p:cNvPr id="4" name="Shape 2"/>
          <p:cNvSpPr/>
          <p:nvPr/>
        </p:nvSpPr>
        <p:spPr>
          <a:xfrm>
            <a:off x="228600" y="274320"/>
            <a:ext cx="2377440" cy="457200"/>
          </a:xfrm>
          <a:prstGeom prst="rect">
            <a:avLst/>
          </a:prstGeom>
          <a:solidFill>
            <a:srgbClr val="0D1B2A"/>
          </a:solidFill>
          <a:ln w="12700">
            <a:solidFill>
              <a:srgbClr val="E63946"/>
            </a:solidFill>
            <a:prstDash val="solid"/>
          </a:ln>
        </p:spPr>
        <p:txBody>
          <a:bodyPr/>
          <a:lstStyle/>
          <a:p>
            <a:endParaRPr lang="en-US"/>
          </a:p>
        </p:txBody>
      </p:sp>
      <p:sp>
        <p:nvSpPr>
          <p:cNvPr id="5" name="Text 3"/>
          <p:cNvSpPr/>
          <p:nvPr/>
        </p:nvSpPr>
        <p:spPr>
          <a:xfrm>
            <a:off x="228600" y="274320"/>
            <a:ext cx="2377440" cy="457200"/>
          </a:xfrm>
          <a:prstGeom prst="rect">
            <a:avLst/>
          </a:prstGeom>
          <a:noFill/>
          <a:ln/>
        </p:spPr>
        <p:txBody>
          <a:bodyPr wrap="square" lIns="0" tIns="0" rIns="0" bIns="0" rtlCol="0" anchor="ctr"/>
          <a:lstStyle/>
          <a:p>
            <a:pPr marL="0" indent="0" algn="ctr">
              <a:buNone/>
            </a:pPr>
            <a:r>
              <a:rPr lang="en-US" sz="1300" b="1" dirty="0">
                <a:solidFill>
                  <a:srgbClr val="E63946"/>
                </a:solidFill>
                <a:latin typeface="Consolas" pitchFamily="34" charset="0"/>
                <a:ea typeface="Consolas" pitchFamily="34" charset="-122"/>
                <a:cs typeface="Consolas" pitchFamily="34" charset="-120"/>
              </a:rPr>
              <a:t>$ whoami</a:t>
            </a:r>
            <a:endParaRPr lang="en-US" sz="1300" dirty="0"/>
          </a:p>
        </p:txBody>
      </p:sp>
      <p:sp>
        <p:nvSpPr>
          <p:cNvPr id="6" name="Shape 4"/>
          <p:cNvSpPr/>
          <p:nvPr/>
        </p:nvSpPr>
        <p:spPr>
          <a:xfrm>
            <a:off x="777240" y="914400"/>
            <a:ext cx="1371600" cy="1371600"/>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w="25400">
            <a:solidFill>
              <a:srgbClr val="A8DADC"/>
            </a:solidFill>
            <a:prstDash val="solid"/>
          </a:ln>
        </p:spPr>
        <p:txBody>
          <a:bodyPr/>
          <a:lstStyle/>
          <a:p>
            <a:endParaRPr lang="en-US"/>
          </a:p>
        </p:txBody>
      </p:sp>
      <p:sp>
        <p:nvSpPr>
          <p:cNvPr id="7" name="Text 5"/>
          <p:cNvSpPr/>
          <p:nvPr/>
        </p:nvSpPr>
        <p:spPr>
          <a:xfrm>
            <a:off x="777240" y="914400"/>
            <a:ext cx="1371600" cy="1371600"/>
          </a:xfrm>
          <a:prstGeom prst="rect">
            <a:avLst/>
          </a:prstGeom>
          <a:noFill/>
          <a:ln/>
        </p:spPr>
        <p:txBody>
          <a:bodyPr wrap="square" lIns="0" tIns="0" rIns="0" bIns="0" rtlCol="0" anchor="ctr"/>
          <a:lstStyle/>
          <a:p>
            <a:pPr marL="0" indent="0" algn="ctr">
              <a:buNone/>
            </a:pPr>
            <a:endParaRPr lang="en-US" sz="3200" dirty="0"/>
          </a:p>
        </p:txBody>
      </p:sp>
      <p:sp>
        <p:nvSpPr>
          <p:cNvPr id="8" name="Text 6"/>
          <p:cNvSpPr/>
          <p:nvPr/>
        </p:nvSpPr>
        <p:spPr>
          <a:xfrm>
            <a:off x="91440" y="2423160"/>
            <a:ext cx="2743200" cy="411480"/>
          </a:xfrm>
          <a:prstGeom prst="rect">
            <a:avLst/>
          </a:prstGeom>
          <a:noFill/>
          <a:ln/>
        </p:spPr>
        <p:txBody>
          <a:bodyPr wrap="square" lIns="0" tIns="0" rIns="0" bIns="0" rtlCol="0" anchor="ctr"/>
          <a:lstStyle/>
          <a:p>
            <a:pPr marL="0" indent="0" algn="ctr">
              <a:buNone/>
            </a:pPr>
            <a:r>
              <a:rPr lang="en-US" sz="1400" b="1" dirty="0">
                <a:solidFill>
                  <a:srgbClr val="FFFFFF"/>
                </a:solidFill>
              </a:rPr>
              <a:t>Karthikeya Thota</a:t>
            </a:r>
            <a:endParaRPr lang="en-US" sz="1400" dirty="0"/>
          </a:p>
        </p:txBody>
      </p:sp>
      <p:sp>
        <p:nvSpPr>
          <p:cNvPr id="9" name="Text 7"/>
          <p:cNvSpPr/>
          <p:nvPr/>
        </p:nvSpPr>
        <p:spPr>
          <a:xfrm>
            <a:off x="91440" y="2834640"/>
            <a:ext cx="2743200" cy="320040"/>
          </a:xfrm>
          <a:prstGeom prst="rect">
            <a:avLst/>
          </a:prstGeom>
          <a:noFill/>
          <a:ln/>
        </p:spPr>
        <p:txBody>
          <a:bodyPr wrap="square" lIns="0" tIns="0" rIns="0" bIns="0" rtlCol="0" anchor="ctr"/>
          <a:lstStyle/>
          <a:p>
            <a:pPr marL="0" indent="0" algn="ctr">
              <a:buNone/>
            </a:pPr>
            <a:r>
              <a:rPr lang="en-US" sz="1100" i="1" dirty="0">
                <a:solidFill>
                  <a:srgbClr val="A8DADC"/>
                </a:solidFill>
              </a:rPr>
              <a:t>Cybersecurity Researcher</a:t>
            </a:r>
            <a:endParaRPr lang="en-US" sz="1100" dirty="0"/>
          </a:p>
        </p:txBody>
      </p:sp>
      <p:sp>
        <p:nvSpPr>
          <p:cNvPr id="10" name="Shape 8"/>
          <p:cNvSpPr/>
          <p:nvPr/>
        </p:nvSpPr>
        <p:spPr>
          <a:xfrm>
            <a:off x="365760" y="3246120"/>
            <a:ext cx="2148840" cy="0"/>
          </a:xfrm>
          <a:prstGeom prst="line">
            <a:avLst/>
          </a:prstGeom>
          <a:noFill/>
          <a:ln w="12700">
            <a:solidFill>
              <a:srgbClr val="457B9D"/>
            </a:solidFill>
            <a:prstDash val="solid"/>
          </a:ln>
        </p:spPr>
        <p:txBody>
          <a:bodyPr/>
          <a:lstStyle/>
          <a:p>
            <a:endParaRPr lang="en-US"/>
          </a:p>
        </p:txBody>
      </p:sp>
      <p:sp>
        <p:nvSpPr>
          <p:cNvPr id="11" name="Text 9"/>
          <p:cNvSpPr/>
          <p:nvPr/>
        </p:nvSpPr>
        <p:spPr>
          <a:xfrm>
            <a:off x="91440" y="3337560"/>
            <a:ext cx="2743200" cy="320040"/>
          </a:xfrm>
          <a:prstGeom prst="rect">
            <a:avLst/>
          </a:prstGeom>
          <a:noFill/>
          <a:ln/>
        </p:spPr>
        <p:txBody>
          <a:bodyPr wrap="square" lIns="0" tIns="0" rIns="0" bIns="0" rtlCol="0" anchor="ctr"/>
          <a:lstStyle/>
          <a:p>
            <a:pPr marL="0" indent="0" algn="ctr">
              <a:buNone/>
            </a:pPr>
            <a:r>
              <a:rPr lang="en-US" sz="1000" dirty="0">
                <a:solidFill>
                  <a:srgbClr val="8899A6"/>
                </a:solidFill>
              </a:rPr>
              <a:t>Eastern Michigan University</a:t>
            </a:r>
            <a:endParaRPr lang="en-US" sz="1000" dirty="0"/>
          </a:p>
        </p:txBody>
      </p:sp>
      <p:sp>
        <p:nvSpPr>
          <p:cNvPr id="12" name="Text 10"/>
          <p:cNvSpPr/>
          <p:nvPr/>
        </p:nvSpPr>
        <p:spPr>
          <a:xfrm>
            <a:off x="91440" y="3639312"/>
            <a:ext cx="2743200" cy="274320"/>
          </a:xfrm>
          <a:prstGeom prst="rect">
            <a:avLst/>
          </a:prstGeom>
          <a:noFill/>
          <a:ln/>
        </p:spPr>
        <p:txBody>
          <a:bodyPr wrap="square" lIns="0" tIns="0" rIns="0" bIns="0" rtlCol="0" anchor="ctr"/>
          <a:lstStyle/>
          <a:p>
            <a:pPr marL="0" indent="0" algn="ctr">
              <a:buNone/>
            </a:pPr>
            <a:r>
              <a:rPr lang="en-US" sz="1000" dirty="0">
                <a:solidFill>
                  <a:srgbClr val="8899A6"/>
                </a:solidFill>
              </a:rPr>
              <a:t>ISC² Detroit Chapter</a:t>
            </a:r>
            <a:endParaRPr lang="en-US" sz="1000" dirty="0"/>
          </a:p>
        </p:txBody>
      </p:sp>
      <p:sp>
        <p:nvSpPr>
          <p:cNvPr id="13" name="Shape 11"/>
          <p:cNvSpPr/>
          <p:nvPr/>
        </p:nvSpPr>
        <p:spPr>
          <a:xfrm>
            <a:off x="3108960" y="256032"/>
            <a:ext cx="5806440" cy="822960"/>
          </a:xfrm>
          <a:prstGeom prst="rect">
            <a:avLst/>
          </a:prstGeom>
          <a:solidFill>
            <a:srgbClr val="1D3557">
              <a:alpha val="80000"/>
            </a:srgbClr>
          </a:solidFill>
          <a:ln w="6350">
            <a:solidFill>
              <a:srgbClr val="457B9D"/>
            </a:solidFill>
            <a:prstDash val="solid"/>
          </a:ln>
        </p:spPr>
        <p:txBody>
          <a:bodyPr/>
          <a:lstStyle/>
          <a:p>
            <a:endParaRPr lang="en-US"/>
          </a:p>
        </p:txBody>
      </p:sp>
      <p:sp>
        <p:nvSpPr>
          <p:cNvPr id="14" name="Shape 12"/>
          <p:cNvSpPr/>
          <p:nvPr/>
        </p:nvSpPr>
        <p:spPr>
          <a:xfrm>
            <a:off x="3200400" y="420624"/>
            <a:ext cx="475488" cy="475488"/>
          </a:xfrm>
          <a:prstGeom prst="ellipse">
            <a:avLst/>
          </a:prstGeom>
          <a:solidFill>
            <a:srgbClr val="E63946"/>
          </a:solidFill>
          <a:ln w="12700">
            <a:solidFill>
              <a:srgbClr val="E63946"/>
            </a:solidFill>
            <a:prstDash val="solid"/>
          </a:ln>
        </p:spPr>
        <p:txBody>
          <a:bodyPr/>
          <a:lstStyle/>
          <a:p>
            <a:endParaRPr lang="en-US"/>
          </a:p>
        </p:txBody>
      </p:sp>
      <p:sp>
        <p:nvSpPr>
          <p:cNvPr id="15" name="Text 13"/>
          <p:cNvSpPr/>
          <p:nvPr/>
        </p:nvSpPr>
        <p:spPr>
          <a:xfrm>
            <a:off x="3200400" y="420624"/>
            <a:ext cx="475488" cy="47548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6" name="Text 14"/>
          <p:cNvSpPr/>
          <p:nvPr/>
        </p:nvSpPr>
        <p:spPr>
          <a:xfrm>
            <a:off x="3776472" y="310896"/>
            <a:ext cx="5029200" cy="292608"/>
          </a:xfrm>
          <a:prstGeom prst="rect">
            <a:avLst/>
          </a:prstGeom>
          <a:noFill/>
          <a:ln/>
        </p:spPr>
        <p:txBody>
          <a:bodyPr wrap="square" lIns="0" tIns="0" rIns="0" bIns="0" rtlCol="0" anchor="ctr"/>
          <a:lstStyle/>
          <a:p>
            <a:pPr marL="0" indent="0">
              <a:buNone/>
            </a:pPr>
            <a:r>
              <a:rPr lang="en-US" sz="1200" b="1" dirty="0">
                <a:solidFill>
                  <a:srgbClr val="FFFFFF"/>
                </a:solidFill>
              </a:rPr>
              <a:t>Cybersecurity Student</a:t>
            </a:r>
            <a:endParaRPr lang="en-US" sz="1200" dirty="0"/>
          </a:p>
        </p:txBody>
      </p:sp>
      <p:sp>
        <p:nvSpPr>
          <p:cNvPr id="17" name="Text 15"/>
          <p:cNvSpPr/>
          <p:nvPr/>
        </p:nvSpPr>
        <p:spPr>
          <a:xfrm>
            <a:off x="3776472" y="603504"/>
            <a:ext cx="5029200" cy="438912"/>
          </a:xfrm>
          <a:prstGeom prst="rect">
            <a:avLst/>
          </a:prstGeom>
          <a:noFill/>
          <a:ln/>
        </p:spPr>
        <p:txBody>
          <a:bodyPr wrap="square" lIns="0" tIns="0" rIns="0" bIns="0" rtlCol="0" anchor="ctr"/>
          <a:lstStyle/>
          <a:p>
            <a:pPr marL="0" indent="0">
              <a:buNone/>
            </a:pPr>
            <a:r>
              <a:rPr lang="en-US" sz="1000" dirty="0">
                <a:solidFill>
                  <a:srgbClr val="8899A6"/>
                </a:solidFill>
              </a:rPr>
              <a:t>BS + MS Track at Eastern Michigan University — focused on digital forensics, malware analysis &amp; secure software development.</a:t>
            </a:r>
            <a:endParaRPr lang="en-US" sz="1000" dirty="0"/>
          </a:p>
        </p:txBody>
      </p:sp>
      <p:sp>
        <p:nvSpPr>
          <p:cNvPr id="18" name="Shape 16"/>
          <p:cNvSpPr/>
          <p:nvPr/>
        </p:nvSpPr>
        <p:spPr>
          <a:xfrm>
            <a:off x="3108960" y="1188720"/>
            <a:ext cx="5806440" cy="822960"/>
          </a:xfrm>
          <a:prstGeom prst="rect">
            <a:avLst/>
          </a:prstGeom>
          <a:solidFill>
            <a:srgbClr val="1D3557">
              <a:alpha val="80000"/>
            </a:srgbClr>
          </a:solidFill>
          <a:ln w="6350">
            <a:solidFill>
              <a:srgbClr val="457B9D"/>
            </a:solidFill>
            <a:prstDash val="solid"/>
          </a:ln>
        </p:spPr>
        <p:txBody>
          <a:bodyPr/>
          <a:lstStyle/>
          <a:p>
            <a:endParaRPr lang="en-US"/>
          </a:p>
        </p:txBody>
      </p:sp>
      <p:sp>
        <p:nvSpPr>
          <p:cNvPr id="19" name="Shape 17"/>
          <p:cNvSpPr/>
          <p:nvPr/>
        </p:nvSpPr>
        <p:spPr>
          <a:xfrm>
            <a:off x="3200400" y="1353312"/>
            <a:ext cx="475488" cy="475488"/>
          </a:xfrm>
          <a:prstGeom prst="ellipse">
            <a:avLst/>
          </a:prstGeom>
          <a:solidFill>
            <a:srgbClr val="E63946"/>
          </a:solidFill>
          <a:ln w="12700">
            <a:solidFill>
              <a:srgbClr val="E63946"/>
            </a:solidFill>
            <a:prstDash val="solid"/>
          </a:ln>
        </p:spPr>
        <p:txBody>
          <a:bodyPr/>
          <a:lstStyle/>
          <a:p>
            <a:endParaRPr lang="en-US"/>
          </a:p>
        </p:txBody>
      </p:sp>
      <p:sp>
        <p:nvSpPr>
          <p:cNvPr id="20" name="Text 18"/>
          <p:cNvSpPr/>
          <p:nvPr/>
        </p:nvSpPr>
        <p:spPr>
          <a:xfrm>
            <a:off x="3200400" y="1353312"/>
            <a:ext cx="475488" cy="47548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1" name="Text 19"/>
          <p:cNvSpPr/>
          <p:nvPr/>
        </p:nvSpPr>
        <p:spPr>
          <a:xfrm>
            <a:off x="3776472" y="1243584"/>
            <a:ext cx="5029200" cy="292608"/>
          </a:xfrm>
          <a:prstGeom prst="rect">
            <a:avLst/>
          </a:prstGeom>
          <a:noFill/>
          <a:ln/>
        </p:spPr>
        <p:txBody>
          <a:bodyPr wrap="square" lIns="0" tIns="0" rIns="0" bIns="0" rtlCol="0" anchor="ctr"/>
          <a:lstStyle/>
          <a:p>
            <a:pPr marL="0" indent="0">
              <a:buNone/>
            </a:pPr>
            <a:r>
              <a:rPr lang="en-US" sz="1200" b="1" dirty="0">
                <a:solidFill>
                  <a:srgbClr val="FFFFFF"/>
                </a:solidFill>
              </a:rPr>
              <a:t>Hands-on Security Researcher</a:t>
            </a:r>
            <a:endParaRPr lang="en-US" sz="1200" dirty="0"/>
          </a:p>
        </p:txBody>
      </p:sp>
      <p:sp>
        <p:nvSpPr>
          <p:cNvPr id="22" name="Text 20"/>
          <p:cNvSpPr/>
          <p:nvPr/>
        </p:nvSpPr>
        <p:spPr>
          <a:xfrm>
            <a:off x="3776472" y="1536192"/>
            <a:ext cx="5029200" cy="438912"/>
          </a:xfrm>
          <a:prstGeom prst="rect">
            <a:avLst/>
          </a:prstGeom>
          <a:noFill/>
          <a:ln/>
        </p:spPr>
        <p:txBody>
          <a:bodyPr wrap="square" lIns="0" tIns="0" rIns="0" bIns="0" rtlCol="0" anchor="ctr"/>
          <a:lstStyle/>
          <a:p>
            <a:pPr marL="0" indent="0">
              <a:buNone/>
            </a:pPr>
            <a:r>
              <a:rPr lang="en-US" sz="1000" dirty="0">
                <a:solidFill>
                  <a:srgbClr val="8899A6"/>
                </a:solidFill>
              </a:rPr>
              <a:t>Designed &amp; maintains a Proxmox-based home lab for malware sandboxing, network analysis &amp; threat intelligence research.</a:t>
            </a:r>
            <a:endParaRPr lang="en-US" sz="1000" dirty="0"/>
          </a:p>
        </p:txBody>
      </p:sp>
      <p:sp>
        <p:nvSpPr>
          <p:cNvPr id="23" name="Shape 21"/>
          <p:cNvSpPr/>
          <p:nvPr/>
        </p:nvSpPr>
        <p:spPr>
          <a:xfrm>
            <a:off x="3108960" y="2121408"/>
            <a:ext cx="5806440" cy="822960"/>
          </a:xfrm>
          <a:prstGeom prst="rect">
            <a:avLst/>
          </a:prstGeom>
          <a:solidFill>
            <a:srgbClr val="1D3557">
              <a:alpha val="80000"/>
            </a:srgbClr>
          </a:solidFill>
          <a:ln w="6350">
            <a:solidFill>
              <a:srgbClr val="457B9D"/>
            </a:solidFill>
            <a:prstDash val="solid"/>
          </a:ln>
        </p:spPr>
        <p:txBody>
          <a:bodyPr/>
          <a:lstStyle/>
          <a:p>
            <a:endParaRPr lang="en-US"/>
          </a:p>
        </p:txBody>
      </p:sp>
      <p:sp>
        <p:nvSpPr>
          <p:cNvPr id="24" name="Shape 22"/>
          <p:cNvSpPr/>
          <p:nvPr/>
        </p:nvSpPr>
        <p:spPr>
          <a:xfrm>
            <a:off x="3200400" y="2286000"/>
            <a:ext cx="475488" cy="475488"/>
          </a:xfrm>
          <a:prstGeom prst="ellipse">
            <a:avLst/>
          </a:prstGeom>
          <a:solidFill>
            <a:srgbClr val="E63946"/>
          </a:solidFill>
          <a:ln w="12700">
            <a:solidFill>
              <a:srgbClr val="E63946"/>
            </a:solidFill>
            <a:prstDash val="solid"/>
          </a:ln>
        </p:spPr>
        <p:txBody>
          <a:bodyPr/>
          <a:lstStyle/>
          <a:p>
            <a:endParaRPr lang="en-US"/>
          </a:p>
        </p:txBody>
      </p:sp>
      <p:sp>
        <p:nvSpPr>
          <p:cNvPr id="25" name="Text 23"/>
          <p:cNvSpPr/>
          <p:nvPr/>
        </p:nvSpPr>
        <p:spPr>
          <a:xfrm>
            <a:off x="3200400" y="2286000"/>
            <a:ext cx="475488" cy="47548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6" name="Text 24"/>
          <p:cNvSpPr/>
          <p:nvPr/>
        </p:nvSpPr>
        <p:spPr>
          <a:xfrm>
            <a:off x="3776472" y="2176272"/>
            <a:ext cx="5029200" cy="292608"/>
          </a:xfrm>
          <a:prstGeom prst="rect">
            <a:avLst/>
          </a:prstGeom>
          <a:noFill/>
          <a:ln/>
        </p:spPr>
        <p:txBody>
          <a:bodyPr wrap="square" lIns="0" tIns="0" rIns="0" bIns="0" rtlCol="0" anchor="ctr"/>
          <a:lstStyle/>
          <a:p>
            <a:pPr marL="0" indent="0">
              <a:buNone/>
            </a:pPr>
            <a:r>
              <a:rPr lang="en-US" sz="1200" b="1">
                <a:solidFill>
                  <a:srgbClr val="FFFFFF"/>
                </a:solidFill>
              </a:rPr>
              <a:t>8x </a:t>
            </a:r>
            <a:r>
              <a:rPr lang="en-US" sz="1200" b="1" dirty="0">
                <a:solidFill>
                  <a:srgbClr val="FFFFFF"/>
                </a:solidFill>
              </a:rPr>
              <a:t>Hackathon &amp; CTF Winner</a:t>
            </a:r>
            <a:endParaRPr lang="en-US" sz="1200" dirty="0"/>
          </a:p>
        </p:txBody>
      </p:sp>
      <p:sp>
        <p:nvSpPr>
          <p:cNvPr id="27" name="Text 25"/>
          <p:cNvSpPr/>
          <p:nvPr/>
        </p:nvSpPr>
        <p:spPr>
          <a:xfrm>
            <a:off x="3776472" y="2468880"/>
            <a:ext cx="5029200" cy="438912"/>
          </a:xfrm>
          <a:prstGeom prst="rect">
            <a:avLst/>
          </a:prstGeom>
          <a:noFill/>
          <a:ln/>
        </p:spPr>
        <p:txBody>
          <a:bodyPr wrap="square" lIns="0" tIns="0" rIns="0" bIns="0" rtlCol="0" anchor="ctr"/>
          <a:lstStyle/>
          <a:p>
            <a:pPr marL="0" indent="0">
              <a:buNone/>
            </a:pPr>
            <a:r>
              <a:rPr lang="en-US" sz="1000" dirty="0">
                <a:solidFill>
                  <a:srgbClr val="8899A6"/>
                </a:solidFill>
              </a:rPr>
              <a:t>Award-winning competitor in AI and cybersecurity, building innovative solutions in threat detection &amp; security automation.</a:t>
            </a:r>
            <a:endParaRPr lang="en-US" sz="1000" dirty="0"/>
          </a:p>
        </p:txBody>
      </p:sp>
      <p:sp>
        <p:nvSpPr>
          <p:cNvPr id="28" name="Shape 26"/>
          <p:cNvSpPr/>
          <p:nvPr/>
        </p:nvSpPr>
        <p:spPr>
          <a:xfrm>
            <a:off x="3108960" y="3054096"/>
            <a:ext cx="5806440" cy="822960"/>
          </a:xfrm>
          <a:prstGeom prst="rect">
            <a:avLst/>
          </a:prstGeom>
          <a:solidFill>
            <a:srgbClr val="1D3557">
              <a:alpha val="80000"/>
            </a:srgbClr>
          </a:solidFill>
          <a:ln w="6350">
            <a:solidFill>
              <a:srgbClr val="457B9D"/>
            </a:solidFill>
            <a:prstDash val="solid"/>
          </a:ln>
        </p:spPr>
        <p:txBody>
          <a:bodyPr/>
          <a:lstStyle/>
          <a:p>
            <a:endParaRPr lang="en-US"/>
          </a:p>
        </p:txBody>
      </p:sp>
      <p:sp>
        <p:nvSpPr>
          <p:cNvPr id="29" name="Shape 27"/>
          <p:cNvSpPr/>
          <p:nvPr/>
        </p:nvSpPr>
        <p:spPr>
          <a:xfrm>
            <a:off x="3200400" y="3218688"/>
            <a:ext cx="475488" cy="475488"/>
          </a:xfrm>
          <a:prstGeom prst="ellipse">
            <a:avLst/>
          </a:prstGeom>
          <a:solidFill>
            <a:srgbClr val="E63946"/>
          </a:solidFill>
          <a:ln w="12700">
            <a:solidFill>
              <a:srgbClr val="E63946"/>
            </a:solidFill>
            <a:prstDash val="solid"/>
          </a:ln>
        </p:spPr>
        <p:txBody>
          <a:bodyPr/>
          <a:lstStyle/>
          <a:p>
            <a:endParaRPr lang="en-US"/>
          </a:p>
        </p:txBody>
      </p:sp>
      <p:sp>
        <p:nvSpPr>
          <p:cNvPr id="30" name="Text 28"/>
          <p:cNvSpPr/>
          <p:nvPr/>
        </p:nvSpPr>
        <p:spPr>
          <a:xfrm>
            <a:off x="3200400" y="3218688"/>
            <a:ext cx="475488" cy="47548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31" name="Text 29"/>
          <p:cNvSpPr/>
          <p:nvPr/>
        </p:nvSpPr>
        <p:spPr>
          <a:xfrm>
            <a:off x="3776472" y="3108960"/>
            <a:ext cx="5029200" cy="292608"/>
          </a:xfrm>
          <a:prstGeom prst="rect">
            <a:avLst/>
          </a:prstGeom>
          <a:noFill/>
          <a:ln/>
        </p:spPr>
        <p:txBody>
          <a:bodyPr wrap="square" lIns="0" tIns="0" rIns="0" bIns="0" rtlCol="0" anchor="ctr"/>
          <a:lstStyle/>
          <a:p>
            <a:pPr marL="0" indent="0">
              <a:buNone/>
            </a:pPr>
            <a:r>
              <a:rPr lang="en-US" sz="1200" b="1" dirty="0">
                <a:solidFill>
                  <a:srgbClr val="FFFFFF"/>
                </a:solidFill>
              </a:rPr>
              <a:t>AI Security Tooling — AGHORA Creator</a:t>
            </a:r>
            <a:endParaRPr lang="en-US" sz="1200" dirty="0"/>
          </a:p>
        </p:txBody>
      </p:sp>
      <p:sp>
        <p:nvSpPr>
          <p:cNvPr id="32" name="Text 30"/>
          <p:cNvSpPr/>
          <p:nvPr/>
        </p:nvSpPr>
        <p:spPr>
          <a:xfrm>
            <a:off x="3776472" y="3401568"/>
            <a:ext cx="5029200" cy="438912"/>
          </a:xfrm>
          <a:prstGeom prst="rect">
            <a:avLst/>
          </a:prstGeom>
          <a:noFill/>
          <a:ln/>
        </p:spPr>
        <p:txBody>
          <a:bodyPr wrap="square" lIns="0" tIns="0" rIns="0" bIns="0" rtlCol="0" anchor="ctr"/>
          <a:lstStyle/>
          <a:p>
            <a:pPr marL="0" indent="0">
              <a:buNone/>
            </a:pPr>
            <a:r>
              <a:rPr lang="en-US" sz="1000" dirty="0">
                <a:solidFill>
                  <a:srgbClr val="8899A6"/>
                </a:solidFill>
              </a:rPr>
              <a:t>Built AGHORA: agentic AI malware analysis platform integrating Ghidra, LLMs, MITRE mapping, and automated PDF reporting. 8x hackathon &amp; CTF winner with wins in AI and cybersecurity categories.</a:t>
            </a:r>
            <a:endParaRPr lang="en-US" sz="1000" dirty="0"/>
          </a:p>
        </p:txBody>
      </p:sp>
      <p:sp>
        <p:nvSpPr>
          <p:cNvPr id="33" name="Shape 31"/>
          <p:cNvSpPr/>
          <p:nvPr/>
        </p:nvSpPr>
        <p:spPr>
          <a:xfrm>
            <a:off x="3108960" y="3986784"/>
            <a:ext cx="5806440" cy="822960"/>
          </a:xfrm>
          <a:prstGeom prst="rect">
            <a:avLst/>
          </a:prstGeom>
          <a:solidFill>
            <a:srgbClr val="1D3557">
              <a:alpha val="80000"/>
            </a:srgbClr>
          </a:solidFill>
          <a:ln w="6350">
            <a:solidFill>
              <a:srgbClr val="457B9D"/>
            </a:solidFill>
            <a:prstDash val="solid"/>
          </a:ln>
        </p:spPr>
        <p:txBody>
          <a:bodyPr/>
          <a:lstStyle/>
          <a:p>
            <a:endParaRPr lang="en-US"/>
          </a:p>
        </p:txBody>
      </p:sp>
      <p:sp>
        <p:nvSpPr>
          <p:cNvPr id="34" name="Shape 32"/>
          <p:cNvSpPr/>
          <p:nvPr/>
        </p:nvSpPr>
        <p:spPr>
          <a:xfrm>
            <a:off x="3200400" y="4151376"/>
            <a:ext cx="475488" cy="475488"/>
          </a:xfrm>
          <a:prstGeom prst="ellipse">
            <a:avLst/>
          </a:prstGeom>
          <a:solidFill>
            <a:srgbClr val="E63946"/>
          </a:solidFill>
          <a:ln w="12700">
            <a:solidFill>
              <a:srgbClr val="E63946"/>
            </a:solidFill>
            <a:prstDash val="solid"/>
          </a:ln>
        </p:spPr>
        <p:txBody>
          <a:bodyPr/>
          <a:lstStyle/>
          <a:p>
            <a:endParaRPr lang="en-US"/>
          </a:p>
        </p:txBody>
      </p:sp>
      <p:sp>
        <p:nvSpPr>
          <p:cNvPr id="35" name="Text 33"/>
          <p:cNvSpPr/>
          <p:nvPr/>
        </p:nvSpPr>
        <p:spPr>
          <a:xfrm>
            <a:off x="3200400" y="4151376"/>
            <a:ext cx="475488" cy="47548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36" name="Text 34"/>
          <p:cNvSpPr/>
          <p:nvPr/>
        </p:nvSpPr>
        <p:spPr>
          <a:xfrm>
            <a:off x="3776472" y="4041648"/>
            <a:ext cx="5029200" cy="292608"/>
          </a:xfrm>
          <a:prstGeom prst="rect">
            <a:avLst/>
          </a:prstGeom>
          <a:noFill/>
          <a:ln/>
        </p:spPr>
        <p:txBody>
          <a:bodyPr wrap="square" lIns="0" tIns="0" rIns="0" bIns="0" rtlCol="0" anchor="ctr"/>
          <a:lstStyle/>
          <a:p>
            <a:pPr marL="0" indent="0">
              <a:buNone/>
            </a:pPr>
            <a:r>
              <a:rPr lang="en-US" sz="1200" b="1" dirty="0">
                <a:solidFill>
                  <a:srgbClr val="FFFFFF"/>
                </a:solidFill>
              </a:rPr>
              <a:t>Research, Publication &amp; Community</a:t>
            </a:r>
            <a:endParaRPr lang="en-US" sz="1200" dirty="0"/>
          </a:p>
        </p:txBody>
      </p:sp>
      <p:sp>
        <p:nvSpPr>
          <p:cNvPr id="37" name="Text 35"/>
          <p:cNvSpPr/>
          <p:nvPr/>
        </p:nvSpPr>
        <p:spPr>
          <a:xfrm>
            <a:off x="3776472" y="4334256"/>
            <a:ext cx="5029200" cy="438912"/>
          </a:xfrm>
          <a:prstGeom prst="rect">
            <a:avLst/>
          </a:prstGeom>
          <a:noFill/>
          <a:ln/>
        </p:spPr>
        <p:txBody>
          <a:bodyPr wrap="square" lIns="0" tIns="0" rIns="0" bIns="0" rtlCol="0" anchor="ctr"/>
          <a:lstStyle/>
          <a:p>
            <a:pPr marL="0" indent="0">
              <a:buNone/>
            </a:pPr>
            <a:r>
              <a:rPr lang="en-US" sz="1000" dirty="0">
                <a:solidFill>
                  <a:srgbClr val="8899A6"/>
                </a:solidFill>
              </a:rPr>
              <a:t>ISC² Detroit Chapter member. Conducting publishable research on LATAM threat ecosystem innovation patterns. Proxmox home lab for malware sandboxing &amp; threat intelligence research.</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E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600" b="1" dirty="0">
                <a:solidFill>
                  <a:srgbClr val="0D1B2A"/>
                </a:solidFill>
              </a:rPr>
              <a:t>Research Objective</a:t>
            </a:r>
            <a:endParaRPr lang="en-US" sz="2600" dirty="0"/>
          </a:p>
        </p:txBody>
      </p:sp>
      <p:sp>
        <p:nvSpPr>
          <p:cNvPr id="4" name="Shape 2"/>
          <p:cNvSpPr/>
          <p:nvPr/>
        </p:nvSpPr>
        <p:spPr>
          <a:xfrm>
            <a:off x="457200" y="978408"/>
            <a:ext cx="320040" cy="320040"/>
          </a:xfrm>
          <a:prstGeom prst="ellipse">
            <a:avLst/>
          </a:prstGeom>
          <a:solidFill>
            <a:srgbClr val="E63946"/>
          </a:solidFill>
          <a:ln w="12700">
            <a:solidFill>
              <a:srgbClr val="E63946"/>
            </a:solidFill>
            <a:prstDash val="solid"/>
          </a:ln>
        </p:spPr>
        <p:txBody>
          <a:bodyPr/>
          <a:lstStyle/>
          <a:p>
            <a:endParaRPr lang="en-US"/>
          </a:p>
        </p:txBody>
      </p:sp>
      <p:sp>
        <p:nvSpPr>
          <p:cNvPr id="5" name="Text 3"/>
          <p:cNvSpPr/>
          <p:nvPr/>
        </p:nvSpPr>
        <p:spPr>
          <a:xfrm>
            <a:off x="960120" y="914400"/>
            <a:ext cx="1371600" cy="457200"/>
          </a:xfrm>
          <a:prstGeom prst="rect">
            <a:avLst/>
          </a:prstGeom>
          <a:noFill/>
          <a:ln/>
        </p:spPr>
        <p:txBody>
          <a:bodyPr wrap="square" lIns="0" tIns="0" rIns="0" bIns="0" rtlCol="0" anchor="ctr"/>
          <a:lstStyle/>
          <a:p>
            <a:pPr marL="0" indent="0">
              <a:buNone/>
            </a:pPr>
            <a:r>
              <a:rPr lang="en-US" sz="1300" b="1" dirty="0">
                <a:solidFill>
                  <a:srgbClr val="1D3557"/>
                </a:solidFill>
              </a:rPr>
              <a:t>Scope</a:t>
            </a:r>
            <a:endParaRPr lang="en-US" sz="1300" dirty="0"/>
          </a:p>
        </p:txBody>
      </p:sp>
      <p:sp>
        <p:nvSpPr>
          <p:cNvPr id="6" name="Text 4"/>
          <p:cNvSpPr/>
          <p:nvPr/>
        </p:nvSpPr>
        <p:spPr>
          <a:xfrm>
            <a:off x="2423160" y="914400"/>
            <a:ext cx="6400800" cy="457200"/>
          </a:xfrm>
          <a:prstGeom prst="rect">
            <a:avLst/>
          </a:prstGeom>
          <a:noFill/>
          <a:ln/>
        </p:spPr>
        <p:txBody>
          <a:bodyPr wrap="square" lIns="0" tIns="0" rIns="0" bIns="0" rtlCol="0" anchor="ctr"/>
          <a:lstStyle/>
          <a:p>
            <a:pPr marL="0" indent="0">
              <a:buNone/>
            </a:pPr>
            <a:r>
              <a:rPr lang="en-US" sz="1300" dirty="0">
                <a:solidFill>
                  <a:srgbClr val="0D1B2A"/>
                </a:solidFill>
              </a:rPr>
              <a:t>Analyze emerging LATAM threat groups beyond ASTAROTH</a:t>
            </a:r>
            <a:endParaRPr lang="en-US" sz="1300" dirty="0"/>
          </a:p>
        </p:txBody>
      </p:sp>
      <p:sp>
        <p:nvSpPr>
          <p:cNvPr id="7" name="Shape 5"/>
          <p:cNvSpPr/>
          <p:nvPr/>
        </p:nvSpPr>
        <p:spPr>
          <a:xfrm>
            <a:off x="457200" y="1664208"/>
            <a:ext cx="320040" cy="320040"/>
          </a:xfrm>
          <a:prstGeom prst="ellipse">
            <a:avLst/>
          </a:prstGeom>
          <a:solidFill>
            <a:srgbClr val="E63946"/>
          </a:solidFill>
          <a:ln w="12700">
            <a:solidFill>
              <a:srgbClr val="E63946"/>
            </a:solidFill>
            <a:prstDash val="solid"/>
          </a:ln>
        </p:spPr>
        <p:txBody>
          <a:bodyPr/>
          <a:lstStyle/>
          <a:p>
            <a:endParaRPr lang="en-US"/>
          </a:p>
        </p:txBody>
      </p:sp>
      <p:sp>
        <p:nvSpPr>
          <p:cNvPr id="8" name="Text 6"/>
          <p:cNvSpPr/>
          <p:nvPr/>
        </p:nvSpPr>
        <p:spPr>
          <a:xfrm>
            <a:off x="960120" y="1600200"/>
            <a:ext cx="1371600" cy="457200"/>
          </a:xfrm>
          <a:prstGeom prst="rect">
            <a:avLst/>
          </a:prstGeom>
          <a:noFill/>
          <a:ln/>
        </p:spPr>
        <p:txBody>
          <a:bodyPr wrap="square" lIns="0" tIns="0" rIns="0" bIns="0" rtlCol="0" anchor="ctr"/>
          <a:lstStyle/>
          <a:p>
            <a:pPr marL="0" indent="0">
              <a:buNone/>
            </a:pPr>
            <a:r>
              <a:rPr lang="en-US" sz="1300" b="1" dirty="0">
                <a:solidFill>
                  <a:srgbClr val="1D3557"/>
                </a:solidFill>
              </a:rPr>
              <a:t>Compare</a:t>
            </a:r>
            <a:endParaRPr lang="en-US" sz="1300" dirty="0"/>
          </a:p>
        </p:txBody>
      </p:sp>
      <p:sp>
        <p:nvSpPr>
          <p:cNvPr id="9" name="Text 7"/>
          <p:cNvSpPr/>
          <p:nvPr/>
        </p:nvSpPr>
        <p:spPr>
          <a:xfrm>
            <a:off x="2423160" y="1600200"/>
            <a:ext cx="6400800" cy="457200"/>
          </a:xfrm>
          <a:prstGeom prst="rect">
            <a:avLst/>
          </a:prstGeom>
          <a:noFill/>
          <a:ln/>
        </p:spPr>
        <p:txBody>
          <a:bodyPr wrap="square" lIns="0" tIns="0" rIns="0" bIns="0" rtlCol="0" anchor="ctr"/>
          <a:lstStyle/>
          <a:p>
            <a:pPr marL="0" indent="0">
              <a:buNone/>
            </a:pPr>
            <a:r>
              <a:rPr lang="en-US" sz="1300" dirty="0">
                <a:solidFill>
                  <a:srgbClr val="0D1B2A"/>
                </a:solidFill>
              </a:rPr>
              <a:t>APT, banking malware, and mercenary-style operations</a:t>
            </a:r>
            <a:endParaRPr lang="en-US" sz="1300" dirty="0"/>
          </a:p>
        </p:txBody>
      </p:sp>
      <p:sp>
        <p:nvSpPr>
          <p:cNvPr id="10" name="Shape 8"/>
          <p:cNvSpPr/>
          <p:nvPr/>
        </p:nvSpPr>
        <p:spPr>
          <a:xfrm>
            <a:off x="457200" y="2350008"/>
            <a:ext cx="320040" cy="320040"/>
          </a:xfrm>
          <a:prstGeom prst="ellipse">
            <a:avLst/>
          </a:prstGeom>
          <a:solidFill>
            <a:srgbClr val="E63946"/>
          </a:solidFill>
          <a:ln w="12700">
            <a:solidFill>
              <a:srgbClr val="E63946"/>
            </a:solidFill>
            <a:prstDash val="solid"/>
          </a:ln>
        </p:spPr>
        <p:txBody>
          <a:bodyPr/>
          <a:lstStyle/>
          <a:p>
            <a:endParaRPr lang="en-US"/>
          </a:p>
        </p:txBody>
      </p:sp>
      <p:sp>
        <p:nvSpPr>
          <p:cNvPr id="11" name="Text 9"/>
          <p:cNvSpPr/>
          <p:nvPr/>
        </p:nvSpPr>
        <p:spPr>
          <a:xfrm>
            <a:off x="960120" y="2286000"/>
            <a:ext cx="1371600" cy="457200"/>
          </a:xfrm>
          <a:prstGeom prst="rect">
            <a:avLst/>
          </a:prstGeom>
          <a:noFill/>
          <a:ln/>
        </p:spPr>
        <p:txBody>
          <a:bodyPr wrap="square" lIns="0" tIns="0" rIns="0" bIns="0" rtlCol="0" anchor="ctr"/>
          <a:lstStyle/>
          <a:p>
            <a:pPr marL="0" indent="0">
              <a:buNone/>
            </a:pPr>
            <a:r>
              <a:rPr lang="en-US" sz="1300" b="1" dirty="0">
                <a:solidFill>
                  <a:srgbClr val="1D3557"/>
                </a:solidFill>
              </a:rPr>
              <a:t>Extract</a:t>
            </a:r>
            <a:endParaRPr lang="en-US" sz="1300" dirty="0"/>
          </a:p>
        </p:txBody>
      </p:sp>
      <p:sp>
        <p:nvSpPr>
          <p:cNvPr id="12" name="Text 10"/>
          <p:cNvSpPr/>
          <p:nvPr/>
        </p:nvSpPr>
        <p:spPr>
          <a:xfrm>
            <a:off x="2423160" y="2286000"/>
            <a:ext cx="6400800" cy="457200"/>
          </a:xfrm>
          <a:prstGeom prst="rect">
            <a:avLst/>
          </a:prstGeom>
          <a:noFill/>
          <a:ln/>
        </p:spPr>
        <p:txBody>
          <a:bodyPr wrap="square" lIns="0" tIns="0" rIns="0" bIns="0" rtlCol="0" anchor="ctr"/>
          <a:lstStyle/>
          <a:p>
            <a:pPr marL="0" indent="0">
              <a:buNone/>
            </a:pPr>
            <a:r>
              <a:rPr lang="en-US" sz="1300" dirty="0">
                <a:solidFill>
                  <a:srgbClr val="0D1B2A"/>
                </a:solidFill>
              </a:rPr>
              <a:t>Campaign artifacts from 2024–2026 threat reporting</a:t>
            </a:r>
            <a:endParaRPr lang="en-US" sz="1300" dirty="0"/>
          </a:p>
        </p:txBody>
      </p:sp>
      <p:sp>
        <p:nvSpPr>
          <p:cNvPr id="13" name="Shape 11"/>
          <p:cNvSpPr/>
          <p:nvPr/>
        </p:nvSpPr>
        <p:spPr>
          <a:xfrm>
            <a:off x="457200" y="3035808"/>
            <a:ext cx="320040" cy="320040"/>
          </a:xfrm>
          <a:prstGeom prst="ellipse">
            <a:avLst/>
          </a:prstGeom>
          <a:solidFill>
            <a:srgbClr val="E63946"/>
          </a:solidFill>
          <a:ln w="12700">
            <a:solidFill>
              <a:srgbClr val="E63946"/>
            </a:solidFill>
            <a:prstDash val="solid"/>
          </a:ln>
        </p:spPr>
        <p:txBody>
          <a:bodyPr/>
          <a:lstStyle/>
          <a:p>
            <a:endParaRPr lang="en-US"/>
          </a:p>
        </p:txBody>
      </p:sp>
      <p:sp>
        <p:nvSpPr>
          <p:cNvPr id="14" name="Text 12"/>
          <p:cNvSpPr/>
          <p:nvPr/>
        </p:nvSpPr>
        <p:spPr>
          <a:xfrm>
            <a:off x="960120" y="2971800"/>
            <a:ext cx="1371600" cy="457200"/>
          </a:xfrm>
          <a:prstGeom prst="rect">
            <a:avLst/>
          </a:prstGeom>
          <a:noFill/>
          <a:ln/>
        </p:spPr>
        <p:txBody>
          <a:bodyPr wrap="square" lIns="0" tIns="0" rIns="0" bIns="0" rtlCol="0" anchor="ctr"/>
          <a:lstStyle/>
          <a:p>
            <a:pPr marL="0" indent="0">
              <a:buNone/>
            </a:pPr>
            <a:r>
              <a:rPr lang="en-US" sz="1300" b="1" dirty="0">
                <a:solidFill>
                  <a:srgbClr val="1D3557"/>
                </a:solidFill>
              </a:rPr>
              <a:t>Map</a:t>
            </a:r>
            <a:endParaRPr lang="en-US" sz="1300" dirty="0"/>
          </a:p>
        </p:txBody>
      </p:sp>
      <p:sp>
        <p:nvSpPr>
          <p:cNvPr id="15" name="Text 13"/>
          <p:cNvSpPr/>
          <p:nvPr/>
        </p:nvSpPr>
        <p:spPr>
          <a:xfrm>
            <a:off x="2423160" y="2971800"/>
            <a:ext cx="6400800" cy="457200"/>
          </a:xfrm>
          <a:prstGeom prst="rect">
            <a:avLst/>
          </a:prstGeom>
          <a:noFill/>
          <a:ln/>
        </p:spPr>
        <p:txBody>
          <a:bodyPr wrap="square" lIns="0" tIns="0" rIns="0" bIns="0" rtlCol="0" anchor="ctr"/>
          <a:lstStyle/>
          <a:p>
            <a:pPr marL="0" indent="0">
              <a:buNone/>
            </a:pPr>
            <a:r>
              <a:rPr lang="en-US" sz="1300" dirty="0">
                <a:solidFill>
                  <a:srgbClr val="0D1B2A"/>
                </a:solidFill>
              </a:rPr>
              <a:t>Tactics to MITRE ATT&amp;CK framework</a:t>
            </a:r>
            <a:endParaRPr lang="en-US" sz="1300" dirty="0"/>
          </a:p>
        </p:txBody>
      </p:sp>
      <p:sp>
        <p:nvSpPr>
          <p:cNvPr id="16" name="Shape 14"/>
          <p:cNvSpPr/>
          <p:nvPr/>
        </p:nvSpPr>
        <p:spPr>
          <a:xfrm>
            <a:off x="457200" y="3721608"/>
            <a:ext cx="320040" cy="320040"/>
          </a:xfrm>
          <a:prstGeom prst="ellipse">
            <a:avLst/>
          </a:prstGeom>
          <a:solidFill>
            <a:srgbClr val="E63946"/>
          </a:solidFill>
          <a:ln w="12700">
            <a:solidFill>
              <a:srgbClr val="E63946"/>
            </a:solidFill>
            <a:prstDash val="solid"/>
          </a:ln>
        </p:spPr>
        <p:txBody>
          <a:bodyPr/>
          <a:lstStyle/>
          <a:p>
            <a:endParaRPr lang="en-US"/>
          </a:p>
        </p:txBody>
      </p:sp>
      <p:sp>
        <p:nvSpPr>
          <p:cNvPr id="17" name="Text 15"/>
          <p:cNvSpPr/>
          <p:nvPr/>
        </p:nvSpPr>
        <p:spPr>
          <a:xfrm>
            <a:off x="960120" y="3657600"/>
            <a:ext cx="1371600" cy="457200"/>
          </a:xfrm>
          <a:prstGeom prst="rect">
            <a:avLst/>
          </a:prstGeom>
          <a:noFill/>
          <a:ln/>
        </p:spPr>
        <p:txBody>
          <a:bodyPr wrap="square" lIns="0" tIns="0" rIns="0" bIns="0" rtlCol="0" anchor="ctr"/>
          <a:lstStyle/>
          <a:p>
            <a:pPr marL="0" indent="0">
              <a:buNone/>
            </a:pPr>
            <a:r>
              <a:rPr lang="en-US" sz="1300" b="1" dirty="0">
                <a:solidFill>
                  <a:srgbClr val="1D3557"/>
                </a:solidFill>
              </a:rPr>
              <a:t>Identify</a:t>
            </a:r>
            <a:endParaRPr lang="en-US" sz="1300" dirty="0"/>
          </a:p>
        </p:txBody>
      </p:sp>
      <p:sp>
        <p:nvSpPr>
          <p:cNvPr id="18" name="Text 16"/>
          <p:cNvSpPr/>
          <p:nvPr/>
        </p:nvSpPr>
        <p:spPr>
          <a:xfrm>
            <a:off x="2423160" y="3657600"/>
            <a:ext cx="6400800" cy="457200"/>
          </a:xfrm>
          <a:prstGeom prst="rect">
            <a:avLst/>
          </a:prstGeom>
          <a:noFill/>
          <a:ln/>
        </p:spPr>
        <p:txBody>
          <a:bodyPr wrap="square" lIns="0" tIns="0" rIns="0" bIns="0" rtlCol="0" anchor="ctr"/>
          <a:lstStyle/>
          <a:p>
            <a:pPr marL="0" indent="0">
              <a:buNone/>
            </a:pPr>
            <a:r>
              <a:rPr lang="en-US" sz="1300" dirty="0">
                <a:solidFill>
                  <a:srgbClr val="0D1B2A"/>
                </a:solidFill>
              </a:rPr>
              <a:t>Ecosystem-level evolution patterns</a:t>
            </a:r>
            <a:endParaRPr lang="en-US" sz="1300" dirty="0"/>
          </a:p>
        </p:txBody>
      </p:sp>
      <p:sp>
        <p:nvSpPr>
          <p:cNvPr id="19" name="Shape 17"/>
          <p:cNvSpPr/>
          <p:nvPr/>
        </p:nvSpPr>
        <p:spPr>
          <a:xfrm>
            <a:off x="457200" y="4251960"/>
            <a:ext cx="8229600" cy="640080"/>
          </a:xfrm>
          <a:prstGeom prst="rect">
            <a:avLst/>
          </a:prstGeom>
          <a:solidFill>
            <a:srgbClr val="1D3557"/>
          </a:solidFill>
          <a:ln w="12700">
            <a:solidFill>
              <a:srgbClr val="1D3557"/>
            </a:solidFill>
            <a:prstDash val="solid"/>
          </a:ln>
        </p:spPr>
        <p:txBody>
          <a:bodyPr/>
          <a:lstStyle/>
          <a:p>
            <a:endParaRPr lang="en-US"/>
          </a:p>
        </p:txBody>
      </p:sp>
      <p:sp>
        <p:nvSpPr>
          <p:cNvPr id="20" name="Text 18"/>
          <p:cNvSpPr/>
          <p:nvPr/>
        </p:nvSpPr>
        <p:spPr>
          <a:xfrm>
            <a:off x="457200" y="4251960"/>
            <a:ext cx="8229600" cy="640080"/>
          </a:xfrm>
          <a:prstGeom prst="rect">
            <a:avLst/>
          </a:prstGeom>
          <a:noFill/>
          <a:ln/>
        </p:spPr>
        <p:txBody>
          <a:bodyPr wrap="square" lIns="0" tIns="0" rIns="0" bIns="0" rtlCol="0" anchor="ctr"/>
          <a:lstStyle/>
          <a:p>
            <a:pPr marL="0" indent="0" algn="ctr">
              <a:buNone/>
            </a:pPr>
            <a:r>
              <a:rPr lang="en-US" sz="1200" b="1" dirty="0">
                <a:solidFill>
                  <a:srgbClr val="FFFFFF"/>
                </a:solidFill>
              </a:rPr>
              <a:t>KEY QUESTION:  Are LATAM actors isolated groups — or a coordinated innovation ecosystem?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600" b="1" dirty="0">
                <a:solidFill>
                  <a:srgbClr val="FFFFFF"/>
                </a:solidFill>
              </a:rPr>
              <a:t>Why LATAM Threat Groups Matter</a:t>
            </a:r>
            <a:endParaRPr lang="en-US" sz="2600" dirty="0"/>
          </a:p>
        </p:txBody>
      </p:sp>
      <p:sp>
        <p:nvSpPr>
          <p:cNvPr id="4" name="Shape 2"/>
          <p:cNvSpPr/>
          <p:nvPr/>
        </p:nvSpPr>
        <p:spPr>
          <a:xfrm>
            <a:off x="457200" y="960120"/>
            <a:ext cx="8229600" cy="548640"/>
          </a:xfrm>
          <a:prstGeom prst="rect">
            <a:avLst/>
          </a:prstGeom>
          <a:solidFill>
            <a:srgbClr val="1D3557">
              <a:alpha val="70000"/>
            </a:srgbClr>
          </a:solidFill>
          <a:ln w="6350">
            <a:solidFill>
              <a:srgbClr val="457B9D"/>
            </a:solidFill>
            <a:prstDash val="solid"/>
          </a:ln>
        </p:spPr>
        <p:txBody>
          <a:bodyPr/>
          <a:lstStyle/>
          <a:p>
            <a:endParaRPr lang="en-US"/>
          </a:p>
        </p:txBody>
      </p:sp>
      <p:sp>
        <p:nvSpPr>
          <p:cNvPr id="5" name="Text 3"/>
          <p:cNvSpPr/>
          <p:nvPr/>
        </p:nvSpPr>
        <p:spPr>
          <a:xfrm>
            <a:off x="640080" y="960120"/>
            <a:ext cx="7863840" cy="548640"/>
          </a:xfrm>
          <a:prstGeom prst="rect">
            <a:avLst/>
          </a:prstGeom>
          <a:noFill/>
          <a:ln/>
        </p:spPr>
        <p:txBody>
          <a:bodyPr wrap="square" lIns="0" tIns="0" rIns="0" bIns="0" rtlCol="0" anchor="ctr"/>
          <a:lstStyle/>
          <a:p>
            <a:pPr marL="0" indent="0">
              <a:buNone/>
            </a:pPr>
            <a:r>
              <a:rPr lang="en-US" sz="1300" dirty="0">
                <a:solidFill>
                  <a:srgbClr val="FFFFFF"/>
                </a:solidFill>
              </a:rPr>
              <a:t>🌎  Banking malware families expanding into Europe &amp; North America</a:t>
            </a:r>
            <a:endParaRPr lang="en-US" sz="1300" dirty="0"/>
          </a:p>
        </p:txBody>
      </p:sp>
      <p:sp>
        <p:nvSpPr>
          <p:cNvPr id="6" name="Shape 4"/>
          <p:cNvSpPr/>
          <p:nvPr/>
        </p:nvSpPr>
        <p:spPr>
          <a:xfrm>
            <a:off x="457200" y="1645920"/>
            <a:ext cx="8229600" cy="548640"/>
          </a:xfrm>
          <a:prstGeom prst="rect">
            <a:avLst/>
          </a:prstGeom>
          <a:solidFill>
            <a:srgbClr val="1D3557">
              <a:alpha val="70000"/>
            </a:srgbClr>
          </a:solidFill>
          <a:ln w="6350">
            <a:solidFill>
              <a:srgbClr val="457B9D"/>
            </a:solidFill>
            <a:prstDash val="solid"/>
          </a:ln>
        </p:spPr>
        <p:txBody>
          <a:bodyPr/>
          <a:lstStyle/>
          <a:p>
            <a:endParaRPr lang="en-US"/>
          </a:p>
        </p:txBody>
      </p:sp>
      <p:sp>
        <p:nvSpPr>
          <p:cNvPr id="7" name="Text 5"/>
          <p:cNvSpPr/>
          <p:nvPr/>
        </p:nvSpPr>
        <p:spPr>
          <a:xfrm>
            <a:off x="640080" y="1645920"/>
            <a:ext cx="7863840" cy="548640"/>
          </a:xfrm>
          <a:prstGeom prst="rect">
            <a:avLst/>
          </a:prstGeom>
          <a:noFill/>
          <a:ln/>
        </p:spPr>
        <p:txBody>
          <a:bodyPr wrap="square" lIns="0" tIns="0" rIns="0" bIns="0" rtlCol="0" anchor="ctr"/>
          <a:lstStyle/>
          <a:p>
            <a:pPr marL="0" indent="0">
              <a:buNone/>
            </a:pPr>
            <a:r>
              <a:rPr lang="en-US" sz="1300" dirty="0">
                <a:solidFill>
                  <a:srgbClr val="FFFFFF"/>
                </a:solidFill>
              </a:rPr>
              <a:t>⚡  Rapid iteration cycles — frequent loader updates (2024–2026)</a:t>
            </a:r>
            <a:endParaRPr lang="en-US" sz="1300" dirty="0"/>
          </a:p>
        </p:txBody>
      </p:sp>
      <p:sp>
        <p:nvSpPr>
          <p:cNvPr id="8" name="Shape 6"/>
          <p:cNvSpPr/>
          <p:nvPr/>
        </p:nvSpPr>
        <p:spPr>
          <a:xfrm>
            <a:off x="457200" y="2331720"/>
            <a:ext cx="8229600" cy="548640"/>
          </a:xfrm>
          <a:prstGeom prst="rect">
            <a:avLst/>
          </a:prstGeom>
          <a:solidFill>
            <a:srgbClr val="1D3557">
              <a:alpha val="70000"/>
            </a:srgbClr>
          </a:solidFill>
          <a:ln w="6350">
            <a:solidFill>
              <a:srgbClr val="457B9D"/>
            </a:solidFill>
            <a:prstDash val="solid"/>
          </a:ln>
        </p:spPr>
        <p:txBody>
          <a:bodyPr/>
          <a:lstStyle/>
          <a:p>
            <a:endParaRPr lang="en-US"/>
          </a:p>
        </p:txBody>
      </p:sp>
      <p:sp>
        <p:nvSpPr>
          <p:cNvPr id="9" name="Text 7"/>
          <p:cNvSpPr/>
          <p:nvPr/>
        </p:nvSpPr>
        <p:spPr>
          <a:xfrm>
            <a:off x="640080" y="2331720"/>
            <a:ext cx="7863840" cy="548640"/>
          </a:xfrm>
          <a:prstGeom prst="rect">
            <a:avLst/>
          </a:prstGeom>
          <a:noFill/>
          <a:ln/>
        </p:spPr>
        <p:txBody>
          <a:bodyPr wrap="square" lIns="0" tIns="0" rIns="0" bIns="0" rtlCol="0" anchor="ctr"/>
          <a:lstStyle/>
          <a:p>
            <a:pPr marL="0" indent="0">
              <a:buNone/>
            </a:pPr>
            <a:r>
              <a:rPr lang="en-US" sz="1300" dirty="0">
                <a:solidFill>
                  <a:srgbClr val="FFFFFF"/>
                </a:solidFill>
              </a:rPr>
              <a:t>☁️  Increasing cloud infrastructure abuse across campaigns</a:t>
            </a:r>
            <a:endParaRPr lang="en-US" sz="1300" dirty="0"/>
          </a:p>
        </p:txBody>
      </p:sp>
      <p:sp>
        <p:nvSpPr>
          <p:cNvPr id="10" name="Shape 8"/>
          <p:cNvSpPr/>
          <p:nvPr/>
        </p:nvSpPr>
        <p:spPr>
          <a:xfrm>
            <a:off x="457200" y="3017520"/>
            <a:ext cx="8229600" cy="548640"/>
          </a:xfrm>
          <a:prstGeom prst="rect">
            <a:avLst/>
          </a:prstGeom>
          <a:solidFill>
            <a:srgbClr val="1D3557">
              <a:alpha val="70000"/>
            </a:srgbClr>
          </a:solidFill>
          <a:ln w="6350">
            <a:solidFill>
              <a:srgbClr val="457B9D"/>
            </a:solidFill>
            <a:prstDash val="solid"/>
          </a:ln>
        </p:spPr>
        <p:txBody>
          <a:bodyPr/>
          <a:lstStyle/>
          <a:p>
            <a:endParaRPr lang="en-US"/>
          </a:p>
        </p:txBody>
      </p:sp>
      <p:sp>
        <p:nvSpPr>
          <p:cNvPr id="11" name="Text 9"/>
          <p:cNvSpPr/>
          <p:nvPr/>
        </p:nvSpPr>
        <p:spPr>
          <a:xfrm>
            <a:off x="640080" y="3017520"/>
            <a:ext cx="7863840" cy="548640"/>
          </a:xfrm>
          <a:prstGeom prst="rect">
            <a:avLst/>
          </a:prstGeom>
          <a:noFill/>
          <a:ln/>
        </p:spPr>
        <p:txBody>
          <a:bodyPr wrap="square" lIns="0" tIns="0" rIns="0" bIns="0" rtlCol="0" anchor="ctr"/>
          <a:lstStyle/>
          <a:p>
            <a:pPr marL="0" indent="0">
              <a:buNone/>
            </a:pPr>
            <a:r>
              <a:rPr lang="en-US" sz="1300" dirty="0">
                <a:solidFill>
                  <a:srgbClr val="FFFFFF"/>
                </a:solidFill>
              </a:rPr>
              <a:t>🧩  Adoption of modular development practices</a:t>
            </a:r>
            <a:endParaRPr lang="en-US" sz="1300" dirty="0"/>
          </a:p>
        </p:txBody>
      </p:sp>
      <p:sp>
        <p:nvSpPr>
          <p:cNvPr id="12" name="Shape 10"/>
          <p:cNvSpPr/>
          <p:nvPr/>
        </p:nvSpPr>
        <p:spPr>
          <a:xfrm>
            <a:off x="457200" y="3703320"/>
            <a:ext cx="8229600" cy="548640"/>
          </a:xfrm>
          <a:prstGeom prst="rect">
            <a:avLst/>
          </a:prstGeom>
          <a:solidFill>
            <a:srgbClr val="1D3557">
              <a:alpha val="70000"/>
            </a:srgbClr>
          </a:solidFill>
          <a:ln w="6350">
            <a:solidFill>
              <a:srgbClr val="457B9D"/>
            </a:solidFill>
            <a:prstDash val="solid"/>
          </a:ln>
        </p:spPr>
        <p:txBody>
          <a:bodyPr/>
          <a:lstStyle/>
          <a:p>
            <a:endParaRPr lang="en-US"/>
          </a:p>
        </p:txBody>
      </p:sp>
      <p:sp>
        <p:nvSpPr>
          <p:cNvPr id="13" name="Text 11"/>
          <p:cNvSpPr/>
          <p:nvPr/>
        </p:nvSpPr>
        <p:spPr>
          <a:xfrm>
            <a:off x="640080" y="3703320"/>
            <a:ext cx="7863840" cy="548640"/>
          </a:xfrm>
          <a:prstGeom prst="rect">
            <a:avLst/>
          </a:prstGeom>
          <a:noFill/>
          <a:ln/>
        </p:spPr>
        <p:txBody>
          <a:bodyPr wrap="square" lIns="0" tIns="0" rIns="0" bIns="0" rtlCol="0" anchor="ctr"/>
          <a:lstStyle/>
          <a:p>
            <a:pPr marL="0" indent="0">
              <a:buNone/>
            </a:pPr>
            <a:r>
              <a:rPr lang="en-US" sz="1300" dirty="0">
                <a:solidFill>
                  <a:srgbClr val="FFFFFF"/>
                </a:solidFill>
              </a:rPr>
              <a:t>🔒  Law enforcement disruptions (Grandoreiro 2024) did NOT eliminate capability</a:t>
            </a:r>
            <a:endParaRPr lang="en-US" sz="1300" dirty="0"/>
          </a:p>
        </p:txBody>
      </p:sp>
      <p:sp>
        <p:nvSpPr>
          <p:cNvPr id="14" name="Shape 12"/>
          <p:cNvSpPr/>
          <p:nvPr/>
        </p:nvSpPr>
        <p:spPr>
          <a:xfrm>
            <a:off x="457200" y="4480560"/>
            <a:ext cx="8229600" cy="457200"/>
          </a:xfrm>
          <a:prstGeom prst="rect">
            <a:avLst/>
          </a:prstGeom>
          <a:solidFill>
            <a:srgbClr val="E63946"/>
          </a:solidFill>
          <a:ln w="12700">
            <a:solidFill>
              <a:srgbClr val="E63946"/>
            </a:solidFill>
            <a:prstDash val="solid"/>
          </a:ln>
        </p:spPr>
        <p:txBody>
          <a:bodyPr/>
          <a:lstStyle/>
          <a:p>
            <a:endParaRPr lang="en-US"/>
          </a:p>
        </p:txBody>
      </p:sp>
      <p:sp>
        <p:nvSpPr>
          <p:cNvPr id="15" name="Text 13"/>
          <p:cNvSpPr/>
          <p:nvPr/>
        </p:nvSpPr>
        <p:spPr>
          <a:xfrm>
            <a:off x="457200" y="4480560"/>
            <a:ext cx="8229600" cy="457200"/>
          </a:xfrm>
          <a:prstGeom prst="rect">
            <a:avLst/>
          </a:prstGeom>
          <a:noFill/>
          <a:ln/>
        </p:spPr>
        <p:txBody>
          <a:bodyPr wrap="square" lIns="0" tIns="0" rIns="0" bIns="0" rtlCol="0" anchor="ctr"/>
          <a:lstStyle/>
          <a:p>
            <a:pPr marL="0" indent="0" algn="ctr">
              <a:buNone/>
            </a:pPr>
            <a:r>
              <a:rPr lang="en-US" sz="1100" b="1" dirty="0">
                <a:solidFill>
                  <a:srgbClr val="FFFFFF"/>
                </a:solidFill>
              </a:rPr>
              <a:t>OBSERVATION:  LATAM actors now demonstrate operational maturity comparable to global threat actors.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EE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Shape 1"/>
          <p:cNvSpPr/>
          <p:nvPr/>
        </p:nvSpPr>
        <p:spPr>
          <a:xfrm>
            <a:off x="457200" y="182880"/>
            <a:ext cx="8229600" cy="777240"/>
          </a:xfrm>
          <a:prstGeom prst="rect">
            <a:avLst/>
          </a:prstGeom>
          <a:solidFill>
            <a:srgbClr val="1D3557"/>
          </a:solidFill>
          <a:ln w="12700">
            <a:solidFill>
              <a:srgbClr val="1D3557"/>
            </a:solidFill>
            <a:prstDash val="solid"/>
          </a:ln>
        </p:spPr>
        <p:txBody>
          <a:bodyPr/>
          <a:lstStyle/>
          <a:p>
            <a:endParaRPr lang="en-US"/>
          </a:p>
        </p:txBody>
      </p:sp>
      <p:sp>
        <p:nvSpPr>
          <p:cNvPr id="4" name="Text 2"/>
          <p:cNvSpPr/>
          <p:nvPr/>
        </p:nvSpPr>
        <p:spPr>
          <a:xfrm>
            <a:off x="548640" y="182880"/>
            <a:ext cx="6400800" cy="777240"/>
          </a:xfrm>
          <a:prstGeom prst="rect">
            <a:avLst/>
          </a:prstGeom>
          <a:noFill/>
          <a:ln/>
        </p:spPr>
        <p:txBody>
          <a:bodyPr wrap="square" lIns="0" tIns="0" rIns="0" bIns="0" rtlCol="0" anchor="ctr"/>
          <a:lstStyle/>
          <a:p>
            <a:pPr marL="0" indent="0">
              <a:buNone/>
            </a:pPr>
            <a:r>
              <a:rPr lang="en-US" sz="2400" b="1" dirty="0">
                <a:solidFill>
                  <a:srgbClr val="FFFFFF"/>
                </a:solidFill>
              </a:rPr>
              <a:t>Blind Eagle  (APT-C-36)</a:t>
            </a:r>
            <a:endParaRPr lang="en-US" sz="2400" dirty="0"/>
          </a:p>
        </p:txBody>
      </p:sp>
      <p:sp>
        <p:nvSpPr>
          <p:cNvPr id="5" name="Text 3"/>
          <p:cNvSpPr/>
          <p:nvPr/>
        </p:nvSpPr>
        <p:spPr>
          <a:xfrm>
            <a:off x="6858000" y="182880"/>
            <a:ext cx="1828800" cy="777240"/>
          </a:xfrm>
          <a:prstGeom prst="rect">
            <a:avLst/>
          </a:prstGeom>
          <a:noFill/>
          <a:ln/>
        </p:spPr>
        <p:txBody>
          <a:bodyPr wrap="square" lIns="101600" tIns="101600" rIns="101600" bIns="101600" rtlCol="0" anchor="ctr"/>
          <a:lstStyle/>
          <a:p>
            <a:pPr marL="0" indent="0" algn="r">
              <a:buNone/>
            </a:pPr>
            <a:r>
              <a:rPr lang="en-US" sz="1000" b="1" dirty="0">
                <a:solidFill>
                  <a:srgbClr val="A8DADC"/>
                </a:solidFill>
              </a:rPr>
              <a:t>Espionage + Financial</a:t>
            </a:r>
            <a:endParaRPr lang="en-US" sz="1000" dirty="0"/>
          </a:p>
        </p:txBody>
      </p:sp>
      <p:sp>
        <p:nvSpPr>
          <p:cNvPr id="6" name="Shape 4"/>
          <p:cNvSpPr/>
          <p:nvPr/>
        </p:nvSpPr>
        <p:spPr>
          <a:xfrm>
            <a:off x="457200" y="1097280"/>
            <a:ext cx="3931920" cy="3474720"/>
          </a:xfrm>
          <a:prstGeom prst="rect">
            <a:avLst/>
          </a:prstGeom>
          <a:solidFill>
            <a:srgbClr val="FFFFFF"/>
          </a:solidFill>
          <a:ln w="12700">
            <a:solidFill>
              <a:srgbClr val="457B9D"/>
            </a:solidFill>
            <a:prstDash val="solid"/>
          </a:ln>
          <a:effectLst>
            <a:outerShdw blurRad="50800" dist="25400" dir="8100000" algn="bl" rotWithShape="0">
              <a:srgbClr val="000000">
                <a:alpha val="10000"/>
              </a:srgbClr>
            </a:outerShdw>
          </a:effectLst>
        </p:spPr>
        <p:txBody>
          <a:bodyPr/>
          <a:lstStyle/>
          <a:p>
            <a:endParaRPr lang="en-US"/>
          </a:p>
        </p:txBody>
      </p:sp>
      <p:sp>
        <p:nvSpPr>
          <p:cNvPr id="7" name="Text 5"/>
          <p:cNvSpPr/>
          <p:nvPr/>
        </p:nvSpPr>
        <p:spPr>
          <a:xfrm>
            <a:off x="548640" y="1188720"/>
            <a:ext cx="3749040" cy="365760"/>
          </a:xfrm>
          <a:prstGeom prst="rect">
            <a:avLst/>
          </a:prstGeom>
          <a:noFill/>
          <a:ln/>
        </p:spPr>
        <p:txBody>
          <a:bodyPr wrap="square" lIns="0" tIns="0" rIns="0" bIns="0" rtlCol="0" anchor="ctr"/>
          <a:lstStyle/>
          <a:p>
            <a:pPr marL="0" indent="0">
              <a:buNone/>
            </a:pPr>
            <a:r>
              <a:rPr lang="en-US" sz="1100" b="1" kern="0" spc="100" dirty="0">
                <a:solidFill>
                  <a:srgbClr val="E63946"/>
                </a:solidFill>
              </a:rPr>
              <a:t>OBSERVED BEHAVIORS</a:t>
            </a:r>
            <a:endParaRPr lang="en-US" sz="1100" dirty="0"/>
          </a:p>
        </p:txBody>
      </p:sp>
      <p:sp>
        <p:nvSpPr>
          <p:cNvPr id="8" name="Text 6"/>
          <p:cNvSpPr/>
          <p:nvPr/>
        </p:nvSpPr>
        <p:spPr>
          <a:xfrm>
            <a:off x="548640" y="1600200"/>
            <a:ext cx="3749040" cy="548640"/>
          </a:xfrm>
          <a:prstGeom prst="rect">
            <a:avLst/>
          </a:prstGeom>
          <a:noFill/>
          <a:ln/>
        </p:spPr>
        <p:txBody>
          <a:bodyPr wrap="square" rtlCol="0" anchor="ctr"/>
          <a:lstStyle/>
          <a:p>
            <a:pPr marL="342900" indent="-342900">
              <a:buSzPct val="100000"/>
              <a:buChar char="•"/>
            </a:pPr>
            <a:r>
              <a:rPr lang="en-US" sz="1200" dirty="0">
                <a:solidFill>
                  <a:srgbClr val="0D1B2A"/>
                </a:solidFill>
              </a:rPr>
              <a:t>Spear phishing with weaponized attachments</a:t>
            </a:r>
            <a:endParaRPr lang="en-US" sz="1200" dirty="0"/>
          </a:p>
        </p:txBody>
      </p:sp>
      <p:sp>
        <p:nvSpPr>
          <p:cNvPr id="9" name="Text 7"/>
          <p:cNvSpPr/>
          <p:nvPr/>
        </p:nvSpPr>
        <p:spPr>
          <a:xfrm>
            <a:off x="548640" y="2194560"/>
            <a:ext cx="3749040" cy="548640"/>
          </a:xfrm>
          <a:prstGeom prst="rect">
            <a:avLst/>
          </a:prstGeom>
          <a:noFill/>
          <a:ln/>
        </p:spPr>
        <p:txBody>
          <a:bodyPr wrap="square" rtlCol="0" anchor="ctr"/>
          <a:lstStyle/>
          <a:p>
            <a:pPr marL="342900" indent="-342900">
              <a:buSzPct val="100000"/>
              <a:buChar char="•"/>
            </a:pPr>
            <a:r>
              <a:rPr lang="en-US" sz="1200" dirty="0">
                <a:solidFill>
                  <a:srgbClr val="0D1B2A"/>
                </a:solidFill>
              </a:rPr>
              <a:t>Rapid exploit adoption (short patch-to-exploit window)</a:t>
            </a:r>
            <a:endParaRPr lang="en-US" sz="1200" dirty="0"/>
          </a:p>
        </p:txBody>
      </p:sp>
      <p:sp>
        <p:nvSpPr>
          <p:cNvPr id="10" name="Text 8"/>
          <p:cNvSpPr/>
          <p:nvPr/>
        </p:nvSpPr>
        <p:spPr>
          <a:xfrm>
            <a:off x="548640" y="2788920"/>
            <a:ext cx="3749040" cy="548640"/>
          </a:xfrm>
          <a:prstGeom prst="rect">
            <a:avLst/>
          </a:prstGeom>
          <a:noFill/>
          <a:ln/>
        </p:spPr>
        <p:txBody>
          <a:bodyPr wrap="square" rtlCol="0" anchor="ctr"/>
          <a:lstStyle/>
          <a:p>
            <a:pPr marL="342900" indent="-342900">
              <a:buSzPct val="100000"/>
              <a:buChar char="•"/>
            </a:pPr>
            <a:r>
              <a:rPr lang="en-US" sz="1200" dirty="0">
                <a:solidFill>
                  <a:srgbClr val="0D1B2A"/>
                </a:solidFill>
              </a:rPr>
              <a:t>Web-based staging infrastructure</a:t>
            </a:r>
            <a:endParaRPr lang="en-US" sz="1200" dirty="0"/>
          </a:p>
        </p:txBody>
      </p:sp>
      <p:sp>
        <p:nvSpPr>
          <p:cNvPr id="11" name="Text 9"/>
          <p:cNvSpPr/>
          <p:nvPr/>
        </p:nvSpPr>
        <p:spPr>
          <a:xfrm>
            <a:off x="548640" y="3383280"/>
            <a:ext cx="3749040" cy="548640"/>
          </a:xfrm>
          <a:prstGeom prst="rect">
            <a:avLst/>
          </a:prstGeom>
          <a:noFill/>
          <a:ln/>
        </p:spPr>
        <p:txBody>
          <a:bodyPr wrap="square" rtlCol="0" anchor="ctr"/>
          <a:lstStyle/>
          <a:p>
            <a:pPr marL="342900" indent="-342900">
              <a:buSzPct val="100000"/>
              <a:buChar char="•"/>
            </a:pPr>
            <a:r>
              <a:rPr lang="en-US" sz="1200" dirty="0">
                <a:solidFill>
                  <a:srgbClr val="0D1B2A"/>
                </a:solidFill>
              </a:rPr>
              <a:t>Data exfiltration over encrypted channels</a:t>
            </a:r>
            <a:endParaRPr lang="en-US" sz="1200" dirty="0"/>
          </a:p>
        </p:txBody>
      </p:sp>
      <p:sp>
        <p:nvSpPr>
          <p:cNvPr id="12" name="Shape 10"/>
          <p:cNvSpPr/>
          <p:nvPr/>
        </p:nvSpPr>
        <p:spPr>
          <a:xfrm>
            <a:off x="4754880" y="1097280"/>
            <a:ext cx="3931920" cy="3474720"/>
          </a:xfrm>
          <a:prstGeom prst="rect">
            <a:avLst/>
          </a:prstGeom>
          <a:solidFill>
            <a:srgbClr val="0D1B2A"/>
          </a:solidFill>
          <a:ln w="12700">
            <a:solidFill>
              <a:srgbClr val="1D3557"/>
            </a:solidFill>
            <a:prstDash val="solid"/>
          </a:ln>
          <a:effectLst>
            <a:outerShdw blurRad="50800" dist="25400" dir="8100000" algn="bl" rotWithShape="0">
              <a:srgbClr val="000000">
                <a:alpha val="10000"/>
              </a:srgbClr>
            </a:outerShdw>
          </a:effectLst>
        </p:spPr>
        <p:txBody>
          <a:bodyPr/>
          <a:lstStyle/>
          <a:p>
            <a:endParaRPr lang="en-US"/>
          </a:p>
        </p:txBody>
      </p:sp>
      <p:sp>
        <p:nvSpPr>
          <p:cNvPr id="13" name="Text 11"/>
          <p:cNvSpPr/>
          <p:nvPr/>
        </p:nvSpPr>
        <p:spPr>
          <a:xfrm>
            <a:off x="4846320" y="1188720"/>
            <a:ext cx="3749040" cy="365760"/>
          </a:xfrm>
          <a:prstGeom prst="rect">
            <a:avLst/>
          </a:prstGeom>
          <a:noFill/>
          <a:ln/>
        </p:spPr>
        <p:txBody>
          <a:bodyPr wrap="square" lIns="0" tIns="0" rIns="0" bIns="0" rtlCol="0" anchor="ctr"/>
          <a:lstStyle/>
          <a:p>
            <a:pPr marL="0" indent="0">
              <a:buNone/>
            </a:pPr>
            <a:r>
              <a:rPr lang="en-US" sz="1100" b="1" kern="0" spc="100" dirty="0">
                <a:solidFill>
                  <a:srgbClr val="A8DADC"/>
                </a:solidFill>
              </a:rPr>
              <a:t>ARTIFACTS EXTRACTED</a:t>
            </a:r>
            <a:endParaRPr lang="en-US" sz="1100" dirty="0"/>
          </a:p>
        </p:txBody>
      </p:sp>
      <p:sp>
        <p:nvSpPr>
          <p:cNvPr id="14" name="Text 12"/>
          <p:cNvSpPr/>
          <p:nvPr/>
        </p:nvSpPr>
        <p:spPr>
          <a:xfrm>
            <a:off x="4846320" y="1600200"/>
            <a:ext cx="3749040" cy="548640"/>
          </a:xfrm>
          <a:prstGeom prst="rect">
            <a:avLst/>
          </a:prstGeom>
          <a:noFill/>
          <a:ln/>
        </p:spPr>
        <p:txBody>
          <a:bodyPr wrap="square" lIns="0" tIns="0" rIns="0" bIns="0" rtlCol="0" anchor="ctr"/>
          <a:lstStyle/>
          <a:p>
            <a:pPr marL="0" indent="0">
              <a:buNone/>
            </a:pPr>
            <a:r>
              <a:rPr lang="en-US" sz="1200" dirty="0">
                <a:solidFill>
                  <a:srgbClr val="F1F1F1"/>
                </a:solidFill>
              </a:rPr>
              <a:t>→  Phishing lure templates</a:t>
            </a:r>
            <a:endParaRPr lang="en-US" sz="1200" dirty="0"/>
          </a:p>
        </p:txBody>
      </p:sp>
      <p:sp>
        <p:nvSpPr>
          <p:cNvPr id="15" name="Text 13"/>
          <p:cNvSpPr/>
          <p:nvPr/>
        </p:nvSpPr>
        <p:spPr>
          <a:xfrm>
            <a:off x="4846320" y="2194560"/>
            <a:ext cx="3749040" cy="548640"/>
          </a:xfrm>
          <a:prstGeom prst="rect">
            <a:avLst/>
          </a:prstGeom>
          <a:noFill/>
          <a:ln/>
        </p:spPr>
        <p:txBody>
          <a:bodyPr wrap="square" lIns="0" tIns="0" rIns="0" bIns="0" rtlCol="0" anchor="ctr"/>
          <a:lstStyle/>
          <a:p>
            <a:pPr marL="0" indent="0">
              <a:buNone/>
            </a:pPr>
            <a:r>
              <a:rPr lang="en-US" sz="1200" dirty="0">
                <a:solidFill>
                  <a:srgbClr val="F1F1F1"/>
                </a:solidFill>
              </a:rPr>
              <a:t>→  WebDAV / staged payload URLs</a:t>
            </a:r>
            <a:endParaRPr lang="en-US" sz="1200" dirty="0"/>
          </a:p>
        </p:txBody>
      </p:sp>
      <p:sp>
        <p:nvSpPr>
          <p:cNvPr id="16" name="Text 14"/>
          <p:cNvSpPr/>
          <p:nvPr/>
        </p:nvSpPr>
        <p:spPr>
          <a:xfrm>
            <a:off x="4846320" y="2788920"/>
            <a:ext cx="3749040" cy="548640"/>
          </a:xfrm>
          <a:prstGeom prst="rect">
            <a:avLst/>
          </a:prstGeom>
          <a:noFill/>
          <a:ln/>
        </p:spPr>
        <p:txBody>
          <a:bodyPr wrap="square" lIns="0" tIns="0" rIns="0" bIns="0" rtlCol="0" anchor="ctr"/>
          <a:lstStyle/>
          <a:p>
            <a:pPr marL="0" indent="0">
              <a:buNone/>
            </a:pPr>
            <a:r>
              <a:rPr lang="en-US" sz="1200" dirty="0">
                <a:solidFill>
                  <a:srgbClr val="F1F1F1"/>
                </a:solidFill>
              </a:rPr>
              <a:t>→  Registry persistence entries</a:t>
            </a:r>
            <a:endParaRPr lang="en-US" sz="1200" dirty="0"/>
          </a:p>
        </p:txBody>
      </p:sp>
      <p:sp>
        <p:nvSpPr>
          <p:cNvPr id="17" name="Text 15"/>
          <p:cNvSpPr/>
          <p:nvPr/>
        </p:nvSpPr>
        <p:spPr>
          <a:xfrm>
            <a:off x="4846320" y="3383280"/>
            <a:ext cx="3749040" cy="548640"/>
          </a:xfrm>
          <a:prstGeom prst="rect">
            <a:avLst/>
          </a:prstGeom>
          <a:noFill/>
          <a:ln/>
        </p:spPr>
        <p:txBody>
          <a:bodyPr wrap="square" lIns="0" tIns="0" rIns="0" bIns="0" rtlCol="0" anchor="ctr"/>
          <a:lstStyle/>
          <a:p>
            <a:pPr marL="0" indent="0">
              <a:buNone/>
            </a:pPr>
            <a:r>
              <a:rPr lang="en-US" sz="1200" dirty="0">
                <a:solidFill>
                  <a:srgbClr val="F1F1F1"/>
                </a:solidFill>
              </a:rPr>
              <a:t>→  C2 domains with short TTLs</a:t>
            </a:r>
            <a:endParaRPr lang="en-US" sz="1200" dirty="0"/>
          </a:p>
        </p:txBody>
      </p:sp>
      <p:sp>
        <p:nvSpPr>
          <p:cNvPr id="18" name="Text 16"/>
          <p:cNvSpPr/>
          <p:nvPr/>
        </p:nvSpPr>
        <p:spPr>
          <a:xfrm>
            <a:off x="457200" y="4754880"/>
            <a:ext cx="8229600" cy="274320"/>
          </a:xfrm>
          <a:prstGeom prst="rect">
            <a:avLst/>
          </a:prstGeom>
          <a:noFill/>
          <a:ln/>
        </p:spPr>
        <p:txBody>
          <a:bodyPr wrap="square" lIns="0" tIns="0" rIns="0" bIns="0" rtlCol="0" anchor="ctr"/>
          <a:lstStyle/>
          <a:p>
            <a:pPr marL="0" indent="0">
              <a:buNone/>
            </a:pPr>
            <a:r>
              <a:rPr lang="en-US" sz="1100" i="1" dirty="0">
                <a:solidFill>
                  <a:srgbClr val="8899A6"/>
                </a:solidFill>
              </a:rPr>
              <a:t>Primary Targets: Colombia &amp; LATAM Government / Financial Sectors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57B9D"/>
          </a:solidFill>
          <a:ln w="12700">
            <a:solidFill>
              <a:srgbClr val="457B9D"/>
            </a:solidFill>
            <a:prstDash val="solid"/>
          </a:ln>
        </p:spPr>
        <p:txBody>
          <a:bodyPr/>
          <a:lstStyle/>
          <a:p>
            <a:endParaRPr lang="en-US"/>
          </a:p>
        </p:txBody>
      </p:sp>
      <p:sp>
        <p:nvSpPr>
          <p:cNvPr id="3" name="Text 1"/>
          <p:cNvSpPr/>
          <p:nvPr/>
        </p:nvSpPr>
        <p:spPr>
          <a:xfrm>
            <a:off x="457200" y="182880"/>
            <a:ext cx="6400800" cy="594360"/>
          </a:xfrm>
          <a:prstGeom prst="rect">
            <a:avLst/>
          </a:prstGeom>
          <a:noFill/>
          <a:ln/>
        </p:spPr>
        <p:txBody>
          <a:bodyPr wrap="square" lIns="0" tIns="0" rIns="0" bIns="0" rtlCol="0" anchor="ctr"/>
          <a:lstStyle/>
          <a:p>
            <a:pPr marL="0" indent="0">
              <a:buNone/>
            </a:pPr>
            <a:r>
              <a:rPr lang="en-US" sz="2800" b="1" dirty="0">
                <a:solidFill>
                  <a:srgbClr val="FFFFFF"/>
                </a:solidFill>
              </a:rPr>
              <a:t>Grandoreiro</a:t>
            </a:r>
            <a:endParaRPr lang="en-US" sz="2800" dirty="0"/>
          </a:p>
        </p:txBody>
      </p:sp>
      <p:sp>
        <p:nvSpPr>
          <p:cNvPr id="4" name="Text 2"/>
          <p:cNvSpPr/>
          <p:nvPr/>
        </p:nvSpPr>
        <p:spPr>
          <a:xfrm>
            <a:off x="457200" y="777240"/>
            <a:ext cx="6400800" cy="320040"/>
          </a:xfrm>
          <a:prstGeom prst="rect">
            <a:avLst/>
          </a:prstGeom>
          <a:noFill/>
          <a:ln/>
        </p:spPr>
        <p:txBody>
          <a:bodyPr wrap="square" lIns="0" tIns="0" rIns="0" bIns="0" rtlCol="0" anchor="ctr"/>
          <a:lstStyle/>
          <a:p>
            <a:pPr marL="0" indent="0">
              <a:buNone/>
            </a:pPr>
            <a:r>
              <a:rPr lang="en-US" sz="1300" i="1" dirty="0">
                <a:solidFill>
                  <a:srgbClr val="A8DADC"/>
                </a:solidFill>
              </a:rPr>
              <a:t>Advanced Banking Trojan</a:t>
            </a:r>
            <a:endParaRPr lang="en-US" sz="1300" dirty="0"/>
          </a:p>
        </p:txBody>
      </p:sp>
      <p:sp>
        <p:nvSpPr>
          <p:cNvPr id="5" name="Shape 3"/>
          <p:cNvSpPr/>
          <p:nvPr/>
        </p:nvSpPr>
        <p:spPr>
          <a:xfrm>
            <a:off x="5029200" y="182880"/>
            <a:ext cx="3749040" cy="822960"/>
          </a:xfrm>
          <a:prstGeom prst="rect">
            <a:avLst/>
          </a:prstGeom>
          <a:solidFill>
            <a:srgbClr val="E63946">
              <a:alpha val="80000"/>
            </a:srgbClr>
          </a:solidFill>
          <a:ln w="12700">
            <a:solidFill>
              <a:srgbClr val="E63946"/>
            </a:solidFill>
            <a:prstDash val="solid"/>
          </a:ln>
        </p:spPr>
        <p:txBody>
          <a:bodyPr/>
          <a:lstStyle/>
          <a:p>
            <a:endParaRPr lang="en-US"/>
          </a:p>
        </p:txBody>
      </p:sp>
      <p:sp>
        <p:nvSpPr>
          <p:cNvPr id="6" name="Text 4"/>
          <p:cNvSpPr/>
          <p:nvPr/>
        </p:nvSpPr>
        <p:spPr>
          <a:xfrm>
            <a:off x="5029200" y="182880"/>
            <a:ext cx="3749040" cy="822960"/>
          </a:xfrm>
          <a:prstGeom prst="rect">
            <a:avLst/>
          </a:prstGeom>
          <a:noFill/>
          <a:ln/>
        </p:spPr>
        <p:txBody>
          <a:bodyPr wrap="square" lIns="50800" tIns="50800" rIns="50800" bIns="50800" rtlCol="0" anchor="ctr"/>
          <a:lstStyle/>
          <a:p>
            <a:pPr marL="0" indent="0" algn="ctr">
              <a:buNone/>
            </a:pPr>
            <a:r>
              <a:rPr lang="en-US" sz="1100" b="1" dirty="0">
                <a:solidFill>
                  <a:srgbClr val="FFFFFF"/>
                </a:solidFill>
              </a:rPr>
              <a:t>⚠  2024 Int'l Law Enforcement Disruption</a:t>
            </a:r>
            <a:endParaRPr lang="en-US" sz="1100" dirty="0"/>
          </a:p>
        </p:txBody>
      </p:sp>
      <p:sp>
        <p:nvSpPr>
          <p:cNvPr id="7" name="Text 5"/>
          <p:cNvSpPr/>
          <p:nvPr/>
        </p:nvSpPr>
        <p:spPr>
          <a:xfrm>
            <a:off x="457200" y="1280160"/>
            <a:ext cx="4572000" cy="320040"/>
          </a:xfrm>
          <a:prstGeom prst="rect">
            <a:avLst/>
          </a:prstGeom>
          <a:noFill/>
          <a:ln/>
        </p:spPr>
        <p:txBody>
          <a:bodyPr wrap="square" lIns="0" tIns="0" rIns="0" bIns="0" rtlCol="0" anchor="ctr"/>
          <a:lstStyle/>
          <a:p>
            <a:pPr marL="0" indent="0">
              <a:buNone/>
            </a:pPr>
            <a:r>
              <a:rPr lang="en-US" sz="1000" b="1" kern="0" spc="200" dirty="0">
                <a:solidFill>
                  <a:srgbClr val="A8DADC"/>
                </a:solidFill>
              </a:rPr>
              <a:t>TECHNICAL CHARACTERISTICS</a:t>
            </a:r>
            <a:endParaRPr lang="en-US" sz="1000" dirty="0"/>
          </a:p>
        </p:txBody>
      </p:sp>
      <p:sp>
        <p:nvSpPr>
          <p:cNvPr id="8" name="Shape 6"/>
          <p:cNvSpPr/>
          <p:nvPr/>
        </p:nvSpPr>
        <p:spPr>
          <a:xfrm>
            <a:off x="457200" y="1691640"/>
            <a:ext cx="4297680" cy="530352"/>
          </a:xfrm>
          <a:prstGeom prst="rect">
            <a:avLst/>
          </a:prstGeom>
          <a:solidFill>
            <a:srgbClr val="1D3557"/>
          </a:solidFill>
          <a:ln w="6350">
            <a:solidFill>
              <a:srgbClr val="457B9D"/>
            </a:solidFill>
            <a:prstDash val="solid"/>
          </a:ln>
        </p:spPr>
        <p:txBody>
          <a:bodyPr/>
          <a:lstStyle/>
          <a:p>
            <a:endParaRPr lang="en-US"/>
          </a:p>
        </p:txBody>
      </p:sp>
      <p:sp>
        <p:nvSpPr>
          <p:cNvPr id="9" name="Text 7"/>
          <p:cNvSpPr/>
          <p:nvPr/>
        </p:nvSpPr>
        <p:spPr>
          <a:xfrm>
            <a:off x="640080" y="1691640"/>
            <a:ext cx="4114800" cy="530352"/>
          </a:xfrm>
          <a:prstGeom prst="rect">
            <a:avLst/>
          </a:prstGeom>
          <a:noFill/>
          <a:ln/>
        </p:spPr>
        <p:txBody>
          <a:bodyPr wrap="square" lIns="0" tIns="0" rIns="0" bIns="0" rtlCol="0" anchor="ctr"/>
          <a:lstStyle/>
          <a:p>
            <a:pPr marL="0" indent="0">
              <a:buNone/>
            </a:pPr>
            <a:r>
              <a:rPr lang="en-US" sz="1200" dirty="0">
                <a:solidFill>
                  <a:srgbClr val="FFFFFF"/>
                </a:solidFill>
              </a:rPr>
              <a:t>Modular loader architecture</a:t>
            </a:r>
            <a:endParaRPr lang="en-US" sz="1200" dirty="0"/>
          </a:p>
        </p:txBody>
      </p:sp>
      <p:sp>
        <p:nvSpPr>
          <p:cNvPr id="10" name="Shape 8"/>
          <p:cNvSpPr/>
          <p:nvPr/>
        </p:nvSpPr>
        <p:spPr>
          <a:xfrm>
            <a:off x="457200" y="2331720"/>
            <a:ext cx="4297680" cy="530352"/>
          </a:xfrm>
          <a:prstGeom prst="rect">
            <a:avLst/>
          </a:prstGeom>
          <a:solidFill>
            <a:srgbClr val="1D3557"/>
          </a:solidFill>
          <a:ln w="6350">
            <a:solidFill>
              <a:srgbClr val="457B9D"/>
            </a:solidFill>
            <a:prstDash val="solid"/>
          </a:ln>
        </p:spPr>
        <p:txBody>
          <a:bodyPr/>
          <a:lstStyle/>
          <a:p>
            <a:endParaRPr lang="en-US"/>
          </a:p>
        </p:txBody>
      </p:sp>
      <p:sp>
        <p:nvSpPr>
          <p:cNvPr id="11" name="Text 9"/>
          <p:cNvSpPr/>
          <p:nvPr/>
        </p:nvSpPr>
        <p:spPr>
          <a:xfrm>
            <a:off x="640080" y="2331720"/>
            <a:ext cx="4114800" cy="530352"/>
          </a:xfrm>
          <a:prstGeom prst="rect">
            <a:avLst/>
          </a:prstGeom>
          <a:noFill/>
          <a:ln/>
        </p:spPr>
        <p:txBody>
          <a:bodyPr wrap="square" lIns="0" tIns="0" rIns="0" bIns="0" rtlCol="0" anchor="ctr"/>
          <a:lstStyle/>
          <a:p>
            <a:pPr marL="0" indent="0">
              <a:buNone/>
            </a:pPr>
            <a:r>
              <a:rPr lang="en-US" sz="1200" dirty="0">
                <a:solidFill>
                  <a:srgbClr val="FFFFFF"/>
                </a:solidFill>
              </a:rPr>
              <a:t>DGA or dynamic C2 resolution</a:t>
            </a:r>
            <a:endParaRPr lang="en-US" sz="1200" dirty="0"/>
          </a:p>
        </p:txBody>
      </p:sp>
      <p:sp>
        <p:nvSpPr>
          <p:cNvPr id="12" name="Shape 10"/>
          <p:cNvSpPr/>
          <p:nvPr/>
        </p:nvSpPr>
        <p:spPr>
          <a:xfrm>
            <a:off x="457200" y="2971800"/>
            <a:ext cx="4297680" cy="530352"/>
          </a:xfrm>
          <a:prstGeom prst="rect">
            <a:avLst/>
          </a:prstGeom>
          <a:solidFill>
            <a:srgbClr val="1D3557"/>
          </a:solidFill>
          <a:ln w="6350">
            <a:solidFill>
              <a:srgbClr val="457B9D"/>
            </a:solidFill>
            <a:prstDash val="solid"/>
          </a:ln>
        </p:spPr>
        <p:txBody>
          <a:bodyPr/>
          <a:lstStyle/>
          <a:p>
            <a:endParaRPr lang="en-US"/>
          </a:p>
        </p:txBody>
      </p:sp>
      <p:sp>
        <p:nvSpPr>
          <p:cNvPr id="13" name="Text 11"/>
          <p:cNvSpPr/>
          <p:nvPr/>
        </p:nvSpPr>
        <p:spPr>
          <a:xfrm>
            <a:off x="640080" y="2971800"/>
            <a:ext cx="4114800" cy="530352"/>
          </a:xfrm>
          <a:prstGeom prst="rect">
            <a:avLst/>
          </a:prstGeom>
          <a:noFill/>
          <a:ln/>
        </p:spPr>
        <p:txBody>
          <a:bodyPr wrap="square" lIns="0" tIns="0" rIns="0" bIns="0" rtlCol="0" anchor="ctr"/>
          <a:lstStyle/>
          <a:p>
            <a:pPr marL="0" indent="0">
              <a:buNone/>
            </a:pPr>
            <a:r>
              <a:rPr lang="en-US" sz="1200" dirty="0">
                <a:solidFill>
                  <a:srgbClr val="FFFFFF"/>
                </a:solidFill>
              </a:rPr>
              <a:t>Banking credential interception</a:t>
            </a:r>
            <a:endParaRPr lang="en-US" sz="1200" dirty="0"/>
          </a:p>
        </p:txBody>
      </p:sp>
      <p:sp>
        <p:nvSpPr>
          <p:cNvPr id="14" name="Shape 12"/>
          <p:cNvSpPr/>
          <p:nvPr/>
        </p:nvSpPr>
        <p:spPr>
          <a:xfrm>
            <a:off x="457200" y="3611880"/>
            <a:ext cx="4297680" cy="530352"/>
          </a:xfrm>
          <a:prstGeom prst="rect">
            <a:avLst/>
          </a:prstGeom>
          <a:solidFill>
            <a:srgbClr val="1D3557"/>
          </a:solidFill>
          <a:ln w="6350">
            <a:solidFill>
              <a:srgbClr val="457B9D"/>
            </a:solidFill>
            <a:prstDash val="solid"/>
          </a:ln>
        </p:spPr>
        <p:txBody>
          <a:bodyPr/>
          <a:lstStyle/>
          <a:p>
            <a:endParaRPr lang="en-US"/>
          </a:p>
        </p:txBody>
      </p:sp>
      <p:sp>
        <p:nvSpPr>
          <p:cNvPr id="15" name="Text 13"/>
          <p:cNvSpPr/>
          <p:nvPr/>
        </p:nvSpPr>
        <p:spPr>
          <a:xfrm>
            <a:off x="640080" y="3611880"/>
            <a:ext cx="4114800" cy="530352"/>
          </a:xfrm>
          <a:prstGeom prst="rect">
            <a:avLst/>
          </a:prstGeom>
          <a:noFill/>
          <a:ln/>
        </p:spPr>
        <p:txBody>
          <a:bodyPr wrap="square" lIns="0" tIns="0" rIns="0" bIns="0" rtlCol="0" anchor="ctr"/>
          <a:lstStyle/>
          <a:p>
            <a:pPr marL="0" indent="0">
              <a:buNone/>
            </a:pPr>
            <a:r>
              <a:rPr lang="en-US" sz="1200" dirty="0">
                <a:solidFill>
                  <a:srgbClr val="FFFFFF"/>
                </a:solidFill>
              </a:rPr>
              <a:t>Outlook client abuse for propagation</a:t>
            </a:r>
            <a:endParaRPr lang="en-US" sz="1200" dirty="0"/>
          </a:p>
        </p:txBody>
      </p:sp>
      <p:sp>
        <p:nvSpPr>
          <p:cNvPr id="16" name="Text 14"/>
          <p:cNvSpPr/>
          <p:nvPr/>
        </p:nvSpPr>
        <p:spPr>
          <a:xfrm>
            <a:off x="5029200" y="1280160"/>
            <a:ext cx="3749040" cy="320040"/>
          </a:xfrm>
          <a:prstGeom prst="rect">
            <a:avLst/>
          </a:prstGeom>
          <a:noFill/>
          <a:ln/>
        </p:spPr>
        <p:txBody>
          <a:bodyPr wrap="square" lIns="0" tIns="0" rIns="0" bIns="0" rtlCol="0" anchor="ctr"/>
          <a:lstStyle/>
          <a:p>
            <a:pPr marL="0" indent="0">
              <a:buNone/>
            </a:pPr>
            <a:r>
              <a:rPr lang="en-US" sz="1000" b="1" kern="0" spc="200" dirty="0">
                <a:solidFill>
                  <a:srgbClr val="A8DADC"/>
                </a:solidFill>
              </a:rPr>
              <a:t>ARTIFACTS</a:t>
            </a:r>
            <a:endParaRPr lang="en-US" sz="1000" dirty="0"/>
          </a:p>
        </p:txBody>
      </p:sp>
      <p:sp>
        <p:nvSpPr>
          <p:cNvPr id="17" name="Text 15"/>
          <p:cNvSpPr/>
          <p:nvPr/>
        </p:nvSpPr>
        <p:spPr>
          <a:xfrm>
            <a:off x="5029200" y="1691640"/>
            <a:ext cx="3749040" cy="530352"/>
          </a:xfrm>
          <a:prstGeom prst="rect">
            <a:avLst/>
          </a:prstGeom>
          <a:noFill/>
          <a:ln/>
        </p:spPr>
        <p:txBody>
          <a:bodyPr wrap="square" lIns="0" tIns="0" rIns="0" bIns="0" rtlCol="0" anchor="ctr"/>
          <a:lstStyle/>
          <a:p>
            <a:pPr marL="0" indent="0">
              <a:buNone/>
            </a:pPr>
            <a:r>
              <a:rPr lang="en-US" sz="1200" dirty="0">
                <a:solidFill>
                  <a:srgbClr val="F1F1F1"/>
                </a:solidFill>
              </a:rPr>
              <a:t>◆  LNK / ZIP delivery chains</a:t>
            </a:r>
            <a:endParaRPr lang="en-US" sz="1200" dirty="0"/>
          </a:p>
        </p:txBody>
      </p:sp>
      <p:sp>
        <p:nvSpPr>
          <p:cNvPr id="18" name="Text 16"/>
          <p:cNvSpPr/>
          <p:nvPr/>
        </p:nvSpPr>
        <p:spPr>
          <a:xfrm>
            <a:off x="5029200" y="2331720"/>
            <a:ext cx="3749040" cy="530352"/>
          </a:xfrm>
          <a:prstGeom prst="rect">
            <a:avLst/>
          </a:prstGeom>
          <a:noFill/>
          <a:ln/>
        </p:spPr>
        <p:txBody>
          <a:bodyPr wrap="square" lIns="0" tIns="0" rIns="0" bIns="0" rtlCol="0" anchor="ctr"/>
          <a:lstStyle/>
          <a:p>
            <a:pPr marL="0" indent="0">
              <a:buNone/>
            </a:pPr>
            <a:r>
              <a:rPr lang="en-US" sz="1200" dirty="0">
                <a:solidFill>
                  <a:srgbClr val="F1F1F1"/>
                </a:solidFill>
              </a:rPr>
              <a:t>◆  Process injection behavior</a:t>
            </a:r>
            <a:endParaRPr lang="en-US" sz="1200" dirty="0"/>
          </a:p>
        </p:txBody>
      </p:sp>
      <p:sp>
        <p:nvSpPr>
          <p:cNvPr id="19" name="Text 17"/>
          <p:cNvSpPr/>
          <p:nvPr/>
        </p:nvSpPr>
        <p:spPr>
          <a:xfrm>
            <a:off x="5029200" y="2971800"/>
            <a:ext cx="3749040" cy="530352"/>
          </a:xfrm>
          <a:prstGeom prst="rect">
            <a:avLst/>
          </a:prstGeom>
          <a:noFill/>
          <a:ln/>
        </p:spPr>
        <p:txBody>
          <a:bodyPr wrap="square" lIns="0" tIns="0" rIns="0" bIns="0" rtlCol="0" anchor="ctr"/>
          <a:lstStyle/>
          <a:p>
            <a:pPr marL="0" indent="0">
              <a:buNone/>
            </a:pPr>
            <a:r>
              <a:rPr lang="en-US" sz="1200" dirty="0">
                <a:solidFill>
                  <a:srgbClr val="F1F1F1"/>
                </a:solidFill>
              </a:rPr>
              <a:t>◆  TLS certificate reuse</a:t>
            </a:r>
            <a:endParaRPr lang="en-US" sz="1200" dirty="0"/>
          </a:p>
        </p:txBody>
      </p:sp>
      <p:sp>
        <p:nvSpPr>
          <p:cNvPr id="20" name="Text 18"/>
          <p:cNvSpPr/>
          <p:nvPr/>
        </p:nvSpPr>
        <p:spPr>
          <a:xfrm>
            <a:off x="5029200" y="3611880"/>
            <a:ext cx="3749040" cy="530352"/>
          </a:xfrm>
          <a:prstGeom prst="rect">
            <a:avLst/>
          </a:prstGeom>
          <a:noFill/>
          <a:ln/>
        </p:spPr>
        <p:txBody>
          <a:bodyPr wrap="square" lIns="0" tIns="0" rIns="0" bIns="0" rtlCol="0" anchor="ctr"/>
          <a:lstStyle/>
          <a:p>
            <a:pPr marL="0" indent="0">
              <a:buNone/>
            </a:pPr>
            <a:r>
              <a:rPr lang="en-US" sz="1200" dirty="0">
                <a:solidFill>
                  <a:srgbClr val="F1F1F1"/>
                </a:solidFill>
              </a:rPr>
              <a:t>◆  Banking overlay patterns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EE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82880"/>
            <a:ext cx="8229600" cy="594360"/>
          </a:xfrm>
          <a:prstGeom prst="rect">
            <a:avLst/>
          </a:prstGeom>
          <a:noFill/>
          <a:ln/>
        </p:spPr>
        <p:txBody>
          <a:bodyPr wrap="square" lIns="0" tIns="0" rIns="0" bIns="0" rtlCol="0" anchor="ctr"/>
          <a:lstStyle/>
          <a:p>
            <a:pPr marL="0" indent="0">
              <a:buNone/>
            </a:pPr>
            <a:r>
              <a:rPr lang="en-US" sz="2800" b="1" dirty="0">
                <a:solidFill>
                  <a:srgbClr val="0D1B2A"/>
                </a:solidFill>
              </a:rPr>
              <a:t>Mispadu &amp; Mekotio</a:t>
            </a:r>
            <a:endParaRPr lang="en-US" sz="2800" dirty="0"/>
          </a:p>
        </p:txBody>
      </p:sp>
      <p:sp>
        <p:nvSpPr>
          <p:cNvPr id="4" name="Text 2"/>
          <p:cNvSpPr/>
          <p:nvPr/>
        </p:nvSpPr>
        <p:spPr>
          <a:xfrm>
            <a:off x="457200" y="868680"/>
            <a:ext cx="2743200" cy="320040"/>
          </a:xfrm>
          <a:prstGeom prst="rect">
            <a:avLst/>
          </a:prstGeom>
          <a:noFill/>
          <a:ln/>
        </p:spPr>
        <p:txBody>
          <a:bodyPr wrap="square" lIns="0" tIns="0" rIns="0" bIns="0" rtlCol="0" anchor="ctr"/>
          <a:lstStyle/>
          <a:p>
            <a:pPr marL="0" indent="0">
              <a:buNone/>
            </a:pPr>
            <a:r>
              <a:rPr lang="en-US" sz="1000" b="1" kern="0" spc="200" dirty="0">
                <a:solidFill>
                  <a:srgbClr val="E63946"/>
                </a:solidFill>
              </a:rPr>
              <a:t>DELIVERY CHAIN</a:t>
            </a:r>
            <a:endParaRPr lang="en-US" sz="1000" dirty="0"/>
          </a:p>
        </p:txBody>
      </p:sp>
      <p:sp>
        <p:nvSpPr>
          <p:cNvPr id="5" name="Shape 3"/>
          <p:cNvSpPr/>
          <p:nvPr/>
        </p:nvSpPr>
        <p:spPr>
          <a:xfrm>
            <a:off x="457200" y="1234440"/>
            <a:ext cx="1417320" cy="548640"/>
          </a:xfrm>
          <a:prstGeom prst="rect">
            <a:avLst/>
          </a:prstGeom>
          <a:solidFill>
            <a:srgbClr val="E63946"/>
          </a:solidFill>
          <a:ln w="12700">
            <a:solidFill>
              <a:srgbClr val="E63946"/>
            </a:solidFill>
            <a:prstDash val="solid"/>
          </a:ln>
        </p:spPr>
        <p:txBody>
          <a:bodyPr/>
          <a:lstStyle/>
          <a:p>
            <a:endParaRPr lang="en-US"/>
          </a:p>
        </p:txBody>
      </p:sp>
      <p:sp>
        <p:nvSpPr>
          <p:cNvPr id="6" name="Text 4"/>
          <p:cNvSpPr/>
          <p:nvPr/>
        </p:nvSpPr>
        <p:spPr>
          <a:xfrm>
            <a:off x="457200" y="1234440"/>
            <a:ext cx="1417320" cy="548640"/>
          </a:xfrm>
          <a:prstGeom prst="rect">
            <a:avLst/>
          </a:prstGeom>
          <a:noFill/>
          <a:ln/>
        </p:spPr>
        <p:txBody>
          <a:bodyPr wrap="square" lIns="0" tIns="0" rIns="0" bIns="0" rtlCol="0" anchor="ctr"/>
          <a:lstStyle/>
          <a:p>
            <a:pPr marL="0" indent="0" algn="ctr">
              <a:buNone/>
            </a:pPr>
            <a:r>
              <a:rPr lang="en-US" sz="1300" b="1" dirty="0">
                <a:solidFill>
                  <a:srgbClr val="FFFFFF"/>
                </a:solidFill>
              </a:rPr>
              <a:t>Phishing</a:t>
            </a:r>
            <a:endParaRPr lang="en-US" sz="1300" dirty="0"/>
          </a:p>
        </p:txBody>
      </p:sp>
      <p:sp>
        <p:nvSpPr>
          <p:cNvPr id="7" name="Shape 5"/>
          <p:cNvSpPr/>
          <p:nvPr/>
        </p:nvSpPr>
        <p:spPr>
          <a:xfrm>
            <a:off x="1874520" y="1508760"/>
            <a:ext cx="246888" cy="0"/>
          </a:xfrm>
          <a:prstGeom prst="line">
            <a:avLst/>
          </a:prstGeom>
          <a:noFill/>
          <a:ln w="25400">
            <a:solidFill>
              <a:srgbClr val="1D3557"/>
            </a:solidFill>
            <a:prstDash val="solid"/>
          </a:ln>
        </p:spPr>
        <p:txBody>
          <a:bodyPr/>
          <a:lstStyle/>
          <a:p>
            <a:endParaRPr lang="en-US"/>
          </a:p>
        </p:txBody>
      </p:sp>
      <p:sp>
        <p:nvSpPr>
          <p:cNvPr id="8" name="Shape 6"/>
          <p:cNvSpPr/>
          <p:nvPr/>
        </p:nvSpPr>
        <p:spPr>
          <a:xfrm>
            <a:off x="2121408" y="1234440"/>
            <a:ext cx="1417320" cy="548640"/>
          </a:xfrm>
          <a:prstGeom prst="rect">
            <a:avLst/>
          </a:prstGeom>
          <a:solidFill>
            <a:srgbClr val="1D3557"/>
          </a:solidFill>
          <a:ln w="12700">
            <a:solidFill>
              <a:srgbClr val="1D3557"/>
            </a:solidFill>
            <a:prstDash val="solid"/>
          </a:ln>
        </p:spPr>
        <p:txBody>
          <a:bodyPr/>
          <a:lstStyle/>
          <a:p>
            <a:endParaRPr lang="en-US"/>
          </a:p>
        </p:txBody>
      </p:sp>
      <p:sp>
        <p:nvSpPr>
          <p:cNvPr id="9" name="Text 7"/>
          <p:cNvSpPr/>
          <p:nvPr/>
        </p:nvSpPr>
        <p:spPr>
          <a:xfrm>
            <a:off x="2121408" y="1234440"/>
            <a:ext cx="1417320" cy="548640"/>
          </a:xfrm>
          <a:prstGeom prst="rect">
            <a:avLst/>
          </a:prstGeom>
          <a:noFill/>
          <a:ln/>
        </p:spPr>
        <p:txBody>
          <a:bodyPr wrap="square" lIns="0" tIns="0" rIns="0" bIns="0" rtlCol="0" anchor="ctr"/>
          <a:lstStyle/>
          <a:p>
            <a:pPr marL="0" indent="0" algn="ctr">
              <a:buNone/>
            </a:pPr>
            <a:r>
              <a:rPr lang="en-US" sz="1300" b="1" dirty="0">
                <a:solidFill>
                  <a:srgbClr val="FFFFFF"/>
                </a:solidFill>
              </a:rPr>
              <a:t>ZIP</a:t>
            </a:r>
            <a:endParaRPr lang="en-US" sz="1300" dirty="0"/>
          </a:p>
        </p:txBody>
      </p:sp>
      <p:sp>
        <p:nvSpPr>
          <p:cNvPr id="10" name="Shape 8"/>
          <p:cNvSpPr/>
          <p:nvPr/>
        </p:nvSpPr>
        <p:spPr>
          <a:xfrm>
            <a:off x="3538728" y="1508760"/>
            <a:ext cx="246888" cy="0"/>
          </a:xfrm>
          <a:prstGeom prst="line">
            <a:avLst/>
          </a:prstGeom>
          <a:noFill/>
          <a:ln w="25400">
            <a:solidFill>
              <a:srgbClr val="1D3557"/>
            </a:solidFill>
            <a:prstDash val="solid"/>
          </a:ln>
        </p:spPr>
        <p:txBody>
          <a:bodyPr/>
          <a:lstStyle/>
          <a:p>
            <a:endParaRPr lang="en-US"/>
          </a:p>
        </p:txBody>
      </p:sp>
      <p:sp>
        <p:nvSpPr>
          <p:cNvPr id="11" name="Shape 9"/>
          <p:cNvSpPr/>
          <p:nvPr/>
        </p:nvSpPr>
        <p:spPr>
          <a:xfrm>
            <a:off x="3785616" y="1234440"/>
            <a:ext cx="1417320" cy="548640"/>
          </a:xfrm>
          <a:prstGeom prst="rect">
            <a:avLst/>
          </a:prstGeom>
          <a:solidFill>
            <a:srgbClr val="1D3557"/>
          </a:solidFill>
          <a:ln w="12700">
            <a:solidFill>
              <a:srgbClr val="1D3557"/>
            </a:solidFill>
            <a:prstDash val="solid"/>
          </a:ln>
        </p:spPr>
        <p:txBody>
          <a:bodyPr/>
          <a:lstStyle/>
          <a:p>
            <a:endParaRPr lang="en-US"/>
          </a:p>
        </p:txBody>
      </p:sp>
      <p:sp>
        <p:nvSpPr>
          <p:cNvPr id="12" name="Text 10"/>
          <p:cNvSpPr/>
          <p:nvPr/>
        </p:nvSpPr>
        <p:spPr>
          <a:xfrm>
            <a:off x="3785616" y="1234440"/>
            <a:ext cx="1417320" cy="548640"/>
          </a:xfrm>
          <a:prstGeom prst="rect">
            <a:avLst/>
          </a:prstGeom>
          <a:noFill/>
          <a:ln/>
        </p:spPr>
        <p:txBody>
          <a:bodyPr wrap="square" lIns="0" tIns="0" rIns="0" bIns="0" rtlCol="0" anchor="ctr"/>
          <a:lstStyle/>
          <a:p>
            <a:pPr marL="0" indent="0" algn="ctr">
              <a:buNone/>
            </a:pPr>
            <a:r>
              <a:rPr lang="en-US" sz="1300" b="1" dirty="0">
                <a:solidFill>
                  <a:srgbClr val="FFFFFF"/>
                </a:solidFill>
              </a:rPr>
              <a:t>LNK</a:t>
            </a:r>
            <a:endParaRPr lang="en-US" sz="1300" dirty="0"/>
          </a:p>
        </p:txBody>
      </p:sp>
      <p:sp>
        <p:nvSpPr>
          <p:cNvPr id="13" name="Shape 11"/>
          <p:cNvSpPr/>
          <p:nvPr/>
        </p:nvSpPr>
        <p:spPr>
          <a:xfrm>
            <a:off x="5202936" y="1508760"/>
            <a:ext cx="246888" cy="0"/>
          </a:xfrm>
          <a:prstGeom prst="line">
            <a:avLst/>
          </a:prstGeom>
          <a:noFill/>
          <a:ln w="25400">
            <a:solidFill>
              <a:srgbClr val="1D3557"/>
            </a:solidFill>
            <a:prstDash val="solid"/>
          </a:ln>
        </p:spPr>
        <p:txBody>
          <a:bodyPr/>
          <a:lstStyle/>
          <a:p>
            <a:endParaRPr lang="en-US"/>
          </a:p>
        </p:txBody>
      </p:sp>
      <p:sp>
        <p:nvSpPr>
          <p:cNvPr id="14" name="Shape 12"/>
          <p:cNvSpPr/>
          <p:nvPr/>
        </p:nvSpPr>
        <p:spPr>
          <a:xfrm>
            <a:off x="5449824" y="1234440"/>
            <a:ext cx="1417320" cy="548640"/>
          </a:xfrm>
          <a:prstGeom prst="rect">
            <a:avLst/>
          </a:prstGeom>
          <a:solidFill>
            <a:srgbClr val="1D3557"/>
          </a:solidFill>
          <a:ln w="12700">
            <a:solidFill>
              <a:srgbClr val="1D3557"/>
            </a:solidFill>
            <a:prstDash val="solid"/>
          </a:ln>
        </p:spPr>
        <p:txBody>
          <a:bodyPr/>
          <a:lstStyle/>
          <a:p>
            <a:endParaRPr lang="en-US"/>
          </a:p>
        </p:txBody>
      </p:sp>
      <p:sp>
        <p:nvSpPr>
          <p:cNvPr id="15" name="Text 13"/>
          <p:cNvSpPr/>
          <p:nvPr/>
        </p:nvSpPr>
        <p:spPr>
          <a:xfrm>
            <a:off x="5449824" y="1234440"/>
            <a:ext cx="1417320" cy="548640"/>
          </a:xfrm>
          <a:prstGeom prst="rect">
            <a:avLst/>
          </a:prstGeom>
          <a:noFill/>
          <a:ln/>
        </p:spPr>
        <p:txBody>
          <a:bodyPr wrap="square" lIns="0" tIns="0" rIns="0" bIns="0" rtlCol="0" anchor="ctr"/>
          <a:lstStyle/>
          <a:p>
            <a:pPr marL="0" indent="0" algn="ctr">
              <a:buNone/>
            </a:pPr>
            <a:r>
              <a:rPr lang="en-US" sz="1300" b="1" dirty="0">
                <a:solidFill>
                  <a:srgbClr val="FFFFFF"/>
                </a:solidFill>
              </a:rPr>
              <a:t>PowerShell</a:t>
            </a:r>
            <a:endParaRPr lang="en-US" sz="1300" dirty="0"/>
          </a:p>
        </p:txBody>
      </p:sp>
      <p:sp>
        <p:nvSpPr>
          <p:cNvPr id="16" name="Shape 14"/>
          <p:cNvSpPr/>
          <p:nvPr/>
        </p:nvSpPr>
        <p:spPr>
          <a:xfrm>
            <a:off x="6867144" y="1508760"/>
            <a:ext cx="246888" cy="0"/>
          </a:xfrm>
          <a:prstGeom prst="line">
            <a:avLst/>
          </a:prstGeom>
          <a:noFill/>
          <a:ln w="25400">
            <a:solidFill>
              <a:srgbClr val="1D3557"/>
            </a:solidFill>
            <a:prstDash val="solid"/>
          </a:ln>
        </p:spPr>
        <p:txBody>
          <a:bodyPr/>
          <a:lstStyle/>
          <a:p>
            <a:endParaRPr lang="en-US"/>
          </a:p>
        </p:txBody>
      </p:sp>
      <p:sp>
        <p:nvSpPr>
          <p:cNvPr id="17" name="Shape 15"/>
          <p:cNvSpPr/>
          <p:nvPr/>
        </p:nvSpPr>
        <p:spPr>
          <a:xfrm>
            <a:off x="7114032" y="1234440"/>
            <a:ext cx="1417320" cy="548640"/>
          </a:xfrm>
          <a:prstGeom prst="rect">
            <a:avLst/>
          </a:prstGeom>
          <a:solidFill>
            <a:srgbClr val="457B9D"/>
          </a:solidFill>
          <a:ln w="12700">
            <a:solidFill>
              <a:srgbClr val="457B9D"/>
            </a:solidFill>
            <a:prstDash val="solid"/>
          </a:ln>
        </p:spPr>
        <p:txBody>
          <a:bodyPr/>
          <a:lstStyle/>
          <a:p>
            <a:endParaRPr lang="en-US"/>
          </a:p>
        </p:txBody>
      </p:sp>
      <p:sp>
        <p:nvSpPr>
          <p:cNvPr id="18" name="Text 16"/>
          <p:cNvSpPr/>
          <p:nvPr/>
        </p:nvSpPr>
        <p:spPr>
          <a:xfrm>
            <a:off x="7114032" y="1234440"/>
            <a:ext cx="1417320" cy="548640"/>
          </a:xfrm>
          <a:prstGeom prst="rect">
            <a:avLst/>
          </a:prstGeom>
          <a:noFill/>
          <a:ln/>
        </p:spPr>
        <p:txBody>
          <a:bodyPr wrap="square" lIns="0" tIns="0" rIns="0" bIns="0" rtlCol="0" anchor="ctr"/>
          <a:lstStyle/>
          <a:p>
            <a:pPr marL="0" indent="0" algn="ctr">
              <a:buNone/>
            </a:pPr>
            <a:r>
              <a:rPr lang="en-US" sz="1300" b="1" dirty="0">
                <a:solidFill>
                  <a:srgbClr val="FFFFFF"/>
                </a:solidFill>
              </a:rPr>
              <a:t>Payload</a:t>
            </a:r>
            <a:endParaRPr lang="en-US" sz="1300" dirty="0"/>
          </a:p>
        </p:txBody>
      </p:sp>
      <p:sp>
        <p:nvSpPr>
          <p:cNvPr id="19" name="Shape 17"/>
          <p:cNvSpPr/>
          <p:nvPr/>
        </p:nvSpPr>
        <p:spPr>
          <a:xfrm>
            <a:off x="457200" y="2011680"/>
            <a:ext cx="2651760" cy="2194560"/>
          </a:xfrm>
          <a:prstGeom prst="rect">
            <a:avLst/>
          </a:prstGeom>
          <a:solidFill>
            <a:srgbClr val="FFFFFF"/>
          </a:solidFill>
          <a:ln w="12700">
            <a:solidFill>
              <a:srgbClr val="457B9D"/>
            </a:solidFill>
            <a:prstDash val="solid"/>
          </a:ln>
          <a:effectLst>
            <a:outerShdw blurRad="76200" dist="25400" dir="8100000" algn="bl" rotWithShape="0">
              <a:srgbClr val="000000">
                <a:alpha val="10000"/>
              </a:srgbClr>
            </a:outerShdw>
          </a:effectLst>
        </p:spPr>
        <p:txBody>
          <a:bodyPr/>
          <a:lstStyle/>
          <a:p>
            <a:endParaRPr lang="en-US"/>
          </a:p>
        </p:txBody>
      </p:sp>
      <p:sp>
        <p:nvSpPr>
          <p:cNvPr id="20" name="Shape 18"/>
          <p:cNvSpPr/>
          <p:nvPr/>
        </p:nvSpPr>
        <p:spPr>
          <a:xfrm>
            <a:off x="457200" y="2011680"/>
            <a:ext cx="2651760" cy="411480"/>
          </a:xfrm>
          <a:prstGeom prst="rect">
            <a:avLst/>
          </a:prstGeom>
          <a:solidFill>
            <a:srgbClr val="1D3557"/>
          </a:solidFill>
          <a:ln w="12700">
            <a:solidFill>
              <a:srgbClr val="1D3557"/>
            </a:solidFill>
            <a:prstDash val="solid"/>
          </a:ln>
        </p:spPr>
        <p:txBody>
          <a:bodyPr/>
          <a:lstStyle/>
          <a:p>
            <a:endParaRPr lang="en-US"/>
          </a:p>
        </p:txBody>
      </p:sp>
      <p:sp>
        <p:nvSpPr>
          <p:cNvPr id="21" name="Text 19"/>
          <p:cNvSpPr/>
          <p:nvPr/>
        </p:nvSpPr>
        <p:spPr>
          <a:xfrm>
            <a:off x="548640" y="2011680"/>
            <a:ext cx="2468880" cy="411480"/>
          </a:xfrm>
          <a:prstGeom prst="rect">
            <a:avLst/>
          </a:prstGeom>
          <a:noFill/>
          <a:ln/>
        </p:spPr>
        <p:txBody>
          <a:bodyPr wrap="square" lIns="0" tIns="0" rIns="0" bIns="0" rtlCol="0" anchor="ctr"/>
          <a:lstStyle/>
          <a:p>
            <a:pPr marL="0" indent="0">
              <a:buNone/>
            </a:pPr>
            <a:r>
              <a:rPr lang="en-US" sz="1200" b="1" dirty="0">
                <a:solidFill>
                  <a:srgbClr val="FFFFFF"/>
                </a:solidFill>
              </a:rPr>
              <a:t>Credential Harvesting</a:t>
            </a:r>
            <a:endParaRPr lang="en-US" sz="1200" dirty="0"/>
          </a:p>
        </p:txBody>
      </p:sp>
      <p:sp>
        <p:nvSpPr>
          <p:cNvPr id="22" name="Text 20"/>
          <p:cNvSpPr/>
          <p:nvPr/>
        </p:nvSpPr>
        <p:spPr>
          <a:xfrm>
            <a:off x="594360" y="2514600"/>
            <a:ext cx="2423160" cy="1600200"/>
          </a:xfrm>
          <a:prstGeom prst="rect">
            <a:avLst/>
          </a:prstGeom>
          <a:noFill/>
          <a:ln/>
        </p:spPr>
        <p:txBody>
          <a:bodyPr wrap="square" rtlCol="0" anchor="ctr"/>
          <a:lstStyle/>
          <a:p>
            <a:pPr marL="0" indent="0">
              <a:buNone/>
            </a:pPr>
            <a:r>
              <a:rPr lang="en-US" sz="1200" dirty="0">
                <a:solidFill>
                  <a:srgbClr val="0D1B2A"/>
                </a:solidFill>
              </a:rPr>
              <a:t>Captures banking credentials via overlay attacks and keylogging</a:t>
            </a:r>
            <a:endParaRPr lang="en-US" sz="1200" dirty="0"/>
          </a:p>
        </p:txBody>
      </p:sp>
      <p:sp>
        <p:nvSpPr>
          <p:cNvPr id="23" name="Shape 21"/>
          <p:cNvSpPr/>
          <p:nvPr/>
        </p:nvSpPr>
        <p:spPr>
          <a:xfrm>
            <a:off x="3310128" y="2011680"/>
            <a:ext cx="2651760" cy="2194560"/>
          </a:xfrm>
          <a:prstGeom prst="rect">
            <a:avLst/>
          </a:prstGeom>
          <a:solidFill>
            <a:srgbClr val="FFFFFF"/>
          </a:solidFill>
          <a:ln w="12700">
            <a:solidFill>
              <a:srgbClr val="457B9D"/>
            </a:solidFill>
            <a:prstDash val="solid"/>
          </a:ln>
          <a:effectLst>
            <a:outerShdw blurRad="76200" dist="25400" dir="8100000" algn="bl" rotWithShape="0">
              <a:srgbClr val="000000">
                <a:alpha val="10000"/>
              </a:srgbClr>
            </a:outerShdw>
          </a:effectLst>
        </p:spPr>
        <p:txBody>
          <a:bodyPr/>
          <a:lstStyle/>
          <a:p>
            <a:endParaRPr lang="en-US"/>
          </a:p>
        </p:txBody>
      </p:sp>
      <p:sp>
        <p:nvSpPr>
          <p:cNvPr id="24" name="Shape 22"/>
          <p:cNvSpPr/>
          <p:nvPr/>
        </p:nvSpPr>
        <p:spPr>
          <a:xfrm>
            <a:off x="3310128" y="2011680"/>
            <a:ext cx="2651760" cy="411480"/>
          </a:xfrm>
          <a:prstGeom prst="rect">
            <a:avLst/>
          </a:prstGeom>
          <a:solidFill>
            <a:srgbClr val="1D3557"/>
          </a:solidFill>
          <a:ln w="12700">
            <a:solidFill>
              <a:srgbClr val="1D3557"/>
            </a:solidFill>
            <a:prstDash val="solid"/>
          </a:ln>
        </p:spPr>
        <p:txBody>
          <a:bodyPr/>
          <a:lstStyle/>
          <a:p>
            <a:endParaRPr lang="en-US"/>
          </a:p>
        </p:txBody>
      </p:sp>
      <p:sp>
        <p:nvSpPr>
          <p:cNvPr id="25" name="Text 23"/>
          <p:cNvSpPr/>
          <p:nvPr/>
        </p:nvSpPr>
        <p:spPr>
          <a:xfrm>
            <a:off x="3401568" y="2011680"/>
            <a:ext cx="2468880" cy="411480"/>
          </a:xfrm>
          <a:prstGeom prst="rect">
            <a:avLst/>
          </a:prstGeom>
          <a:noFill/>
          <a:ln/>
        </p:spPr>
        <p:txBody>
          <a:bodyPr wrap="square" lIns="0" tIns="0" rIns="0" bIns="0" rtlCol="0" anchor="ctr"/>
          <a:lstStyle/>
          <a:p>
            <a:pPr marL="0" indent="0">
              <a:buNone/>
            </a:pPr>
            <a:r>
              <a:rPr lang="en-US" sz="1200" b="1" dirty="0">
                <a:solidFill>
                  <a:srgbClr val="FFFFFF"/>
                </a:solidFill>
              </a:rPr>
              <a:t>Clipboard Monitoring</a:t>
            </a:r>
            <a:endParaRPr lang="en-US" sz="1200" dirty="0"/>
          </a:p>
        </p:txBody>
      </p:sp>
      <p:sp>
        <p:nvSpPr>
          <p:cNvPr id="26" name="Text 24"/>
          <p:cNvSpPr/>
          <p:nvPr/>
        </p:nvSpPr>
        <p:spPr>
          <a:xfrm>
            <a:off x="3447288" y="2514600"/>
            <a:ext cx="2423160" cy="1600200"/>
          </a:xfrm>
          <a:prstGeom prst="rect">
            <a:avLst/>
          </a:prstGeom>
          <a:noFill/>
          <a:ln/>
        </p:spPr>
        <p:txBody>
          <a:bodyPr wrap="square" rtlCol="0" anchor="ctr"/>
          <a:lstStyle/>
          <a:p>
            <a:pPr marL="0" indent="0">
              <a:buNone/>
            </a:pPr>
            <a:r>
              <a:rPr lang="en-US" sz="1200" dirty="0">
                <a:solidFill>
                  <a:srgbClr val="0D1B2A"/>
                </a:solidFill>
              </a:rPr>
              <a:t>Intercepts copied payment data, crypto addresses, and passwords</a:t>
            </a:r>
            <a:endParaRPr lang="en-US" sz="1200" dirty="0"/>
          </a:p>
        </p:txBody>
      </p:sp>
      <p:sp>
        <p:nvSpPr>
          <p:cNvPr id="27" name="Shape 25"/>
          <p:cNvSpPr/>
          <p:nvPr/>
        </p:nvSpPr>
        <p:spPr>
          <a:xfrm>
            <a:off x="6163056" y="2011680"/>
            <a:ext cx="2651760" cy="2194560"/>
          </a:xfrm>
          <a:prstGeom prst="rect">
            <a:avLst/>
          </a:prstGeom>
          <a:solidFill>
            <a:srgbClr val="FFFFFF"/>
          </a:solidFill>
          <a:ln w="12700">
            <a:solidFill>
              <a:srgbClr val="457B9D"/>
            </a:solidFill>
            <a:prstDash val="solid"/>
          </a:ln>
          <a:effectLst>
            <a:outerShdw blurRad="76200" dist="25400" dir="8100000" algn="bl" rotWithShape="0">
              <a:srgbClr val="000000">
                <a:alpha val="10000"/>
              </a:srgbClr>
            </a:outerShdw>
          </a:effectLst>
        </p:spPr>
        <p:txBody>
          <a:bodyPr/>
          <a:lstStyle/>
          <a:p>
            <a:endParaRPr lang="en-US"/>
          </a:p>
        </p:txBody>
      </p:sp>
      <p:sp>
        <p:nvSpPr>
          <p:cNvPr id="28" name="Shape 26"/>
          <p:cNvSpPr/>
          <p:nvPr/>
        </p:nvSpPr>
        <p:spPr>
          <a:xfrm>
            <a:off x="6163056" y="2011680"/>
            <a:ext cx="2651760" cy="411480"/>
          </a:xfrm>
          <a:prstGeom prst="rect">
            <a:avLst/>
          </a:prstGeom>
          <a:solidFill>
            <a:srgbClr val="1D3557"/>
          </a:solidFill>
          <a:ln w="12700">
            <a:solidFill>
              <a:srgbClr val="1D3557"/>
            </a:solidFill>
            <a:prstDash val="solid"/>
          </a:ln>
        </p:spPr>
        <p:txBody>
          <a:bodyPr/>
          <a:lstStyle/>
          <a:p>
            <a:endParaRPr lang="en-US"/>
          </a:p>
        </p:txBody>
      </p:sp>
      <p:sp>
        <p:nvSpPr>
          <p:cNvPr id="29" name="Text 27"/>
          <p:cNvSpPr/>
          <p:nvPr/>
        </p:nvSpPr>
        <p:spPr>
          <a:xfrm>
            <a:off x="6254496" y="2011680"/>
            <a:ext cx="2468880" cy="411480"/>
          </a:xfrm>
          <a:prstGeom prst="rect">
            <a:avLst/>
          </a:prstGeom>
          <a:noFill/>
          <a:ln/>
        </p:spPr>
        <p:txBody>
          <a:bodyPr wrap="square" lIns="0" tIns="0" rIns="0" bIns="0" rtlCol="0" anchor="ctr"/>
          <a:lstStyle/>
          <a:p>
            <a:pPr marL="0" indent="0">
              <a:buNone/>
            </a:pPr>
            <a:r>
              <a:rPr lang="en-US" sz="1200" b="1" dirty="0">
                <a:solidFill>
                  <a:srgbClr val="FFFFFF"/>
                </a:solidFill>
              </a:rPr>
              <a:t>Banking Overlays</a:t>
            </a:r>
            <a:endParaRPr lang="en-US" sz="1200" dirty="0"/>
          </a:p>
        </p:txBody>
      </p:sp>
      <p:sp>
        <p:nvSpPr>
          <p:cNvPr id="30" name="Text 28"/>
          <p:cNvSpPr/>
          <p:nvPr/>
        </p:nvSpPr>
        <p:spPr>
          <a:xfrm>
            <a:off x="6300216" y="2514600"/>
            <a:ext cx="2423160" cy="1600200"/>
          </a:xfrm>
          <a:prstGeom prst="rect">
            <a:avLst/>
          </a:prstGeom>
          <a:noFill/>
          <a:ln/>
        </p:spPr>
        <p:txBody>
          <a:bodyPr wrap="square" rtlCol="0" anchor="ctr"/>
          <a:lstStyle/>
          <a:p>
            <a:pPr marL="0" indent="0">
              <a:buNone/>
            </a:pPr>
            <a:r>
              <a:rPr lang="en-US" sz="1200" dirty="0">
                <a:solidFill>
                  <a:srgbClr val="0D1B2A"/>
                </a:solidFill>
              </a:rPr>
              <a:t>Targeted fake UI overlays for major banking institutions across LATAM</a:t>
            </a:r>
            <a:endParaRPr lang="en-US" sz="1200" dirty="0"/>
          </a:p>
        </p:txBody>
      </p:sp>
      <p:sp>
        <p:nvSpPr>
          <p:cNvPr id="31" name="Shape 29"/>
          <p:cNvSpPr/>
          <p:nvPr/>
        </p:nvSpPr>
        <p:spPr>
          <a:xfrm>
            <a:off x="457200" y="4434840"/>
            <a:ext cx="8229600" cy="502920"/>
          </a:xfrm>
          <a:prstGeom prst="rect">
            <a:avLst/>
          </a:prstGeom>
          <a:solidFill>
            <a:srgbClr val="1D3557"/>
          </a:solidFill>
          <a:ln w="12700">
            <a:solidFill>
              <a:srgbClr val="1D3557"/>
            </a:solidFill>
            <a:prstDash val="solid"/>
          </a:ln>
        </p:spPr>
        <p:txBody>
          <a:bodyPr/>
          <a:lstStyle/>
          <a:p>
            <a:endParaRPr lang="en-US"/>
          </a:p>
        </p:txBody>
      </p:sp>
      <p:sp>
        <p:nvSpPr>
          <p:cNvPr id="32" name="Text 30"/>
          <p:cNvSpPr/>
          <p:nvPr/>
        </p:nvSpPr>
        <p:spPr>
          <a:xfrm>
            <a:off x="457200" y="4434840"/>
            <a:ext cx="8229600" cy="502920"/>
          </a:xfrm>
          <a:prstGeom prst="rect">
            <a:avLst/>
          </a:prstGeom>
          <a:noFill/>
          <a:ln/>
        </p:spPr>
        <p:txBody>
          <a:bodyPr wrap="square" lIns="0" tIns="0" rIns="0" bIns="0" rtlCol="0" anchor="ctr"/>
          <a:lstStyle/>
          <a:p>
            <a:pPr marL="0" indent="0" algn="ctr">
              <a:buNone/>
            </a:pPr>
            <a:r>
              <a:rPr lang="en-US" sz="1100" b="1" dirty="0">
                <a:solidFill>
                  <a:srgbClr val="FFFFFF"/>
                </a:solidFill>
              </a:rPr>
              <a:t>INSIGHT:  Consistent refinement rather than radical redesign — suggests a structured development lifecycle.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82880"/>
            <a:ext cx="8229600" cy="594360"/>
          </a:xfrm>
          <a:prstGeom prst="rect">
            <a:avLst/>
          </a:prstGeom>
          <a:noFill/>
          <a:ln/>
        </p:spPr>
        <p:txBody>
          <a:bodyPr wrap="square" lIns="0" tIns="0" rIns="0" bIns="0" rtlCol="0" anchor="ctr"/>
          <a:lstStyle/>
          <a:p>
            <a:pPr marL="0" indent="0">
              <a:buNone/>
            </a:pPr>
            <a:r>
              <a:rPr lang="en-US" sz="2800" b="1" dirty="0">
                <a:solidFill>
                  <a:srgbClr val="FFFFFF"/>
                </a:solidFill>
              </a:rPr>
              <a:t>Lampion &amp; CHAVECLOAK</a:t>
            </a:r>
            <a:endParaRPr lang="en-US" sz="2800" dirty="0"/>
          </a:p>
        </p:txBody>
      </p:sp>
      <p:sp>
        <p:nvSpPr>
          <p:cNvPr id="4" name="Text 2"/>
          <p:cNvSpPr/>
          <p:nvPr/>
        </p:nvSpPr>
        <p:spPr>
          <a:xfrm>
            <a:off x="457200" y="777240"/>
            <a:ext cx="8229600" cy="274320"/>
          </a:xfrm>
          <a:prstGeom prst="rect">
            <a:avLst/>
          </a:prstGeom>
          <a:noFill/>
          <a:ln/>
        </p:spPr>
        <p:txBody>
          <a:bodyPr wrap="square" lIns="0" tIns="0" rIns="0" bIns="0" rtlCol="0" anchor="ctr"/>
          <a:lstStyle/>
          <a:p>
            <a:pPr marL="0" indent="0">
              <a:buNone/>
            </a:pPr>
            <a:r>
              <a:rPr lang="en-US" sz="1300" i="1" dirty="0">
                <a:solidFill>
                  <a:srgbClr val="A8DADC"/>
                </a:solidFill>
              </a:rPr>
              <a:t>Emerging &amp; Refined Banking Campaigns</a:t>
            </a:r>
            <a:endParaRPr lang="en-US" sz="1300" dirty="0"/>
          </a:p>
        </p:txBody>
      </p:sp>
      <p:sp>
        <p:nvSpPr>
          <p:cNvPr id="5" name="Shape 3"/>
          <p:cNvSpPr/>
          <p:nvPr/>
        </p:nvSpPr>
        <p:spPr>
          <a:xfrm>
            <a:off x="457200" y="1188720"/>
            <a:ext cx="3931920" cy="2834640"/>
          </a:xfrm>
          <a:prstGeom prst="rect">
            <a:avLst/>
          </a:prstGeom>
          <a:solidFill>
            <a:srgbClr val="1D3557"/>
          </a:solidFill>
          <a:ln w="12700">
            <a:solidFill>
              <a:srgbClr val="457B9D"/>
            </a:solidFill>
            <a:prstDash val="solid"/>
          </a:ln>
        </p:spPr>
        <p:txBody>
          <a:bodyPr/>
          <a:lstStyle/>
          <a:p>
            <a:endParaRPr lang="en-US"/>
          </a:p>
        </p:txBody>
      </p:sp>
      <p:sp>
        <p:nvSpPr>
          <p:cNvPr id="6" name="Shape 4"/>
          <p:cNvSpPr/>
          <p:nvPr/>
        </p:nvSpPr>
        <p:spPr>
          <a:xfrm>
            <a:off x="457200" y="1188720"/>
            <a:ext cx="3931920" cy="457200"/>
          </a:xfrm>
          <a:prstGeom prst="rect">
            <a:avLst/>
          </a:prstGeom>
          <a:solidFill>
            <a:srgbClr val="457B9D"/>
          </a:solidFill>
          <a:ln w="12700">
            <a:solidFill>
              <a:srgbClr val="457B9D"/>
            </a:solidFill>
            <a:prstDash val="solid"/>
          </a:ln>
        </p:spPr>
        <p:txBody>
          <a:bodyPr/>
          <a:lstStyle/>
          <a:p>
            <a:endParaRPr lang="en-US"/>
          </a:p>
        </p:txBody>
      </p:sp>
      <p:sp>
        <p:nvSpPr>
          <p:cNvPr id="7" name="Text 5"/>
          <p:cNvSpPr/>
          <p:nvPr/>
        </p:nvSpPr>
        <p:spPr>
          <a:xfrm>
            <a:off x="548640" y="1188720"/>
            <a:ext cx="3749040" cy="457200"/>
          </a:xfrm>
          <a:prstGeom prst="rect">
            <a:avLst/>
          </a:prstGeom>
          <a:noFill/>
          <a:ln/>
        </p:spPr>
        <p:txBody>
          <a:bodyPr wrap="square" lIns="0" tIns="0" rIns="0" bIns="0" rtlCol="0" anchor="ctr"/>
          <a:lstStyle/>
          <a:p>
            <a:pPr marL="0" indent="0">
              <a:buNone/>
            </a:pPr>
            <a:r>
              <a:rPr lang="en-US" sz="1400" b="1" dirty="0">
                <a:solidFill>
                  <a:srgbClr val="FFFFFF"/>
                </a:solidFill>
              </a:rPr>
              <a:t>LAMPION</a:t>
            </a:r>
            <a:endParaRPr lang="en-US" sz="1400" dirty="0"/>
          </a:p>
        </p:txBody>
      </p:sp>
      <p:sp>
        <p:nvSpPr>
          <p:cNvPr id="8" name="Text 6"/>
          <p:cNvSpPr/>
          <p:nvPr/>
        </p:nvSpPr>
        <p:spPr>
          <a:xfrm>
            <a:off x="594360" y="1737360"/>
            <a:ext cx="3657600" cy="457200"/>
          </a:xfrm>
          <a:prstGeom prst="rect">
            <a:avLst/>
          </a:prstGeom>
          <a:noFill/>
          <a:ln/>
        </p:spPr>
        <p:txBody>
          <a:bodyPr wrap="square" lIns="0" tIns="0" rIns="0" bIns="0" rtlCol="0" anchor="ctr"/>
          <a:lstStyle/>
          <a:p>
            <a:pPr marL="0" indent="0">
              <a:buNone/>
            </a:pPr>
            <a:r>
              <a:rPr lang="en-US" sz="1200" dirty="0">
                <a:solidFill>
                  <a:srgbClr val="F1F1F1"/>
                </a:solidFill>
              </a:rPr>
              <a:t>▸  Targeted financial institutions</a:t>
            </a:r>
            <a:endParaRPr lang="en-US" sz="1200" dirty="0"/>
          </a:p>
        </p:txBody>
      </p:sp>
      <p:sp>
        <p:nvSpPr>
          <p:cNvPr id="9" name="Text 7"/>
          <p:cNvSpPr/>
          <p:nvPr/>
        </p:nvSpPr>
        <p:spPr>
          <a:xfrm>
            <a:off x="594360" y="2240280"/>
            <a:ext cx="3657600" cy="457200"/>
          </a:xfrm>
          <a:prstGeom prst="rect">
            <a:avLst/>
          </a:prstGeom>
          <a:noFill/>
          <a:ln/>
        </p:spPr>
        <p:txBody>
          <a:bodyPr wrap="square" lIns="0" tIns="0" rIns="0" bIns="0" rtlCol="0" anchor="ctr"/>
          <a:lstStyle/>
          <a:p>
            <a:pPr marL="0" indent="0">
              <a:buNone/>
            </a:pPr>
            <a:r>
              <a:rPr lang="en-US" sz="1200" dirty="0">
                <a:solidFill>
                  <a:srgbClr val="F1F1F1"/>
                </a:solidFill>
              </a:rPr>
              <a:t>▸  Multi-stage infection chain</a:t>
            </a:r>
            <a:endParaRPr lang="en-US" sz="1200" dirty="0"/>
          </a:p>
        </p:txBody>
      </p:sp>
      <p:sp>
        <p:nvSpPr>
          <p:cNvPr id="10" name="Text 8"/>
          <p:cNvSpPr/>
          <p:nvPr/>
        </p:nvSpPr>
        <p:spPr>
          <a:xfrm>
            <a:off x="594360" y="2743200"/>
            <a:ext cx="3657600" cy="457200"/>
          </a:xfrm>
          <a:prstGeom prst="rect">
            <a:avLst/>
          </a:prstGeom>
          <a:noFill/>
          <a:ln/>
        </p:spPr>
        <p:txBody>
          <a:bodyPr wrap="square" lIns="0" tIns="0" rIns="0" bIns="0" rtlCol="0" anchor="ctr"/>
          <a:lstStyle/>
          <a:p>
            <a:pPr marL="0" indent="0">
              <a:buNone/>
            </a:pPr>
            <a:r>
              <a:rPr lang="en-US" sz="1200" dirty="0">
                <a:solidFill>
                  <a:srgbClr val="F1F1F1"/>
                </a:solidFill>
              </a:rPr>
              <a:t>▸  Scripted payload execution</a:t>
            </a:r>
            <a:endParaRPr lang="en-US" sz="1200" dirty="0"/>
          </a:p>
        </p:txBody>
      </p:sp>
      <p:sp>
        <p:nvSpPr>
          <p:cNvPr id="11" name="Shape 9"/>
          <p:cNvSpPr/>
          <p:nvPr/>
        </p:nvSpPr>
        <p:spPr>
          <a:xfrm>
            <a:off x="4754880" y="1188720"/>
            <a:ext cx="3931920" cy="2834640"/>
          </a:xfrm>
          <a:prstGeom prst="rect">
            <a:avLst/>
          </a:prstGeom>
          <a:solidFill>
            <a:srgbClr val="1D3557"/>
          </a:solidFill>
          <a:ln w="12700">
            <a:solidFill>
              <a:srgbClr val="E63946"/>
            </a:solidFill>
            <a:prstDash val="solid"/>
          </a:ln>
        </p:spPr>
        <p:txBody>
          <a:bodyPr/>
          <a:lstStyle/>
          <a:p>
            <a:endParaRPr lang="en-US"/>
          </a:p>
        </p:txBody>
      </p:sp>
      <p:sp>
        <p:nvSpPr>
          <p:cNvPr id="12" name="Shape 10"/>
          <p:cNvSpPr/>
          <p:nvPr/>
        </p:nvSpPr>
        <p:spPr>
          <a:xfrm>
            <a:off x="4754880" y="1188720"/>
            <a:ext cx="3931920" cy="457200"/>
          </a:xfrm>
          <a:prstGeom prst="rect">
            <a:avLst/>
          </a:prstGeom>
          <a:solidFill>
            <a:srgbClr val="E63946"/>
          </a:solidFill>
          <a:ln w="12700">
            <a:solidFill>
              <a:srgbClr val="E63946"/>
            </a:solidFill>
            <a:prstDash val="solid"/>
          </a:ln>
        </p:spPr>
        <p:txBody>
          <a:bodyPr/>
          <a:lstStyle/>
          <a:p>
            <a:endParaRPr lang="en-US"/>
          </a:p>
        </p:txBody>
      </p:sp>
      <p:sp>
        <p:nvSpPr>
          <p:cNvPr id="13" name="Text 11"/>
          <p:cNvSpPr/>
          <p:nvPr/>
        </p:nvSpPr>
        <p:spPr>
          <a:xfrm>
            <a:off x="4846320" y="1188720"/>
            <a:ext cx="3749040" cy="457200"/>
          </a:xfrm>
          <a:prstGeom prst="rect">
            <a:avLst/>
          </a:prstGeom>
          <a:noFill/>
          <a:ln/>
        </p:spPr>
        <p:txBody>
          <a:bodyPr wrap="square" lIns="0" tIns="0" rIns="0" bIns="0" rtlCol="0" anchor="ctr"/>
          <a:lstStyle/>
          <a:p>
            <a:pPr marL="0" indent="0">
              <a:buNone/>
            </a:pPr>
            <a:r>
              <a:rPr lang="en-US" sz="1400" b="1" dirty="0">
                <a:solidFill>
                  <a:srgbClr val="FFFFFF"/>
                </a:solidFill>
              </a:rPr>
              <a:t>CHAVECLOAK  (2024)</a:t>
            </a:r>
            <a:endParaRPr lang="en-US" sz="1400" dirty="0"/>
          </a:p>
        </p:txBody>
      </p:sp>
      <p:sp>
        <p:nvSpPr>
          <p:cNvPr id="14" name="Text 12"/>
          <p:cNvSpPr/>
          <p:nvPr/>
        </p:nvSpPr>
        <p:spPr>
          <a:xfrm>
            <a:off x="4846320" y="1737360"/>
            <a:ext cx="3657600" cy="457200"/>
          </a:xfrm>
          <a:prstGeom prst="rect">
            <a:avLst/>
          </a:prstGeom>
          <a:noFill/>
          <a:ln/>
        </p:spPr>
        <p:txBody>
          <a:bodyPr wrap="square" lIns="0" tIns="0" rIns="0" bIns="0" rtlCol="0" anchor="ctr"/>
          <a:lstStyle/>
          <a:p>
            <a:pPr marL="0" indent="0">
              <a:buNone/>
            </a:pPr>
            <a:r>
              <a:rPr lang="en-US" sz="1200" dirty="0">
                <a:solidFill>
                  <a:srgbClr val="F1F1F1"/>
                </a:solidFill>
              </a:rPr>
              <a:t>▸  PDF → ZIP → DLL sideloading</a:t>
            </a:r>
            <a:endParaRPr lang="en-US" sz="1200" dirty="0"/>
          </a:p>
        </p:txBody>
      </p:sp>
      <p:sp>
        <p:nvSpPr>
          <p:cNvPr id="15" name="Text 13"/>
          <p:cNvSpPr/>
          <p:nvPr/>
        </p:nvSpPr>
        <p:spPr>
          <a:xfrm>
            <a:off x="4846320" y="2240280"/>
            <a:ext cx="3657600" cy="457200"/>
          </a:xfrm>
          <a:prstGeom prst="rect">
            <a:avLst/>
          </a:prstGeom>
          <a:noFill/>
          <a:ln/>
        </p:spPr>
        <p:txBody>
          <a:bodyPr wrap="square" lIns="0" tIns="0" rIns="0" bIns="0" rtlCol="0" anchor="ctr"/>
          <a:lstStyle/>
          <a:p>
            <a:pPr marL="0" indent="0">
              <a:buNone/>
            </a:pPr>
            <a:r>
              <a:rPr lang="en-US" sz="1200" dirty="0">
                <a:solidFill>
                  <a:srgbClr val="F1F1F1"/>
                </a:solidFill>
              </a:rPr>
              <a:t>▸  Clean execution chain</a:t>
            </a:r>
            <a:endParaRPr lang="en-US" sz="1200" dirty="0"/>
          </a:p>
        </p:txBody>
      </p:sp>
      <p:sp>
        <p:nvSpPr>
          <p:cNvPr id="16" name="Text 14"/>
          <p:cNvSpPr/>
          <p:nvPr/>
        </p:nvSpPr>
        <p:spPr>
          <a:xfrm>
            <a:off x="4846320" y="2743200"/>
            <a:ext cx="3657600" cy="457200"/>
          </a:xfrm>
          <a:prstGeom prst="rect">
            <a:avLst/>
          </a:prstGeom>
          <a:noFill/>
          <a:ln/>
        </p:spPr>
        <p:txBody>
          <a:bodyPr wrap="square" lIns="0" tIns="0" rIns="0" bIns="0" rtlCol="0" anchor="ctr"/>
          <a:lstStyle/>
          <a:p>
            <a:pPr marL="0" indent="0">
              <a:buNone/>
            </a:pPr>
            <a:r>
              <a:rPr lang="en-US" sz="1200" dirty="0">
                <a:solidFill>
                  <a:srgbClr val="F1F1F1"/>
                </a:solidFill>
              </a:rPr>
              <a:t>▸  Trusted binary abuse</a:t>
            </a:r>
            <a:endParaRPr lang="en-US" sz="1200" dirty="0"/>
          </a:p>
        </p:txBody>
      </p:sp>
      <p:sp>
        <p:nvSpPr>
          <p:cNvPr id="17" name="Text 15"/>
          <p:cNvSpPr/>
          <p:nvPr/>
        </p:nvSpPr>
        <p:spPr>
          <a:xfrm>
            <a:off x="457200" y="4160520"/>
            <a:ext cx="2743200" cy="274320"/>
          </a:xfrm>
          <a:prstGeom prst="rect">
            <a:avLst/>
          </a:prstGeom>
          <a:noFill/>
          <a:ln/>
        </p:spPr>
        <p:txBody>
          <a:bodyPr wrap="square" lIns="0" tIns="0" rIns="0" bIns="0" rtlCol="0" anchor="ctr"/>
          <a:lstStyle/>
          <a:p>
            <a:pPr marL="0" indent="0">
              <a:buNone/>
            </a:pPr>
            <a:r>
              <a:rPr lang="en-US" sz="1000" b="1" kern="0" spc="200" dirty="0">
                <a:solidFill>
                  <a:srgbClr val="A8DADC"/>
                </a:solidFill>
              </a:rPr>
              <a:t>ARTIFACT FOCUS</a:t>
            </a:r>
            <a:endParaRPr lang="en-US" sz="1000" dirty="0"/>
          </a:p>
        </p:txBody>
      </p:sp>
      <p:sp>
        <p:nvSpPr>
          <p:cNvPr id="18" name="Text 16"/>
          <p:cNvSpPr/>
          <p:nvPr/>
        </p:nvSpPr>
        <p:spPr>
          <a:xfrm>
            <a:off x="457200" y="4462272"/>
            <a:ext cx="8229600" cy="365760"/>
          </a:xfrm>
          <a:prstGeom prst="rect">
            <a:avLst/>
          </a:prstGeom>
          <a:noFill/>
          <a:ln/>
        </p:spPr>
        <p:txBody>
          <a:bodyPr wrap="square" lIns="0" tIns="0" rIns="0" bIns="0" rtlCol="0" anchor="ctr"/>
          <a:lstStyle/>
          <a:p>
            <a:pPr marL="0" indent="0">
              <a:buNone/>
            </a:pPr>
            <a:r>
              <a:rPr lang="en-US" sz="1200" dirty="0">
                <a:solidFill>
                  <a:srgbClr val="8899A6"/>
                </a:solidFill>
              </a:rPr>
              <a:t>DLL sideload file pairs  ·  Parent-child process anomalies  ·  File path staging consistency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EE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82880"/>
            <a:ext cx="5486400" cy="594360"/>
          </a:xfrm>
          <a:prstGeom prst="rect">
            <a:avLst/>
          </a:prstGeom>
          <a:noFill/>
          <a:ln/>
        </p:spPr>
        <p:txBody>
          <a:bodyPr wrap="square" lIns="0" tIns="0" rIns="0" bIns="0" rtlCol="0" anchor="ctr"/>
          <a:lstStyle/>
          <a:p>
            <a:pPr marL="0" indent="0">
              <a:buNone/>
            </a:pPr>
            <a:r>
              <a:rPr lang="en-US" sz="2800" b="1" dirty="0">
                <a:solidFill>
                  <a:srgbClr val="0D1B2A"/>
                </a:solidFill>
              </a:rPr>
              <a:t>CostaRicto</a:t>
            </a:r>
            <a:endParaRPr lang="en-US" sz="2800" dirty="0"/>
          </a:p>
        </p:txBody>
      </p:sp>
      <p:sp>
        <p:nvSpPr>
          <p:cNvPr id="4" name="Shape 2"/>
          <p:cNvSpPr/>
          <p:nvPr/>
        </p:nvSpPr>
        <p:spPr>
          <a:xfrm>
            <a:off x="6583680" y="228600"/>
            <a:ext cx="2194560" cy="548640"/>
          </a:xfrm>
          <a:prstGeom prst="rect">
            <a:avLst/>
          </a:prstGeom>
          <a:solidFill>
            <a:srgbClr val="E63946"/>
          </a:solidFill>
          <a:ln w="12700">
            <a:solidFill>
              <a:srgbClr val="E63946"/>
            </a:solidFill>
            <a:prstDash val="solid"/>
          </a:ln>
        </p:spPr>
        <p:txBody>
          <a:bodyPr/>
          <a:lstStyle/>
          <a:p>
            <a:endParaRPr lang="en-US"/>
          </a:p>
        </p:txBody>
      </p:sp>
      <p:sp>
        <p:nvSpPr>
          <p:cNvPr id="5" name="Text 3"/>
          <p:cNvSpPr/>
          <p:nvPr/>
        </p:nvSpPr>
        <p:spPr>
          <a:xfrm>
            <a:off x="6583680" y="228600"/>
            <a:ext cx="2194560" cy="548640"/>
          </a:xfrm>
          <a:prstGeom prst="rect">
            <a:avLst/>
          </a:prstGeom>
          <a:noFill/>
          <a:ln/>
        </p:spPr>
        <p:txBody>
          <a:bodyPr wrap="square" lIns="0" tIns="0" rIns="0" bIns="0" rtlCol="0" anchor="ctr"/>
          <a:lstStyle/>
          <a:p>
            <a:pPr marL="0" indent="0" algn="ctr">
              <a:buNone/>
            </a:pPr>
            <a:r>
              <a:rPr lang="en-US" sz="1300" b="1" dirty="0">
                <a:solidFill>
                  <a:srgbClr val="FFFFFF"/>
                </a:solidFill>
              </a:rPr>
              <a:t>Hack-for-Hire</a:t>
            </a:r>
            <a:endParaRPr lang="en-US" sz="1300" dirty="0"/>
          </a:p>
        </p:txBody>
      </p:sp>
      <p:sp>
        <p:nvSpPr>
          <p:cNvPr id="6" name="Text 4"/>
          <p:cNvSpPr/>
          <p:nvPr/>
        </p:nvSpPr>
        <p:spPr>
          <a:xfrm>
            <a:off x="457200" y="822960"/>
            <a:ext cx="8229600" cy="365760"/>
          </a:xfrm>
          <a:prstGeom prst="rect">
            <a:avLst/>
          </a:prstGeom>
          <a:noFill/>
          <a:ln/>
        </p:spPr>
        <p:txBody>
          <a:bodyPr wrap="square" lIns="0" tIns="0" rIns="0" bIns="0" rtlCol="0" anchor="ctr"/>
          <a:lstStyle/>
          <a:p>
            <a:pPr marL="0" indent="0">
              <a:buNone/>
            </a:pPr>
            <a:r>
              <a:rPr lang="en-US" sz="1300" i="1" dirty="0">
                <a:solidFill>
                  <a:srgbClr val="1D3557"/>
                </a:solidFill>
              </a:rPr>
              <a:t>Mercenary cyber-espionage campaign with custom tooling and multi-hop infrastructure</a:t>
            </a:r>
            <a:endParaRPr lang="en-US" sz="1300" dirty="0"/>
          </a:p>
        </p:txBody>
      </p:sp>
      <p:sp>
        <p:nvSpPr>
          <p:cNvPr id="7" name="Shape 5"/>
          <p:cNvSpPr/>
          <p:nvPr/>
        </p:nvSpPr>
        <p:spPr>
          <a:xfrm>
            <a:off x="457200" y="1371600"/>
            <a:ext cx="3931920" cy="1508760"/>
          </a:xfrm>
          <a:prstGeom prst="rect">
            <a:avLst/>
          </a:prstGeom>
          <a:solidFill>
            <a:srgbClr val="FFFFFF"/>
          </a:solidFill>
          <a:ln w="12700">
            <a:solidFill>
              <a:srgbClr val="457B9D"/>
            </a:solidFill>
            <a:prstDash val="solid"/>
          </a:ln>
          <a:effectLst>
            <a:outerShdw blurRad="63500" dist="25400" dir="8100000" algn="bl" rotWithShape="0">
              <a:srgbClr val="000000">
                <a:alpha val="10000"/>
              </a:srgbClr>
            </a:outerShdw>
          </a:effectLst>
        </p:spPr>
        <p:txBody>
          <a:bodyPr/>
          <a:lstStyle/>
          <a:p>
            <a:endParaRPr lang="en-US"/>
          </a:p>
        </p:txBody>
      </p:sp>
      <p:sp>
        <p:nvSpPr>
          <p:cNvPr id="8" name="Text 6"/>
          <p:cNvSpPr/>
          <p:nvPr/>
        </p:nvSpPr>
        <p:spPr>
          <a:xfrm>
            <a:off x="594360" y="1463040"/>
            <a:ext cx="3657600" cy="411480"/>
          </a:xfrm>
          <a:prstGeom prst="rect">
            <a:avLst/>
          </a:prstGeom>
          <a:noFill/>
          <a:ln/>
        </p:spPr>
        <p:txBody>
          <a:bodyPr wrap="square" lIns="0" tIns="0" rIns="0" bIns="0" rtlCol="0" anchor="ctr"/>
          <a:lstStyle/>
          <a:p>
            <a:pPr marL="0" indent="0">
              <a:buNone/>
            </a:pPr>
            <a:r>
              <a:rPr lang="en-US" sz="1300" b="1" dirty="0">
                <a:solidFill>
                  <a:srgbClr val="1D3557"/>
                </a:solidFill>
              </a:rPr>
              <a:t>🛠  Custom Malware</a:t>
            </a:r>
            <a:endParaRPr lang="en-US" sz="1300" dirty="0"/>
          </a:p>
        </p:txBody>
      </p:sp>
      <p:sp>
        <p:nvSpPr>
          <p:cNvPr id="9" name="Text 7"/>
          <p:cNvSpPr/>
          <p:nvPr/>
        </p:nvSpPr>
        <p:spPr>
          <a:xfrm>
            <a:off x="594360" y="1874520"/>
            <a:ext cx="3657600" cy="914400"/>
          </a:xfrm>
          <a:prstGeom prst="rect">
            <a:avLst/>
          </a:prstGeom>
          <a:noFill/>
          <a:ln/>
        </p:spPr>
        <p:txBody>
          <a:bodyPr wrap="square" rtlCol="0" anchor="ctr"/>
          <a:lstStyle/>
          <a:p>
            <a:pPr marL="0" indent="0">
              <a:buNone/>
            </a:pPr>
            <a:r>
              <a:rPr lang="en-US" sz="1200" dirty="0">
                <a:solidFill>
                  <a:srgbClr val="0D1B2A"/>
                </a:solidFill>
              </a:rPr>
              <a:t>Bespoke tooling not shared with crimeware ecosystem</a:t>
            </a:r>
            <a:endParaRPr lang="en-US" sz="1200" dirty="0"/>
          </a:p>
        </p:txBody>
      </p:sp>
      <p:sp>
        <p:nvSpPr>
          <p:cNvPr id="10" name="Shape 8"/>
          <p:cNvSpPr/>
          <p:nvPr/>
        </p:nvSpPr>
        <p:spPr>
          <a:xfrm>
            <a:off x="4709160" y="1371600"/>
            <a:ext cx="3931920" cy="1508760"/>
          </a:xfrm>
          <a:prstGeom prst="rect">
            <a:avLst/>
          </a:prstGeom>
          <a:solidFill>
            <a:srgbClr val="FFFFFF"/>
          </a:solidFill>
          <a:ln w="12700">
            <a:solidFill>
              <a:srgbClr val="457B9D"/>
            </a:solidFill>
            <a:prstDash val="solid"/>
          </a:ln>
          <a:effectLst>
            <a:outerShdw blurRad="63500" dist="25400" dir="8100000" algn="bl" rotWithShape="0">
              <a:srgbClr val="000000">
                <a:alpha val="10000"/>
              </a:srgbClr>
            </a:outerShdw>
          </a:effectLst>
        </p:spPr>
        <p:txBody>
          <a:bodyPr/>
          <a:lstStyle/>
          <a:p>
            <a:endParaRPr lang="en-US"/>
          </a:p>
        </p:txBody>
      </p:sp>
      <p:sp>
        <p:nvSpPr>
          <p:cNvPr id="11" name="Text 9"/>
          <p:cNvSpPr/>
          <p:nvPr/>
        </p:nvSpPr>
        <p:spPr>
          <a:xfrm>
            <a:off x="4846320" y="1463040"/>
            <a:ext cx="3657600" cy="411480"/>
          </a:xfrm>
          <a:prstGeom prst="rect">
            <a:avLst/>
          </a:prstGeom>
          <a:noFill/>
          <a:ln/>
        </p:spPr>
        <p:txBody>
          <a:bodyPr wrap="square" lIns="0" tIns="0" rIns="0" bIns="0" rtlCol="0" anchor="ctr"/>
          <a:lstStyle/>
          <a:p>
            <a:pPr marL="0" indent="0">
              <a:buNone/>
            </a:pPr>
            <a:r>
              <a:rPr lang="en-US" sz="1300" b="1" dirty="0">
                <a:solidFill>
                  <a:srgbClr val="1D3557"/>
                </a:solidFill>
              </a:rPr>
              <a:t>🔀  SSH Tunnel &amp; Proxy</a:t>
            </a:r>
            <a:endParaRPr lang="en-US" sz="1300" dirty="0"/>
          </a:p>
        </p:txBody>
      </p:sp>
      <p:sp>
        <p:nvSpPr>
          <p:cNvPr id="12" name="Text 10"/>
          <p:cNvSpPr/>
          <p:nvPr/>
        </p:nvSpPr>
        <p:spPr>
          <a:xfrm>
            <a:off x="4846320" y="1874520"/>
            <a:ext cx="3657600" cy="914400"/>
          </a:xfrm>
          <a:prstGeom prst="rect">
            <a:avLst/>
          </a:prstGeom>
          <a:noFill/>
          <a:ln/>
        </p:spPr>
        <p:txBody>
          <a:bodyPr wrap="square" rtlCol="0" anchor="ctr"/>
          <a:lstStyle/>
          <a:p>
            <a:pPr marL="0" indent="0">
              <a:buNone/>
            </a:pPr>
            <a:r>
              <a:rPr lang="en-US" sz="1200" dirty="0">
                <a:solidFill>
                  <a:srgbClr val="0D1B2A"/>
                </a:solidFill>
              </a:rPr>
              <a:t>Multi-hop C2 routing obscures operator origin</a:t>
            </a:r>
            <a:endParaRPr lang="en-US" sz="1200" dirty="0"/>
          </a:p>
        </p:txBody>
      </p:sp>
      <p:sp>
        <p:nvSpPr>
          <p:cNvPr id="13" name="Shape 11"/>
          <p:cNvSpPr/>
          <p:nvPr/>
        </p:nvSpPr>
        <p:spPr>
          <a:xfrm>
            <a:off x="457200" y="3063240"/>
            <a:ext cx="3931920" cy="1508760"/>
          </a:xfrm>
          <a:prstGeom prst="rect">
            <a:avLst/>
          </a:prstGeom>
          <a:solidFill>
            <a:srgbClr val="FFFFFF"/>
          </a:solidFill>
          <a:ln w="12700">
            <a:solidFill>
              <a:srgbClr val="457B9D"/>
            </a:solidFill>
            <a:prstDash val="solid"/>
          </a:ln>
          <a:effectLst>
            <a:outerShdw blurRad="63500" dist="25400" dir="8100000" algn="bl" rotWithShape="0">
              <a:srgbClr val="000000">
                <a:alpha val="10000"/>
              </a:srgbClr>
            </a:outerShdw>
          </a:effectLst>
        </p:spPr>
        <p:txBody>
          <a:bodyPr/>
          <a:lstStyle/>
          <a:p>
            <a:endParaRPr lang="en-US"/>
          </a:p>
        </p:txBody>
      </p:sp>
      <p:sp>
        <p:nvSpPr>
          <p:cNvPr id="14" name="Text 12"/>
          <p:cNvSpPr/>
          <p:nvPr/>
        </p:nvSpPr>
        <p:spPr>
          <a:xfrm>
            <a:off x="594360" y="3154680"/>
            <a:ext cx="3657600" cy="411480"/>
          </a:xfrm>
          <a:prstGeom prst="rect">
            <a:avLst/>
          </a:prstGeom>
          <a:noFill/>
          <a:ln/>
        </p:spPr>
        <p:txBody>
          <a:bodyPr wrap="square" lIns="0" tIns="0" rIns="0" bIns="0" rtlCol="0" anchor="ctr"/>
          <a:lstStyle/>
          <a:p>
            <a:pPr marL="0" indent="0">
              <a:buNone/>
            </a:pPr>
            <a:r>
              <a:rPr lang="en-US" sz="1300" b="1" dirty="0">
                <a:solidFill>
                  <a:srgbClr val="1D3557"/>
                </a:solidFill>
              </a:rPr>
              <a:t>🕐  Long Dwell Time</a:t>
            </a:r>
            <a:endParaRPr lang="en-US" sz="1300" dirty="0"/>
          </a:p>
        </p:txBody>
      </p:sp>
      <p:sp>
        <p:nvSpPr>
          <p:cNvPr id="15" name="Text 13"/>
          <p:cNvSpPr/>
          <p:nvPr/>
        </p:nvSpPr>
        <p:spPr>
          <a:xfrm>
            <a:off x="594360" y="3566160"/>
            <a:ext cx="3657600" cy="914400"/>
          </a:xfrm>
          <a:prstGeom prst="rect">
            <a:avLst/>
          </a:prstGeom>
          <a:noFill/>
          <a:ln/>
        </p:spPr>
        <p:txBody>
          <a:bodyPr wrap="square" rtlCol="0" anchor="ctr"/>
          <a:lstStyle/>
          <a:p>
            <a:pPr marL="0" indent="0">
              <a:buNone/>
            </a:pPr>
            <a:r>
              <a:rPr lang="en-US" sz="1200" dirty="0">
                <a:solidFill>
                  <a:srgbClr val="0D1B2A"/>
                </a:solidFill>
              </a:rPr>
              <a:t>Prolonged access prioritized over rapid monetization</a:t>
            </a:r>
            <a:endParaRPr lang="en-US" sz="1200" dirty="0"/>
          </a:p>
        </p:txBody>
      </p:sp>
      <p:sp>
        <p:nvSpPr>
          <p:cNvPr id="16" name="Shape 14"/>
          <p:cNvSpPr/>
          <p:nvPr/>
        </p:nvSpPr>
        <p:spPr>
          <a:xfrm>
            <a:off x="4709160" y="3063240"/>
            <a:ext cx="3931920" cy="1508760"/>
          </a:xfrm>
          <a:prstGeom prst="rect">
            <a:avLst/>
          </a:prstGeom>
          <a:solidFill>
            <a:srgbClr val="FFFFFF"/>
          </a:solidFill>
          <a:ln w="12700">
            <a:solidFill>
              <a:srgbClr val="457B9D"/>
            </a:solidFill>
            <a:prstDash val="solid"/>
          </a:ln>
          <a:effectLst>
            <a:outerShdw blurRad="63500" dist="25400" dir="8100000" algn="bl" rotWithShape="0">
              <a:srgbClr val="000000">
                <a:alpha val="10000"/>
              </a:srgbClr>
            </a:outerShdw>
          </a:effectLst>
        </p:spPr>
        <p:txBody>
          <a:bodyPr/>
          <a:lstStyle/>
          <a:p>
            <a:endParaRPr lang="en-US"/>
          </a:p>
        </p:txBody>
      </p:sp>
      <p:sp>
        <p:nvSpPr>
          <p:cNvPr id="17" name="Text 15"/>
          <p:cNvSpPr/>
          <p:nvPr/>
        </p:nvSpPr>
        <p:spPr>
          <a:xfrm>
            <a:off x="4846320" y="3154680"/>
            <a:ext cx="3657600" cy="411480"/>
          </a:xfrm>
          <a:prstGeom prst="rect">
            <a:avLst/>
          </a:prstGeom>
          <a:noFill/>
          <a:ln/>
        </p:spPr>
        <p:txBody>
          <a:bodyPr wrap="square" lIns="0" tIns="0" rIns="0" bIns="0" rtlCol="0" anchor="ctr"/>
          <a:lstStyle/>
          <a:p>
            <a:pPr marL="0" indent="0">
              <a:buNone/>
            </a:pPr>
            <a:r>
              <a:rPr lang="en-US" sz="1300" b="1" dirty="0">
                <a:solidFill>
                  <a:srgbClr val="1D3557"/>
                </a:solidFill>
              </a:rPr>
              <a:t>🔇  Stealth Persistence</a:t>
            </a:r>
            <a:endParaRPr lang="en-US" sz="1300" dirty="0"/>
          </a:p>
        </p:txBody>
      </p:sp>
      <p:sp>
        <p:nvSpPr>
          <p:cNvPr id="18" name="Text 16"/>
          <p:cNvSpPr/>
          <p:nvPr/>
        </p:nvSpPr>
        <p:spPr>
          <a:xfrm>
            <a:off x="4846320" y="3566160"/>
            <a:ext cx="3657600" cy="914400"/>
          </a:xfrm>
          <a:prstGeom prst="rect">
            <a:avLst/>
          </a:prstGeom>
          <a:noFill/>
          <a:ln/>
        </p:spPr>
        <p:txBody>
          <a:bodyPr wrap="square" rtlCol="0" anchor="ctr"/>
          <a:lstStyle/>
          <a:p>
            <a:pPr marL="0" indent="0">
              <a:buNone/>
            </a:pPr>
            <a:r>
              <a:rPr lang="en-US" sz="1200" dirty="0">
                <a:solidFill>
                  <a:srgbClr val="0D1B2A"/>
                </a:solidFill>
              </a:rPr>
              <a:t>Emphasis on staying hidden vs. fast-action banking malware</a:t>
            </a:r>
            <a:endParaRPr lang="en-US" sz="1200" dirty="0"/>
          </a:p>
        </p:txBody>
      </p:sp>
      <p:sp>
        <p:nvSpPr>
          <p:cNvPr id="19" name="Shape 17"/>
          <p:cNvSpPr/>
          <p:nvPr/>
        </p:nvSpPr>
        <p:spPr>
          <a:xfrm>
            <a:off x="457200" y="4663440"/>
            <a:ext cx="8229600" cy="320040"/>
          </a:xfrm>
          <a:prstGeom prst="rect">
            <a:avLst/>
          </a:prstGeom>
          <a:solidFill>
            <a:srgbClr val="1D3557"/>
          </a:solidFill>
          <a:ln w="12700">
            <a:solidFill>
              <a:srgbClr val="1D3557"/>
            </a:solidFill>
            <a:prstDash val="solid"/>
          </a:ln>
        </p:spPr>
        <p:txBody>
          <a:bodyPr/>
          <a:lstStyle/>
          <a:p>
            <a:endParaRPr lang="en-US"/>
          </a:p>
        </p:txBody>
      </p:sp>
      <p:sp>
        <p:nvSpPr>
          <p:cNvPr id="20" name="Text 18"/>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b="1" dirty="0">
                <a:solidFill>
                  <a:srgbClr val="FFFFFF"/>
                </a:solidFill>
              </a:rPr>
              <a:t>KEY INSIGHT:  CostaRicto prioritizes stealth persistence over rapid monetization — unlike banking malware groups.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600" b="1" dirty="0">
                <a:solidFill>
                  <a:srgbClr val="FFFFFF"/>
                </a:solidFill>
              </a:rPr>
              <a:t>MITRE ATT&amp;CK Mapping</a:t>
            </a:r>
            <a:endParaRPr lang="en-US" sz="2600" dirty="0"/>
          </a:p>
        </p:txBody>
      </p:sp>
      <p:sp>
        <p:nvSpPr>
          <p:cNvPr id="4" name="Text 2"/>
          <p:cNvSpPr/>
          <p:nvPr/>
        </p:nvSpPr>
        <p:spPr>
          <a:xfrm>
            <a:off x="457200" y="685800"/>
            <a:ext cx="8229600" cy="274320"/>
          </a:xfrm>
          <a:prstGeom prst="rect">
            <a:avLst/>
          </a:prstGeom>
          <a:noFill/>
          <a:ln/>
        </p:spPr>
        <p:txBody>
          <a:bodyPr wrap="square" lIns="0" tIns="0" rIns="0" bIns="0" rtlCol="0" anchor="ctr"/>
          <a:lstStyle/>
          <a:p>
            <a:pPr marL="0" indent="0">
              <a:buNone/>
            </a:pPr>
            <a:r>
              <a:rPr lang="en-US" sz="1200" i="1" dirty="0">
                <a:solidFill>
                  <a:srgbClr val="A8DADC"/>
                </a:solidFill>
              </a:rPr>
              <a:t>Common TTP Alignment Across LATAM Families</a:t>
            </a:r>
            <a:endParaRPr lang="en-US" sz="1200" dirty="0"/>
          </a:p>
        </p:txBody>
      </p:sp>
      <p:sp>
        <p:nvSpPr>
          <p:cNvPr id="5" name="Shape 3"/>
          <p:cNvSpPr/>
          <p:nvPr/>
        </p:nvSpPr>
        <p:spPr>
          <a:xfrm>
            <a:off x="457200" y="1051560"/>
            <a:ext cx="2286000" cy="502920"/>
          </a:xfrm>
          <a:prstGeom prst="rect">
            <a:avLst/>
          </a:prstGeom>
          <a:solidFill>
            <a:srgbClr val="E63946"/>
          </a:solidFill>
          <a:ln w="12700">
            <a:solidFill>
              <a:srgbClr val="E63946"/>
            </a:solidFill>
            <a:prstDash val="solid"/>
          </a:ln>
        </p:spPr>
        <p:txBody>
          <a:bodyPr/>
          <a:lstStyle/>
          <a:p>
            <a:endParaRPr lang="en-US"/>
          </a:p>
        </p:txBody>
      </p:sp>
      <p:sp>
        <p:nvSpPr>
          <p:cNvPr id="6" name="Text 4"/>
          <p:cNvSpPr/>
          <p:nvPr/>
        </p:nvSpPr>
        <p:spPr>
          <a:xfrm>
            <a:off x="457200" y="1051560"/>
            <a:ext cx="2286000" cy="502920"/>
          </a:xfrm>
          <a:prstGeom prst="rect">
            <a:avLst/>
          </a:prstGeom>
          <a:noFill/>
          <a:ln/>
        </p:spPr>
        <p:txBody>
          <a:bodyPr wrap="square" lIns="0" tIns="0" rIns="0" bIns="0" rtlCol="0" anchor="ctr"/>
          <a:lstStyle/>
          <a:p>
            <a:pPr marL="0" indent="0" algn="ctr">
              <a:buNone/>
            </a:pPr>
            <a:r>
              <a:rPr lang="en-US" sz="1200" b="1" dirty="0">
                <a:solidFill>
                  <a:srgbClr val="FFFFFF"/>
                </a:solidFill>
              </a:rPr>
              <a:t>Initial Access</a:t>
            </a:r>
            <a:endParaRPr lang="en-US" sz="1200" dirty="0"/>
          </a:p>
        </p:txBody>
      </p:sp>
      <p:sp>
        <p:nvSpPr>
          <p:cNvPr id="7" name="Shape 5"/>
          <p:cNvSpPr/>
          <p:nvPr/>
        </p:nvSpPr>
        <p:spPr>
          <a:xfrm>
            <a:off x="2834640" y="1051560"/>
            <a:ext cx="1371600" cy="502920"/>
          </a:xfrm>
          <a:prstGeom prst="rect">
            <a:avLst/>
          </a:prstGeom>
          <a:solidFill>
            <a:srgbClr val="1D3557"/>
          </a:solidFill>
          <a:ln w="6350">
            <a:solidFill>
              <a:srgbClr val="457B9D"/>
            </a:solidFill>
            <a:prstDash val="solid"/>
          </a:ln>
        </p:spPr>
        <p:txBody>
          <a:bodyPr/>
          <a:lstStyle/>
          <a:p>
            <a:endParaRPr lang="en-US"/>
          </a:p>
        </p:txBody>
      </p:sp>
      <p:sp>
        <p:nvSpPr>
          <p:cNvPr id="8" name="Text 6"/>
          <p:cNvSpPr/>
          <p:nvPr/>
        </p:nvSpPr>
        <p:spPr>
          <a:xfrm>
            <a:off x="2834640" y="1051560"/>
            <a:ext cx="1371600" cy="502920"/>
          </a:xfrm>
          <a:prstGeom prst="rect">
            <a:avLst/>
          </a:prstGeom>
          <a:noFill/>
          <a:ln/>
        </p:spPr>
        <p:txBody>
          <a:bodyPr wrap="square" lIns="0" tIns="0" rIns="0" bIns="0" rtlCol="0" anchor="ctr"/>
          <a:lstStyle/>
          <a:p>
            <a:pPr marL="0" indent="0" algn="ctr">
              <a:buNone/>
            </a:pPr>
            <a:r>
              <a:rPr lang="en-US" sz="1100" b="1" dirty="0">
                <a:solidFill>
                  <a:srgbClr val="A8DADC"/>
                </a:solidFill>
                <a:latin typeface="Consolas" pitchFamily="34" charset="0"/>
                <a:ea typeface="Consolas" pitchFamily="34" charset="-122"/>
                <a:cs typeface="Consolas" pitchFamily="34" charset="-120"/>
              </a:rPr>
              <a:t>T1566</a:t>
            </a:r>
            <a:endParaRPr lang="en-US" sz="1100" dirty="0"/>
          </a:p>
        </p:txBody>
      </p:sp>
      <p:sp>
        <p:nvSpPr>
          <p:cNvPr id="9" name="Text 7"/>
          <p:cNvSpPr/>
          <p:nvPr/>
        </p:nvSpPr>
        <p:spPr>
          <a:xfrm>
            <a:off x="4343400" y="1051560"/>
            <a:ext cx="4572000" cy="502920"/>
          </a:xfrm>
          <a:prstGeom prst="rect">
            <a:avLst/>
          </a:prstGeom>
          <a:noFill/>
          <a:ln/>
        </p:spPr>
        <p:txBody>
          <a:bodyPr wrap="square" lIns="0" tIns="0" rIns="0" bIns="0" rtlCol="0" anchor="ctr"/>
          <a:lstStyle/>
          <a:p>
            <a:pPr marL="0" indent="0">
              <a:buNone/>
            </a:pPr>
            <a:r>
              <a:rPr lang="en-US" sz="1200" dirty="0">
                <a:solidFill>
                  <a:srgbClr val="FFFFFF"/>
                </a:solidFill>
              </a:rPr>
              <a:t>Phishing</a:t>
            </a:r>
            <a:endParaRPr lang="en-US" sz="1200" dirty="0"/>
          </a:p>
        </p:txBody>
      </p:sp>
      <p:sp>
        <p:nvSpPr>
          <p:cNvPr id="10" name="Shape 8"/>
          <p:cNvSpPr/>
          <p:nvPr/>
        </p:nvSpPr>
        <p:spPr>
          <a:xfrm>
            <a:off x="457200" y="1655064"/>
            <a:ext cx="2286000" cy="502920"/>
          </a:xfrm>
          <a:prstGeom prst="rect">
            <a:avLst/>
          </a:prstGeom>
          <a:solidFill>
            <a:srgbClr val="E85D04"/>
          </a:solidFill>
          <a:ln w="12700">
            <a:solidFill>
              <a:srgbClr val="E85D04"/>
            </a:solidFill>
            <a:prstDash val="solid"/>
          </a:ln>
        </p:spPr>
        <p:txBody>
          <a:bodyPr/>
          <a:lstStyle/>
          <a:p>
            <a:endParaRPr lang="en-US"/>
          </a:p>
        </p:txBody>
      </p:sp>
      <p:sp>
        <p:nvSpPr>
          <p:cNvPr id="11" name="Text 9"/>
          <p:cNvSpPr/>
          <p:nvPr/>
        </p:nvSpPr>
        <p:spPr>
          <a:xfrm>
            <a:off x="457200" y="1655064"/>
            <a:ext cx="2286000" cy="502920"/>
          </a:xfrm>
          <a:prstGeom prst="rect">
            <a:avLst/>
          </a:prstGeom>
          <a:noFill/>
          <a:ln/>
        </p:spPr>
        <p:txBody>
          <a:bodyPr wrap="square" lIns="0" tIns="0" rIns="0" bIns="0" rtlCol="0" anchor="ctr"/>
          <a:lstStyle/>
          <a:p>
            <a:pPr marL="0" indent="0" algn="ctr">
              <a:buNone/>
            </a:pPr>
            <a:r>
              <a:rPr lang="en-US" sz="1200" b="1" dirty="0">
                <a:solidFill>
                  <a:srgbClr val="FFFFFF"/>
                </a:solidFill>
              </a:rPr>
              <a:t>Execution</a:t>
            </a:r>
            <a:endParaRPr lang="en-US" sz="1200" dirty="0"/>
          </a:p>
        </p:txBody>
      </p:sp>
      <p:sp>
        <p:nvSpPr>
          <p:cNvPr id="12" name="Shape 10"/>
          <p:cNvSpPr/>
          <p:nvPr/>
        </p:nvSpPr>
        <p:spPr>
          <a:xfrm>
            <a:off x="2834640" y="1655064"/>
            <a:ext cx="1371600" cy="502920"/>
          </a:xfrm>
          <a:prstGeom prst="rect">
            <a:avLst/>
          </a:prstGeom>
          <a:solidFill>
            <a:srgbClr val="1D3557"/>
          </a:solidFill>
          <a:ln w="6350">
            <a:solidFill>
              <a:srgbClr val="457B9D"/>
            </a:solidFill>
            <a:prstDash val="solid"/>
          </a:ln>
        </p:spPr>
        <p:txBody>
          <a:bodyPr/>
          <a:lstStyle/>
          <a:p>
            <a:endParaRPr lang="en-US"/>
          </a:p>
        </p:txBody>
      </p:sp>
      <p:sp>
        <p:nvSpPr>
          <p:cNvPr id="13" name="Text 11"/>
          <p:cNvSpPr/>
          <p:nvPr/>
        </p:nvSpPr>
        <p:spPr>
          <a:xfrm>
            <a:off x="2834640" y="1655064"/>
            <a:ext cx="1371600" cy="502920"/>
          </a:xfrm>
          <a:prstGeom prst="rect">
            <a:avLst/>
          </a:prstGeom>
          <a:noFill/>
          <a:ln/>
        </p:spPr>
        <p:txBody>
          <a:bodyPr wrap="square" lIns="0" tIns="0" rIns="0" bIns="0" rtlCol="0" anchor="ctr"/>
          <a:lstStyle/>
          <a:p>
            <a:pPr marL="0" indent="0" algn="ctr">
              <a:buNone/>
            </a:pPr>
            <a:r>
              <a:rPr lang="en-US" sz="1100" b="1" dirty="0">
                <a:solidFill>
                  <a:srgbClr val="A8DADC"/>
                </a:solidFill>
                <a:latin typeface="Consolas" pitchFamily="34" charset="0"/>
                <a:ea typeface="Consolas" pitchFamily="34" charset="-122"/>
                <a:cs typeface="Consolas" pitchFamily="34" charset="-120"/>
              </a:rPr>
              <a:t>T1059.001</a:t>
            </a:r>
            <a:endParaRPr lang="en-US" sz="1100" dirty="0"/>
          </a:p>
        </p:txBody>
      </p:sp>
      <p:sp>
        <p:nvSpPr>
          <p:cNvPr id="14" name="Text 12"/>
          <p:cNvSpPr/>
          <p:nvPr/>
        </p:nvSpPr>
        <p:spPr>
          <a:xfrm>
            <a:off x="4343400" y="1655064"/>
            <a:ext cx="4572000" cy="502920"/>
          </a:xfrm>
          <a:prstGeom prst="rect">
            <a:avLst/>
          </a:prstGeom>
          <a:noFill/>
          <a:ln/>
        </p:spPr>
        <p:txBody>
          <a:bodyPr wrap="square" lIns="0" tIns="0" rIns="0" bIns="0" rtlCol="0" anchor="ctr"/>
          <a:lstStyle/>
          <a:p>
            <a:pPr marL="0" indent="0">
              <a:buNone/>
            </a:pPr>
            <a:r>
              <a:rPr lang="en-US" sz="1200" dirty="0">
                <a:solidFill>
                  <a:srgbClr val="FFFFFF"/>
                </a:solidFill>
              </a:rPr>
              <a:t>PowerShell</a:t>
            </a:r>
            <a:endParaRPr lang="en-US" sz="1200" dirty="0"/>
          </a:p>
        </p:txBody>
      </p:sp>
      <p:sp>
        <p:nvSpPr>
          <p:cNvPr id="15" name="Shape 13"/>
          <p:cNvSpPr/>
          <p:nvPr/>
        </p:nvSpPr>
        <p:spPr>
          <a:xfrm>
            <a:off x="457200" y="2258568"/>
            <a:ext cx="2286000" cy="502920"/>
          </a:xfrm>
          <a:prstGeom prst="rect">
            <a:avLst/>
          </a:prstGeom>
          <a:solidFill>
            <a:srgbClr val="9C4A1A"/>
          </a:solidFill>
          <a:ln w="12700">
            <a:solidFill>
              <a:srgbClr val="9C4A1A"/>
            </a:solidFill>
            <a:prstDash val="solid"/>
          </a:ln>
        </p:spPr>
        <p:txBody>
          <a:bodyPr/>
          <a:lstStyle/>
          <a:p>
            <a:endParaRPr lang="en-US"/>
          </a:p>
        </p:txBody>
      </p:sp>
      <p:sp>
        <p:nvSpPr>
          <p:cNvPr id="16" name="Text 14"/>
          <p:cNvSpPr/>
          <p:nvPr/>
        </p:nvSpPr>
        <p:spPr>
          <a:xfrm>
            <a:off x="457200" y="2258568"/>
            <a:ext cx="2286000" cy="502920"/>
          </a:xfrm>
          <a:prstGeom prst="rect">
            <a:avLst/>
          </a:prstGeom>
          <a:noFill/>
          <a:ln/>
        </p:spPr>
        <p:txBody>
          <a:bodyPr wrap="square" lIns="0" tIns="0" rIns="0" bIns="0" rtlCol="0" anchor="ctr"/>
          <a:lstStyle/>
          <a:p>
            <a:pPr marL="0" indent="0" algn="ctr">
              <a:buNone/>
            </a:pPr>
            <a:r>
              <a:rPr lang="en-US" sz="1200" b="1" dirty="0">
                <a:solidFill>
                  <a:srgbClr val="FFFFFF"/>
                </a:solidFill>
              </a:rPr>
              <a:t>Persistence</a:t>
            </a:r>
            <a:endParaRPr lang="en-US" sz="1200" dirty="0"/>
          </a:p>
        </p:txBody>
      </p:sp>
      <p:sp>
        <p:nvSpPr>
          <p:cNvPr id="17" name="Shape 15"/>
          <p:cNvSpPr/>
          <p:nvPr/>
        </p:nvSpPr>
        <p:spPr>
          <a:xfrm>
            <a:off x="2834640" y="2258568"/>
            <a:ext cx="1371600" cy="502920"/>
          </a:xfrm>
          <a:prstGeom prst="rect">
            <a:avLst/>
          </a:prstGeom>
          <a:solidFill>
            <a:srgbClr val="1D3557"/>
          </a:solidFill>
          <a:ln w="6350">
            <a:solidFill>
              <a:srgbClr val="457B9D"/>
            </a:solidFill>
            <a:prstDash val="solid"/>
          </a:ln>
        </p:spPr>
        <p:txBody>
          <a:bodyPr/>
          <a:lstStyle/>
          <a:p>
            <a:endParaRPr lang="en-US"/>
          </a:p>
        </p:txBody>
      </p:sp>
      <p:sp>
        <p:nvSpPr>
          <p:cNvPr id="18" name="Text 16"/>
          <p:cNvSpPr/>
          <p:nvPr/>
        </p:nvSpPr>
        <p:spPr>
          <a:xfrm>
            <a:off x="2834640" y="2258568"/>
            <a:ext cx="1371600" cy="502920"/>
          </a:xfrm>
          <a:prstGeom prst="rect">
            <a:avLst/>
          </a:prstGeom>
          <a:noFill/>
          <a:ln/>
        </p:spPr>
        <p:txBody>
          <a:bodyPr wrap="square" lIns="0" tIns="0" rIns="0" bIns="0" rtlCol="0" anchor="ctr"/>
          <a:lstStyle/>
          <a:p>
            <a:pPr marL="0" indent="0" algn="ctr">
              <a:buNone/>
            </a:pPr>
            <a:r>
              <a:rPr lang="en-US" sz="1100" b="1" dirty="0">
                <a:solidFill>
                  <a:srgbClr val="A8DADC"/>
                </a:solidFill>
                <a:latin typeface="Consolas" pitchFamily="34" charset="0"/>
                <a:ea typeface="Consolas" pitchFamily="34" charset="-122"/>
                <a:cs typeface="Consolas" pitchFamily="34" charset="-120"/>
              </a:rPr>
              <a:t>T1547</a:t>
            </a:r>
            <a:endParaRPr lang="en-US" sz="1100" dirty="0"/>
          </a:p>
        </p:txBody>
      </p:sp>
      <p:sp>
        <p:nvSpPr>
          <p:cNvPr id="19" name="Text 17"/>
          <p:cNvSpPr/>
          <p:nvPr/>
        </p:nvSpPr>
        <p:spPr>
          <a:xfrm>
            <a:off x="4343400" y="2258568"/>
            <a:ext cx="4572000" cy="502920"/>
          </a:xfrm>
          <a:prstGeom prst="rect">
            <a:avLst/>
          </a:prstGeom>
          <a:noFill/>
          <a:ln/>
        </p:spPr>
        <p:txBody>
          <a:bodyPr wrap="square" lIns="0" tIns="0" rIns="0" bIns="0" rtlCol="0" anchor="ctr"/>
          <a:lstStyle/>
          <a:p>
            <a:pPr marL="0" indent="0">
              <a:buNone/>
            </a:pPr>
            <a:r>
              <a:rPr lang="en-US" sz="1200" dirty="0">
                <a:solidFill>
                  <a:srgbClr val="FFFFFF"/>
                </a:solidFill>
              </a:rPr>
              <a:t>Registry Run Keys</a:t>
            </a:r>
            <a:endParaRPr lang="en-US" sz="1200" dirty="0"/>
          </a:p>
        </p:txBody>
      </p:sp>
      <p:sp>
        <p:nvSpPr>
          <p:cNvPr id="20" name="Shape 18"/>
          <p:cNvSpPr/>
          <p:nvPr/>
        </p:nvSpPr>
        <p:spPr>
          <a:xfrm>
            <a:off x="457200" y="2862072"/>
            <a:ext cx="2286000" cy="502920"/>
          </a:xfrm>
          <a:prstGeom prst="rect">
            <a:avLst/>
          </a:prstGeom>
          <a:solidFill>
            <a:srgbClr val="457B9D"/>
          </a:solidFill>
          <a:ln w="12700">
            <a:solidFill>
              <a:srgbClr val="457B9D"/>
            </a:solidFill>
            <a:prstDash val="solid"/>
          </a:ln>
        </p:spPr>
        <p:txBody>
          <a:bodyPr/>
          <a:lstStyle/>
          <a:p>
            <a:endParaRPr lang="en-US"/>
          </a:p>
        </p:txBody>
      </p:sp>
      <p:sp>
        <p:nvSpPr>
          <p:cNvPr id="21" name="Text 19"/>
          <p:cNvSpPr/>
          <p:nvPr/>
        </p:nvSpPr>
        <p:spPr>
          <a:xfrm>
            <a:off x="457200" y="2862072"/>
            <a:ext cx="2286000" cy="502920"/>
          </a:xfrm>
          <a:prstGeom prst="rect">
            <a:avLst/>
          </a:prstGeom>
          <a:noFill/>
          <a:ln/>
        </p:spPr>
        <p:txBody>
          <a:bodyPr wrap="square" lIns="0" tIns="0" rIns="0" bIns="0" rtlCol="0" anchor="ctr"/>
          <a:lstStyle/>
          <a:p>
            <a:pPr marL="0" indent="0" algn="ctr">
              <a:buNone/>
            </a:pPr>
            <a:r>
              <a:rPr lang="en-US" sz="1200" b="1" dirty="0">
                <a:solidFill>
                  <a:srgbClr val="FFFFFF"/>
                </a:solidFill>
              </a:rPr>
              <a:t>Defense Evasion</a:t>
            </a:r>
            <a:endParaRPr lang="en-US" sz="1200" dirty="0"/>
          </a:p>
        </p:txBody>
      </p:sp>
      <p:sp>
        <p:nvSpPr>
          <p:cNvPr id="22" name="Shape 20"/>
          <p:cNvSpPr/>
          <p:nvPr/>
        </p:nvSpPr>
        <p:spPr>
          <a:xfrm>
            <a:off x="2834640" y="2862072"/>
            <a:ext cx="1371600" cy="502920"/>
          </a:xfrm>
          <a:prstGeom prst="rect">
            <a:avLst/>
          </a:prstGeom>
          <a:solidFill>
            <a:srgbClr val="1D3557"/>
          </a:solidFill>
          <a:ln w="6350">
            <a:solidFill>
              <a:srgbClr val="457B9D"/>
            </a:solidFill>
            <a:prstDash val="solid"/>
          </a:ln>
        </p:spPr>
        <p:txBody>
          <a:bodyPr/>
          <a:lstStyle/>
          <a:p>
            <a:endParaRPr lang="en-US"/>
          </a:p>
        </p:txBody>
      </p:sp>
      <p:sp>
        <p:nvSpPr>
          <p:cNvPr id="23" name="Text 21"/>
          <p:cNvSpPr/>
          <p:nvPr/>
        </p:nvSpPr>
        <p:spPr>
          <a:xfrm>
            <a:off x="2834640" y="2862072"/>
            <a:ext cx="1371600" cy="502920"/>
          </a:xfrm>
          <a:prstGeom prst="rect">
            <a:avLst/>
          </a:prstGeom>
          <a:noFill/>
          <a:ln/>
        </p:spPr>
        <p:txBody>
          <a:bodyPr wrap="square" lIns="0" tIns="0" rIns="0" bIns="0" rtlCol="0" anchor="ctr"/>
          <a:lstStyle/>
          <a:p>
            <a:pPr marL="0" indent="0" algn="ctr">
              <a:buNone/>
            </a:pPr>
            <a:r>
              <a:rPr lang="en-US" sz="1100" b="1" dirty="0">
                <a:solidFill>
                  <a:srgbClr val="A8DADC"/>
                </a:solidFill>
                <a:latin typeface="Consolas" pitchFamily="34" charset="0"/>
                <a:ea typeface="Consolas" pitchFamily="34" charset="-122"/>
                <a:cs typeface="Consolas" pitchFamily="34" charset="-120"/>
              </a:rPr>
              <a:t>T1027</a:t>
            </a:r>
            <a:endParaRPr lang="en-US" sz="1100" dirty="0"/>
          </a:p>
        </p:txBody>
      </p:sp>
      <p:sp>
        <p:nvSpPr>
          <p:cNvPr id="24" name="Text 22"/>
          <p:cNvSpPr/>
          <p:nvPr/>
        </p:nvSpPr>
        <p:spPr>
          <a:xfrm>
            <a:off x="4343400" y="2862072"/>
            <a:ext cx="4572000" cy="502920"/>
          </a:xfrm>
          <a:prstGeom prst="rect">
            <a:avLst/>
          </a:prstGeom>
          <a:noFill/>
          <a:ln/>
        </p:spPr>
        <p:txBody>
          <a:bodyPr wrap="square" lIns="0" tIns="0" rIns="0" bIns="0" rtlCol="0" anchor="ctr"/>
          <a:lstStyle/>
          <a:p>
            <a:pPr marL="0" indent="0">
              <a:buNone/>
            </a:pPr>
            <a:r>
              <a:rPr lang="en-US" sz="1200" dirty="0">
                <a:solidFill>
                  <a:srgbClr val="FFFFFF"/>
                </a:solidFill>
              </a:rPr>
              <a:t>Obfuscated Files</a:t>
            </a:r>
            <a:endParaRPr lang="en-US" sz="1200" dirty="0"/>
          </a:p>
        </p:txBody>
      </p:sp>
      <p:sp>
        <p:nvSpPr>
          <p:cNvPr id="25" name="Shape 23"/>
          <p:cNvSpPr/>
          <p:nvPr/>
        </p:nvSpPr>
        <p:spPr>
          <a:xfrm>
            <a:off x="457200" y="3465576"/>
            <a:ext cx="2286000" cy="502920"/>
          </a:xfrm>
          <a:prstGeom prst="rect">
            <a:avLst/>
          </a:prstGeom>
          <a:solidFill>
            <a:srgbClr val="1D3557"/>
          </a:solidFill>
          <a:ln w="12700">
            <a:solidFill>
              <a:srgbClr val="1D3557"/>
            </a:solidFill>
            <a:prstDash val="solid"/>
          </a:ln>
        </p:spPr>
        <p:txBody>
          <a:bodyPr/>
          <a:lstStyle/>
          <a:p>
            <a:endParaRPr lang="en-US"/>
          </a:p>
        </p:txBody>
      </p:sp>
      <p:sp>
        <p:nvSpPr>
          <p:cNvPr id="26" name="Text 24"/>
          <p:cNvSpPr/>
          <p:nvPr/>
        </p:nvSpPr>
        <p:spPr>
          <a:xfrm>
            <a:off x="457200" y="3465576"/>
            <a:ext cx="2286000" cy="502920"/>
          </a:xfrm>
          <a:prstGeom prst="rect">
            <a:avLst/>
          </a:prstGeom>
          <a:noFill/>
          <a:ln/>
        </p:spPr>
        <p:txBody>
          <a:bodyPr wrap="square" lIns="0" tIns="0" rIns="0" bIns="0" rtlCol="0" anchor="ctr"/>
          <a:lstStyle/>
          <a:p>
            <a:pPr marL="0" indent="0" algn="ctr">
              <a:buNone/>
            </a:pPr>
            <a:r>
              <a:rPr lang="en-US" sz="1200" b="1" dirty="0">
                <a:solidFill>
                  <a:srgbClr val="FFFFFF"/>
                </a:solidFill>
              </a:rPr>
              <a:t>Credential Access</a:t>
            </a:r>
            <a:endParaRPr lang="en-US" sz="1200" dirty="0"/>
          </a:p>
        </p:txBody>
      </p:sp>
      <p:sp>
        <p:nvSpPr>
          <p:cNvPr id="27" name="Shape 25"/>
          <p:cNvSpPr/>
          <p:nvPr/>
        </p:nvSpPr>
        <p:spPr>
          <a:xfrm>
            <a:off x="2834640" y="3465576"/>
            <a:ext cx="1371600" cy="502920"/>
          </a:xfrm>
          <a:prstGeom prst="rect">
            <a:avLst/>
          </a:prstGeom>
          <a:solidFill>
            <a:srgbClr val="1D3557"/>
          </a:solidFill>
          <a:ln w="6350">
            <a:solidFill>
              <a:srgbClr val="457B9D"/>
            </a:solidFill>
            <a:prstDash val="solid"/>
          </a:ln>
        </p:spPr>
        <p:txBody>
          <a:bodyPr/>
          <a:lstStyle/>
          <a:p>
            <a:endParaRPr lang="en-US"/>
          </a:p>
        </p:txBody>
      </p:sp>
      <p:sp>
        <p:nvSpPr>
          <p:cNvPr id="28" name="Text 26"/>
          <p:cNvSpPr/>
          <p:nvPr/>
        </p:nvSpPr>
        <p:spPr>
          <a:xfrm>
            <a:off x="2834640" y="3465576"/>
            <a:ext cx="1371600" cy="502920"/>
          </a:xfrm>
          <a:prstGeom prst="rect">
            <a:avLst/>
          </a:prstGeom>
          <a:noFill/>
          <a:ln/>
        </p:spPr>
        <p:txBody>
          <a:bodyPr wrap="square" lIns="0" tIns="0" rIns="0" bIns="0" rtlCol="0" anchor="ctr"/>
          <a:lstStyle/>
          <a:p>
            <a:pPr marL="0" indent="0" algn="ctr">
              <a:buNone/>
            </a:pPr>
            <a:r>
              <a:rPr lang="en-US" sz="1100" b="1" dirty="0">
                <a:solidFill>
                  <a:srgbClr val="A8DADC"/>
                </a:solidFill>
                <a:latin typeface="Consolas" pitchFamily="34" charset="0"/>
                <a:ea typeface="Consolas" pitchFamily="34" charset="-122"/>
                <a:cs typeface="Consolas" pitchFamily="34" charset="-120"/>
              </a:rPr>
              <a:t>T1003</a:t>
            </a:r>
            <a:endParaRPr lang="en-US" sz="1100" dirty="0"/>
          </a:p>
        </p:txBody>
      </p:sp>
      <p:sp>
        <p:nvSpPr>
          <p:cNvPr id="29" name="Text 27"/>
          <p:cNvSpPr/>
          <p:nvPr/>
        </p:nvSpPr>
        <p:spPr>
          <a:xfrm>
            <a:off x="4343400" y="3465576"/>
            <a:ext cx="4572000" cy="502920"/>
          </a:xfrm>
          <a:prstGeom prst="rect">
            <a:avLst/>
          </a:prstGeom>
          <a:noFill/>
          <a:ln/>
        </p:spPr>
        <p:txBody>
          <a:bodyPr wrap="square" lIns="0" tIns="0" rIns="0" bIns="0" rtlCol="0" anchor="ctr"/>
          <a:lstStyle/>
          <a:p>
            <a:pPr marL="0" indent="0">
              <a:buNone/>
            </a:pPr>
            <a:r>
              <a:rPr lang="en-US" sz="1200" dirty="0">
                <a:solidFill>
                  <a:srgbClr val="FFFFFF"/>
                </a:solidFill>
              </a:rPr>
              <a:t>Credential Dumping</a:t>
            </a:r>
            <a:endParaRPr lang="en-US" sz="1200" dirty="0"/>
          </a:p>
        </p:txBody>
      </p:sp>
      <p:sp>
        <p:nvSpPr>
          <p:cNvPr id="30" name="Shape 28"/>
          <p:cNvSpPr/>
          <p:nvPr/>
        </p:nvSpPr>
        <p:spPr>
          <a:xfrm>
            <a:off x="457200" y="4069080"/>
            <a:ext cx="2286000" cy="502920"/>
          </a:xfrm>
          <a:prstGeom prst="rect">
            <a:avLst/>
          </a:prstGeom>
          <a:solidFill>
            <a:srgbClr val="1B4332"/>
          </a:solidFill>
          <a:ln w="12700">
            <a:solidFill>
              <a:srgbClr val="1B4332"/>
            </a:solidFill>
            <a:prstDash val="solid"/>
          </a:ln>
        </p:spPr>
        <p:txBody>
          <a:bodyPr/>
          <a:lstStyle/>
          <a:p>
            <a:endParaRPr lang="en-US"/>
          </a:p>
        </p:txBody>
      </p:sp>
      <p:sp>
        <p:nvSpPr>
          <p:cNvPr id="31" name="Text 29"/>
          <p:cNvSpPr/>
          <p:nvPr/>
        </p:nvSpPr>
        <p:spPr>
          <a:xfrm>
            <a:off x="457200" y="4069080"/>
            <a:ext cx="2286000" cy="502920"/>
          </a:xfrm>
          <a:prstGeom prst="rect">
            <a:avLst/>
          </a:prstGeom>
          <a:noFill/>
          <a:ln/>
        </p:spPr>
        <p:txBody>
          <a:bodyPr wrap="square" lIns="0" tIns="0" rIns="0" bIns="0" rtlCol="0" anchor="ctr"/>
          <a:lstStyle/>
          <a:p>
            <a:pPr marL="0" indent="0" algn="ctr">
              <a:buNone/>
            </a:pPr>
            <a:r>
              <a:rPr lang="en-US" sz="1200" b="1" dirty="0">
                <a:solidFill>
                  <a:srgbClr val="FFFFFF"/>
                </a:solidFill>
              </a:rPr>
              <a:t>C2</a:t>
            </a:r>
            <a:endParaRPr lang="en-US" sz="1200" dirty="0"/>
          </a:p>
        </p:txBody>
      </p:sp>
      <p:sp>
        <p:nvSpPr>
          <p:cNvPr id="32" name="Shape 30"/>
          <p:cNvSpPr/>
          <p:nvPr/>
        </p:nvSpPr>
        <p:spPr>
          <a:xfrm>
            <a:off x="2834640" y="4069080"/>
            <a:ext cx="1371600" cy="502920"/>
          </a:xfrm>
          <a:prstGeom prst="rect">
            <a:avLst/>
          </a:prstGeom>
          <a:solidFill>
            <a:srgbClr val="1D3557"/>
          </a:solidFill>
          <a:ln w="6350">
            <a:solidFill>
              <a:srgbClr val="457B9D"/>
            </a:solidFill>
            <a:prstDash val="solid"/>
          </a:ln>
        </p:spPr>
        <p:txBody>
          <a:bodyPr/>
          <a:lstStyle/>
          <a:p>
            <a:endParaRPr lang="en-US"/>
          </a:p>
        </p:txBody>
      </p:sp>
      <p:sp>
        <p:nvSpPr>
          <p:cNvPr id="33" name="Text 31"/>
          <p:cNvSpPr/>
          <p:nvPr/>
        </p:nvSpPr>
        <p:spPr>
          <a:xfrm>
            <a:off x="2834640" y="4069080"/>
            <a:ext cx="1371600" cy="502920"/>
          </a:xfrm>
          <a:prstGeom prst="rect">
            <a:avLst/>
          </a:prstGeom>
          <a:noFill/>
          <a:ln/>
        </p:spPr>
        <p:txBody>
          <a:bodyPr wrap="square" lIns="0" tIns="0" rIns="0" bIns="0" rtlCol="0" anchor="ctr"/>
          <a:lstStyle/>
          <a:p>
            <a:pPr marL="0" indent="0" algn="ctr">
              <a:buNone/>
            </a:pPr>
            <a:r>
              <a:rPr lang="en-US" sz="1100" b="1" dirty="0">
                <a:solidFill>
                  <a:srgbClr val="A8DADC"/>
                </a:solidFill>
                <a:latin typeface="Consolas" pitchFamily="34" charset="0"/>
                <a:ea typeface="Consolas" pitchFamily="34" charset="-122"/>
                <a:cs typeface="Consolas" pitchFamily="34" charset="-120"/>
              </a:rPr>
              <a:t>T1071</a:t>
            </a:r>
            <a:endParaRPr lang="en-US" sz="1100" dirty="0"/>
          </a:p>
        </p:txBody>
      </p:sp>
      <p:sp>
        <p:nvSpPr>
          <p:cNvPr id="34" name="Text 32"/>
          <p:cNvSpPr/>
          <p:nvPr/>
        </p:nvSpPr>
        <p:spPr>
          <a:xfrm>
            <a:off x="4343400" y="4069080"/>
            <a:ext cx="4572000" cy="502920"/>
          </a:xfrm>
          <a:prstGeom prst="rect">
            <a:avLst/>
          </a:prstGeom>
          <a:noFill/>
          <a:ln/>
        </p:spPr>
        <p:txBody>
          <a:bodyPr wrap="square" lIns="0" tIns="0" rIns="0" bIns="0" rtlCol="0" anchor="ctr"/>
          <a:lstStyle/>
          <a:p>
            <a:pPr marL="0" indent="0">
              <a:buNone/>
            </a:pPr>
            <a:r>
              <a:rPr lang="en-US" sz="1200" dirty="0">
                <a:solidFill>
                  <a:srgbClr val="FFFFFF"/>
                </a:solidFill>
              </a:rPr>
              <a:t>Application Layer Protocol</a:t>
            </a:r>
            <a:endParaRPr lang="en-US" sz="1200" dirty="0"/>
          </a:p>
        </p:txBody>
      </p:sp>
      <p:sp>
        <p:nvSpPr>
          <p:cNvPr id="35" name="Shape 33"/>
          <p:cNvSpPr/>
          <p:nvPr/>
        </p:nvSpPr>
        <p:spPr>
          <a:xfrm>
            <a:off x="457200" y="4663440"/>
            <a:ext cx="8229600" cy="320040"/>
          </a:xfrm>
          <a:prstGeom prst="rect">
            <a:avLst/>
          </a:prstGeom>
          <a:solidFill>
            <a:srgbClr val="E63946">
              <a:alpha val="80000"/>
            </a:srgbClr>
          </a:solidFill>
          <a:ln w="12700">
            <a:solidFill>
              <a:srgbClr val="E63946"/>
            </a:solidFill>
            <a:prstDash val="solid"/>
          </a:ln>
        </p:spPr>
        <p:txBody>
          <a:bodyPr/>
          <a:lstStyle/>
          <a:p>
            <a:endParaRPr lang="en-US"/>
          </a:p>
        </p:txBody>
      </p:sp>
      <p:sp>
        <p:nvSpPr>
          <p:cNvPr id="36" name="Text 34"/>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100" b="1" dirty="0">
                <a:solidFill>
                  <a:srgbClr val="FFFFFF"/>
                </a:solidFill>
              </a:rPr>
              <a:t>OBSERVATION:  Heavy reliance on LOLBins — T1218 Signed Binary Proxy Execution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E8EE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600" b="1" dirty="0">
                <a:solidFill>
                  <a:srgbClr val="0D1B2A"/>
                </a:solidFill>
              </a:rPr>
              <a:t>Defensive Implications</a:t>
            </a:r>
            <a:endParaRPr lang="en-US" sz="2600" dirty="0"/>
          </a:p>
        </p:txBody>
      </p:sp>
      <p:sp>
        <p:nvSpPr>
          <p:cNvPr id="4" name="Shape 2"/>
          <p:cNvSpPr/>
          <p:nvPr/>
        </p:nvSpPr>
        <p:spPr>
          <a:xfrm>
            <a:off x="457200" y="914400"/>
            <a:ext cx="8229600" cy="694944"/>
          </a:xfrm>
          <a:prstGeom prst="rect">
            <a:avLst/>
          </a:prstGeom>
          <a:solidFill>
            <a:srgbClr val="FFFFFF"/>
          </a:solidFill>
          <a:ln w="12700">
            <a:solidFill>
              <a:srgbClr val="457B9D"/>
            </a:solidFill>
            <a:prstDash val="solid"/>
          </a:ln>
          <a:effectLst>
            <a:outerShdw blurRad="38100" dist="12700" dir="8100000" algn="bl" rotWithShape="0">
              <a:srgbClr val="000000">
                <a:alpha val="7000"/>
              </a:srgbClr>
            </a:outerShdw>
          </a:effectLst>
        </p:spPr>
        <p:txBody>
          <a:bodyPr/>
          <a:lstStyle/>
          <a:p>
            <a:endParaRPr lang="en-US"/>
          </a:p>
        </p:txBody>
      </p:sp>
      <p:sp>
        <p:nvSpPr>
          <p:cNvPr id="5" name="Text 3"/>
          <p:cNvSpPr/>
          <p:nvPr/>
        </p:nvSpPr>
        <p:spPr>
          <a:xfrm>
            <a:off x="548640" y="914400"/>
            <a:ext cx="548640" cy="694944"/>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6" name="Text 4"/>
          <p:cNvSpPr/>
          <p:nvPr/>
        </p:nvSpPr>
        <p:spPr>
          <a:xfrm>
            <a:off x="1188720" y="960120"/>
            <a:ext cx="7223760" cy="292608"/>
          </a:xfrm>
          <a:prstGeom prst="rect">
            <a:avLst/>
          </a:prstGeom>
          <a:noFill/>
          <a:ln/>
        </p:spPr>
        <p:txBody>
          <a:bodyPr wrap="square" lIns="0" tIns="0" rIns="0" bIns="0" rtlCol="0" anchor="ctr"/>
          <a:lstStyle/>
          <a:p>
            <a:pPr marL="0" indent="0">
              <a:buNone/>
            </a:pPr>
            <a:r>
              <a:rPr lang="en-US" sz="1300" b="1" dirty="0">
                <a:solidFill>
                  <a:srgbClr val="1D3557"/>
                </a:solidFill>
              </a:rPr>
              <a:t>Signature Detection Is Insufficient</a:t>
            </a:r>
            <a:endParaRPr lang="en-US" sz="1300" dirty="0"/>
          </a:p>
        </p:txBody>
      </p:sp>
      <p:sp>
        <p:nvSpPr>
          <p:cNvPr id="7" name="Text 5"/>
          <p:cNvSpPr/>
          <p:nvPr/>
        </p:nvSpPr>
        <p:spPr>
          <a:xfrm>
            <a:off x="1188720" y="1252728"/>
            <a:ext cx="7223760" cy="310896"/>
          </a:xfrm>
          <a:prstGeom prst="rect">
            <a:avLst/>
          </a:prstGeom>
          <a:noFill/>
          <a:ln/>
        </p:spPr>
        <p:txBody>
          <a:bodyPr wrap="square" lIns="0" tIns="0" rIns="0" bIns="0" rtlCol="0" anchor="ctr"/>
          <a:lstStyle/>
          <a:p>
            <a:pPr marL="0" indent="0">
              <a:buNone/>
            </a:pPr>
            <a:r>
              <a:rPr lang="en-US" sz="1100" dirty="0">
                <a:solidFill>
                  <a:srgbClr val="0D1B2A"/>
                </a:solidFill>
              </a:rPr>
              <a:t>LATAM actors iterate rapidly; static signatures become outdated within weeks of a campaign.</a:t>
            </a:r>
            <a:endParaRPr lang="en-US" sz="1100" dirty="0"/>
          </a:p>
        </p:txBody>
      </p:sp>
      <p:sp>
        <p:nvSpPr>
          <p:cNvPr id="8" name="Shape 6"/>
          <p:cNvSpPr/>
          <p:nvPr/>
        </p:nvSpPr>
        <p:spPr>
          <a:xfrm>
            <a:off x="457200" y="1719072"/>
            <a:ext cx="8229600" cy="694944"/>
          </a:xfrm>
          <a:prstGeom prst="rect">
            <a:avLst/>
          </a:prstGeom>
          <a:solidFill>
            <a:srgbClr val="FFFFFF"/>
          </a:solidFill>
          <a:ln w="12700">
            <a:solidFill>
              <a:srgbClr val="457B9D"/>
            </a:solidFill>
            <a:prstDash val="solid"/>
          </a:ln>
          <a:effectLst>
            <a:outerShdw blurRad="38100" dist="12700" dir="8100000" algn="bl" rotWithShape="0">
              <a:srgbClr val="000000">
                <a:alpha val="7000"/>
              </a:srgbClr>
            </a:outerShdw>
          </a:effectLst>
        </p:spPr>
        <p:txBody>
          <a:bodyPr/>
          <a:lstStyle/>
          <a:p>
            <a:endParaRPr lang="en-US"/>
          </a:p>
        </p:txBody>
      </p:sp>
      <p:sp>
        <p:nvSpPr>
          <p:cNvPr id="9" name="Text 7"/>
          <p:cNvSpPr/>
          <p:nvPr/>
        </p:nvSpPr>
        <p:spPr>
          <a:xfrm>
            <a:off x="548640" y="1719072"/>
            <a:ext cx="548640" cy="694944"/>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0" name="Text 8"/>
          <p:cNvSpPr/>
          <p:nvPr/>
        </p:nvSpPr>
        <p:spPr>
          <a:xfrm>
            <a:off x="1188720" y="1764792"/>
            <a:ext cx="7223760" cy="292608"/>
          </a:xfrm>
          <a:prstGeom prst="rect">
            <a:avLst/>
          </a:prstGeom>
          <a:noFill/>
          <a:ln/>
        </p:spPr>
        <p:txBody>
          <a:bodyPr wrap="square" lIns="0" tIns="0" rIns="0" bIns="0" rtlCol="0" anchor="ctr"/>
          <a:lstStyle/>
          <a:p>
            <a:pPr marL="0" indent="0">
              <a:buNone/>
            </a:pPr>
            <a:r>
              <a:rPr lang="en-US" sz="1300" b="1" dirty="0">
                <a:solidFill>
                  <a:srgbClr val="1D3557"/>
                </a:solidFill>
              </a:rPr>
              <a:t>Monitor Encoded PowerShell</a:t>
            </a:r>
            <a:endParaRPr lang="en-US" sz="1300" dirty="0"/>
          </a:p>
        </p:txBody>
      </p:sp>
      <p:sp>
        <p:nvSpPr>
          <p:cNvPr id="11" name="Text 9"/>
          <p:cNvSpPr/>
          <p:nvPr/>
        </p:nvSpPr>
        <p:spPr>
          <a:xfrm>
            <a:off x="1188720" y="2057400"/>
            <a:ext cx="7223760" cy="310896"/>
          </a:xfrm>
          <a:prstGeom prst="rect">
            <a:avLst/>
          </a:prstGeom>
          <a:noFill/>
          <a:ln/>
        </p:spPr>
        <p:txBody>
          <a:bodyPr wrap="square" lIns="0" tIns="0" rIns="0" bIns="0" rtlCol="0" anchor="ctr"/>
          <a:lstStyle/>
          <a:p>
            <a:pPr marL="0" indent="0">
              <a:buNone/>
            </a:pPr>
            <a:r>
              <a:rPr lang="en-US" sz="1100" dirty="0">
                <a:solidFill>
                  <a:srgbClr val="0D1B2A"/>
                </a:solidFill>
              </a:rPr>
              <a:t>Multi-layer encoding is standard practice. Behavioral monitoring of PowerShell execution is critical.</a:t>
            </a:r>
            <a:endParaRPr lang="en-US" sz="1100" dirty="0"/>
          </a:p>
        </p:txBody>
      </p:sp>
      <p:sp>
        <p:nvSpPr>
          <p:cNvPr id="12" name="Shape 10"/>
          <p:cNvSpPr/>
          <p:nvPr/>
        </p:nvSpPr>
        <p:spPr>
          <a:xfrm>
            <a:off x="457200" y="2523744"/>
            <a:ext cx="8229600" cy="694944"/>
          </a:xfrm>
          <a:prstGeom prst="rect">
            <a:avLst/>
          </a:prstGeom>
          <a:solidFill>
            <a:srgbClr val="FFFFFF"/>
          </a:solidFill>
          <a:ln w="12700">
            <a:solidFill>
              <a:srgbClr val="457B9D"/>
            </a:solidFill>
            <a:prstDash val="solid"/>
          </a:ln>
          <a:effectLst>
            <a:outerShdw blurRad="38100" dist="12700" dir="8100000" algn="bl" rotWithShape="0">
              <a:srgbClr val="000000">
                <a:alpha val="7000"/>
              </a:srgbClr>
            </a:outerShdw>
          </a:effectLst>
        </p:spPr>
        <p:txBody>
          <a:bodyPr/>
          <a:lstStyle/>
          <a:p>
            <a:endParaRPr lang="en-US"/>
          </a:p>
        </p:txBody>
      </p:sp>
      <p:sp>
        <p:nvSpPr>
          <p:cNvPr id="13" name="Text 11"/>
          <p:cNvSpPr/>
          <p:nvPr/>
        </p:nvSpPr>
        <p:spPr>
          <a:xfrm>
            <a:off x="548640" y="2523744"/>
            <a:ext cx="548640" cy="694944"/>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1188720" y="2569464"/>
            <a:ext cx="7223760" cy="292608"/>
          </a:xfrm>
          <a:prstGeom prst="rect">
            <a:avLst/>
          </a:prstGeom>
          <a:noFill/>
          <a:ln/>
        </p:spPr>
        <p:txBody>
          <a:bodyPr wrap="square" lIns="0" tIns="0" rIns="0" bIns="0" rtlCol="0" anchor="ctr"/>
          <a:lstStyle/>
          <a:p>
            <a:pPr marL="0" indent="0">
              <a:buNone/>
            </a:pPr>
            <a:r>
              <a:rPr lang="en-US" sz="1300" b="1" dirty="0">
                <a:solidFill>
                  <a:srgbClr val="1D3557"/>
                </a:solidFill>
              </a:rPr>
              <a:t>Abnormal Process Trees</a:t>
            </a:r>
            <a:endParaRPr lang="en-US" sz="1300" dirty="0"/>
          </a:p>
        </p:txBody>
      </p:sp>
      <p:sp>
        <p:nvSpPr>
          <p:cNvPr id="15" name="Text 13"/>
          <p:cNvSpPr/>
          <p:nvPr/>
        </p:nvSpPr>
        <p:spPr>
          <a:xfrm>
            <a:off x="1188720" y="2862072"/>
            <a:ext cx="7223760" cy="310896"/>
          </a:xfrm>
          <a:prstGeom prst="rect">
            <a:avLst/>
          </a:prstGeom>
          <a:noFill/>
          <a:ln/>
        </p:spPr>
        <p:txBody>
          <a:bodyPr wrap="square" lIns="0" tIns="0" rIns="0" bIns="0" rtlCol="0" anchor="ctr"/>
          <a:lstStyle/>
          <a:p>
            <a:pPr marL="0" indent="0">
              <a:buNone/>
            </a:pPr>
            <a:r>
              <a:rPr lang="en-US" sz="1100" dirty="0">
                <a:solidFill>
                  <a:srgbClr val="0D1B2A"/>
                </a:solidFill>
              </a:rPr>
              <a:t>Detect unusual parent-child process chains (e.g., Office spawning scripting engines).</a:t>
            </a:r>
            <a:endParaRPr lang="en-US" sz="1100" dirty="0"/>
          </a:p>
        </p:txBody>
      </p:sp>
      <p:sp>
        <p:nvSpPr>
          <p:cNvPr id="16" name="Shape 14"/>
          <p:cNvSpPr/>
          <p:nvPr/>
        </p:nvSpPr>
        <p:spPr>
          <a:xfrm>
            <a:off x="457200" y="3328416"/>
            <a:ext cx="8229600" cy="694944"/>
          </a:xfrm>
          <a:prstGeom prst="rect">
            <a:avLst/>
          </a:prstGeom>
          <a:solidFill>
            <a:srgbClr val="FFFFFF"/>
          </a:solidFill>
          <a:ln w="12700">
            <a:solidFill>
              <a:srgbClr val="457B9D"/>
            </a:solidFill>
            <a:prstDash val="solid"/>
          </a:ln>
          <a:effectLst>
            <a:outerShdw blurRad="38100" dist="12700" dir="8100000" algn="bl" rotWithShape="0">
              <a:srgbClr val="000000">
                <a:alpha val="7000"/>
              </a:srgbClr>
            </a:outerShdw>
          </a:effectLst>
        </p:spPr>
        <p:txBody>
          <a:bodyPr/>
          <a:lstStyle/>
          <a:p>
            <a:endParaRPr lang="en-US"/>
          </a:p>
        </p:txBody>
      </p:sp>
      <p:sp>
        <p:nvSpPr>
          <p:cNvPr id="17" name="Text 15"/>
          <p:cNvSpPr/>
          <p:nvPr/>
        </p:nvSpPr>
        <p:spPr>
          <a:xfrm>
            <a:off x="548640" y="3328416"/>
            <a:ext cx="548640" cy="694944"/>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1188720" y="3374136"/>
            <a:ext cx="7223760" cy="292608"/>
          </a:xfrm>
          <a:prstGeom prst="rect">
            <a:avLst/>
          </a:prstGeom>
          <a:noFill/>
          <a:ln/>
        </p:spPr>
        <p:txBody>
          <a:bodyPr wrap="square" lIns="0" tIns="0" rIns="0" bIns="0" rtlCol="0" anchor="ctr"/>
          <a:lstStyle/>
          <a:p>
            <a:pPr marL="0" indent="0">
              <a:buNone/>
            </a:pPr>
            <a:r>
              <a:rPr lang="en-US" sz="1300" b="1" dirty="0">
                <a:solidFill>
                  <a:srgbClr val="1D3557"/>
                </a:solidFill>
              </a:rPr>
              <a:t>Cross-Family Behavioral Patterns</a:t>
            </a:r>
            <a:endParaRPr lang="en-US" sz="1300" dirty="0"/>
          </a:p>
        </p:txBody>
      </p:sp>
      <p:sp>
        <p:nvSpPr>
          <p:cNvPr id="19" name="Text 17"/>
          <p:cNvSpPr/>
          <p:nvPr/>
        </p:nvSpPr>
        <p:spPr>
          <a:xfrm>
            <a:off x="1188720" y="3666744"/>
            <a:ext cx="7223760" cy="310896"/>
          </a:xfrm>
          <a:prstGeom prst="rect">
            <a:avLst/>
          </a:prstGeom>
          <a:noFill/>
          <a:ln/>
        </p:spPr>
        <p:txBody>
          <a:bodyPr wrap="square" lIns="0" tIns="0" rIns="0" bIns="0" rtlCol="0" anchor="ctr"/>
          <a:lstStyle/>
          <a:p>
            <a:pPr marL="0" indent="0">
              <a:buNone/>
            </a:pPr>
            <a:r>
              <a:rPr lang="en-US" sz="1100" dirty="0">
                <a:solidFill>
                  <a:srgbClr val="0D1B2A"/>
                </a:solidFill>
              </a:rPr>
              <a:t>Focus on shared TTPs across families, not individual malware signatures or names.</a:t>
            </a:r>
            <a:endParaRPr lang="en-US" sz="1100" dirty="0"/>
          </a:p>
        </p:txBody>
      </p:sp>
      <p:sp>
        <p:nvSpPr>
          <p:cNvPr id="20" name="Shape 18"/>
          <p:cNvSpPr/>
          <p:nvPr/>
        </p:nvSpPr>
        <p:spPr>
          <a:xfrm>
            <a:off x="457200" y="4133088"/>
            <a:ext cx="8229600" cy="694944"/>
          </a:xfrm>
          <a:prstGeom prst="rect">
            <a:avLst/>
          </a:prstGeom>
          <a:solidFill>
            <a:srgbClr val="FFFFFF"/>
          </a:solidFill>
          <a:ln w="12700">
            <a:solidFill>
              <a:srgbClr val="457B9D"/>
            </a:solidFill>
            <a:prstDash val="solid"/>
          </a:ln>
          <a:effectLst>
            <a:outerShdw blurRad="38100" dist="12700" dir="8100000" algn="bl" rotWithShape="0">
              <a:srgbClr val="000000">
                <a:alpha val="7000"/>
              </a:srgbClr>
            </a:outerShdw>
          </a:effectLst>
        </p:spPr>
        <p:txBody>
          <a:bodyPr/>
          <a:lstStyle/>
          <a:p>
            <a:endParaRPr lang="en-US"/>
          </a:p>
        </p:txBody>
      </p:sp>
      <p:sp>
        <p:nvSpPr>
          <p:cNvPr id="21" name="Text 19"/>
          <p:cNvSpPr/>
          <p:nvPr/>
        </p:nvSpPr>
        <p:spPr>
          <a:xfrm>
            <a:off x="548640" y="4133088"/>
            <a:ext cx="548640" cy="694944"/>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2" name="Text 20"/>
          <p:cNvSpPr/>
          <p:nvPr/>
        </p:nvSpPr>
        <p:spPr>
          <a:xfrm>
            <a:off x="1188720" y="4178808"/>
            <a:ext cx="7223760" cy="292608"/>
          </a:xfrm>
          <a:prstGeom prst="rect">
            <a:avLst/>
          </a:prstGeom>
          <a:noFill/>
          <a:ln/>
        </p:spPr>
        <p:txBody>
          <a:bodyPr wrap="square" lIns="0" tIns="0" rIns="0" bIns="0" rtlCol="0" anchor="ctr"/>
          <a:lstStyle/>
          <a:p>
            <a:pPr marL="0" indent="0">
              <a:buNone/>
            </a:pPr>
            <a:r>
              <a:rPr lang="en-US" sz="1300" b="1" dirty="0">
                <a:solidFill>
                  <a:srgbClr val="1D3557"/>
                </a:solidFill>
              </a:rPr>
              <a:t>Infrastructure Intelligence</a:t>
            </a:r>
            <a:endParaRPr lang="en-US" sz="1300" dirty="0"/>
          </a:p>
        </p:txBody>
      </p:sp>
      <p:sp>
        <p:nvSpPr>
          <p:cNvPr id="23" name="Text 21"/>
          <p:cNvSpPr/>
          <p:nvPr/>
        </p:nvSpPr>
        <p:spPr>
          <a:xfrm>
            <a:off x="1188720" y="4471416"/>
            <a:ext cx="7223760" cy="310896"/>
          </a:xfrm>
          <a:prstGeom prst="rect">
            <a:avLst/>
          </a:prstGeom>
          <a:noFill/>
          <a:ln/>
        </p:spPr>
        <p:txBody>
          <a:bodyPr wrap="square" lIns="0" tIns="0" rIns="0" bIns="0" rtlCol="0" anchor="ctr"/>
          <a:lstStyle/>
          <a:p>
            <a:pPr marL="0" indent="0">
              <a:buNone/>
            </a:pPr>
            <a:r>
              <a:rPr lang="en-US" sz="1100" dirty="0">
                <a:solidFill>
                  <a:srgbClr val="0D1B2A"/>
                </a:solidFill>
              </a:rPr>
              <a:t>Correlate short-TTL domains, cloud provider abuse, and TLS fingerprints across campaigns.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800" b="1" dirty="0">
                <a:solidFill>
                  <a:srgbClr val="FFFFFF"/>
                </a:solidFill>
              </a:rPr>
              <a:t>Strategic Conclusion</a:t>
            </a:r>
            <a:endParaRPr lang="en-US" sz="2800" dirty="0"/>
          </a:p>
        </p:txBody>
      </p:sp>
      <p:sp>
        <p:nvSpPr>
          <p:cNvPr id="4" name="Shape 2"/>
          <p:cNvSpPr/>
          <p:nvPr/>
        </p:nvSpPr>
        <p:spPr>
          <a:xfrm>
            <a:off x="457200" y="914400"/>
            <a:ext cx="8229600" cy="530352"/>
          </a:xfrm>
          <a:prstGeom prst="rect">
            <a:avLst/>
          </a:prstGeom>
          <a:solidFill>
            <a:srgbClr val="1D3557"/>
          </a:solidFill>
          <a:ln w="6350">
            <a:solidFill>
              <a:srgbClr val="457B9D"/>
            </a:solidFill>
            <a:prstDash val="solid"/>
          </a:ln>
        </p:spPr>
        <p:txBody>
          <a:bodyPr/>
          <a:lstStyle/>
          <a:p>
            <a:endParaRPr lang="en-US"/>
          </a:p>
        </p:txBody>
      </p:sp>
      <p:sp>
        <p:nvSpPr>
          <p:cNvPr id="5" name="Text 3"/>
          <p:cNvSpPr/>
          <p:nvPr/>
        </p:nvSpPr>
        <p:spPr>
          <a:xfrm>
            <a:off x="502920" y="914400"/>
            <a:ext cx="365760" cy="530352"/>
          </a:xfrm>
          <a:prstGeom prst="rect">
            <a:avLst/>
          </a:prstGeom>
          <a:noFill/>
          <a:ln/>
        </p:spPr>
        <p:txBody>
          <a:bodyPr wrap="square" lIns="0" tIns="0" rIns="0" bIns="0" rtlCol="0" anchor="ctr"/>
          <a:lstStyle/>
          <a:p>
            <a:pPr marL="0" indent="0" algn="ctr">
              <a:buNone/>
            </a:pPr>
            <a:r>
              <a:rPr lang="en-US" sz="1400" b="1" dirty="0">
                <a:solidFill>
                  <a:srgbClr val="E63946"/>
                </a:solidFill>
              </a:rPr>
              <a:t>1.</a:t>
            </a:r>
            <a:endParaRPr lang="en-US" sz="1400" dirty="0"/>
          </a:p>
        </p:txBody>
      </p:sp>
      <p:sp>
        <p:nvSpPr>
          <p:cNvPr id="6" name="Text 4"/>
          <p:cNvSpPr/>
          <p:nvPr/>
        </p:nvSpPr>
        <p:spPr>
          <a:xfrm>
            <a:off x="960120" y="914400"/>
            <a:ext cx="7589520" cy="530352"/>
          </a:xfrm>
          <a:prstGeom prst="rect">
            <a:avLst/>
          </a:prstGeom>
          <a:noFill/>
          <a:ln/>
        </p:spPr>
        <p:txBody>
          <a:bodyPr wrap="square" lIns="0" tIns="0" rIns="0" bIns="0" rtlCol="0" anchor="ctr"/>
          <a:lstStyle/>
          <a:p>
            <a:pPr marL="0" indent="0">
              <a:buNone/>
            </a:pPr>
            <a:r>
              <a:rPr lang="en-US" sz="1300" dirty="0">
                <a:solidFill>
                  <a:srgbClr val="FFFFFF"/>
                </a:solidFill>
              </a:rPr>
              <a:t>LATAM threat actors are no longer regionally confined.</a:t>
            </a:r>
            <a:endParaRPr lang="en-US" sz="1300" dirty="0"/>
          </a:p>
        </p:txBody>
      </p:sp>
      <p:sp>
        <p:nvSpPr>
          <p:cNvPr id="7" name="Shape 5"/>
          <p:cNvSpPr/>
          <p:nvPr/>
        </p:nvSpPr>
        <p:spPr>
          <a:xfrm>
            <a:off x="457200" y="1554480"/>
            <a:ext cx="8229600" cy="530352"/>
          </a:xfrm>
          <a:prstGeom prst="rect">
            <a:avLst/>
          </a:prstGeom>
          <a:solidFill>
            <a:srgbClr val="1D3557">
              <a:alpha val="70000"/>
            </a:srgbClr>
          </a:solidFill>
          <a:ln w="6350">
            <a:solidFill>
              <a:srgbClr val="457B9D"/>
            </a:solidFill>
            <a:prstDash val="solid"/>
          </a:ln>
        </p:spPr>
        <p:txBody>
          <a:bodyPr/>
          <a:lstStyle/>
          <a:p>
            <a:endParaRPr lang="en-US"/>
          </a:p>
        </p:txBody>
      </p:sp>
      <p:sp>
        <p:nvSpPr>
          <p:cNvPr id="8" name="Text 6"/>
          <p:cNvSpPr/>
          <p:nvPr/>
        </p:nvSpPr>
        <p:spPr>
          <a:xfrm>
            <a:off x="502920" y="1554480"/>
            <a:ext cx="365760" cy="530352"/>
          </a:xfrm>
          <a:prstGeom prst="rect">
            <a:avLst/>
          </a:prstGeom>
          <a:noFill/>
          <a:ln/>
        </p:spPr>
        <p:txBody>
          <a:bodyPr wrap="square" lIns="0" tIns="0" rIns="0" bIns="0" rtlCol="0" anchor="ctr"/>
          <a:lstStyle/>
          <a:p>
            <a:pPr marL="0" indent="0" algn="ctr">
              <a:buNone/>
            </a:pPr>
            <a:r>
              <a:rPr lang="en-US" sz="1400" b="1" dirty="0">
                <a:solidFill>
                  <a:srgbClr val="E63946"/>
                </a:solidFill>
              </a:rPr>
              <a:t>2.</a:t>
            </a:r>
            <a:endParaRPr lang="en-US" sz="1400" dirty="0"/>
          </a:p>
        </p:txBody>
      </p:sp>
      <p:sp>
        <p:nvSpPr>
          <p:cNvPr id="9" name="Text 7"/>
          <p:cNvSpPr/>
          <p:nvPr/>
        </p:nvSpPr>
        <p:spPr>
          <a:xfrm>
            <a:off x="960120" y="1554480"/>
            <a:ext cx="7589520" cy="530352"/>
          </a:xfrm>
          <a:prstGeom prst="rect">
            <a:avLst/>
          </a:prstGeom>
          <a:noFill/>
          <a:ln/>
        </p:spPr>
        <p:txBody>
          <a:bodyPr wrap="square" lIns="0" tIns="0" rIns="0" bIns="0" rtlCol="0" anchor="ctr"/>
          <a:lstStyle/>
          <a:p>
            <a:pPr marL="0" indent="0">
              <a:buNone/>
            </a:pPr>
            <a:r>
              <a:rPr lang="en-US" sz="1300" dirty="0">
                <a:solidFill>
                  <a:srgbClr val="FFFFFF"/>
                </a:solidFill>
              </a:rPr>
              <a:t>Banking malware groups show professional development cycles.</a:t>
            </a:r>
            <a:endParaRPr lang="en-US" sz="1300" dirty="0"/>
          </a:p>
        </p:txBody>
      </p:sp>
      <p:sp>
        <p:nvSpPr>
          <p:cNvPr id="10" name="Shape 8"/>
          <p:cNvSpPr/>
          <p:nvPr/>
        </p:nvSpPr>
        <p:spPr>
          <a:xfrm>
            <a:off x="457200" y="2194560"/>
            <a:ext cx="8229600" cy="530352"/>
          </a:xfrm>
          <a:prstGeom prst="rect">
            <a:avLst/>
          </a:prstGeom>
          <a:solidFill>
            <a:srgbClr val="1D3557"/>
          </a:solidFill>
          <a:ln w="6350">
            <a:solidFill>
              <a:srgbClr val="457B9D"/>
            </a:solidFill>
            <a:prstDash val="solid"/>
          </a:ln>
        </p:spPr>
        <p:txBody>
          <a:bodyPr/>
          <a:lstStyle/>
          <a:p>
            <a:endParaRPr lang="en-US"/>
          </a:p>
        </p:txBody>
      </p:sp>
      <p:sp>
        <p:nvSpPr>
          <p:cNvPr id="11" name="Text 9"/>
          <p:cNvSpPr/>
          <p:nvPr/>
        </p:nvSpPr>
        <p:spPr>
          <a:xfrm>
            <a:off x="502920" y="2194560"/>
            <a:ext cx="365760" cy="530352"/>
          </a:xfrm>
          <a:prstGeom prst="rect">
            <a:avLst/>
          </a:prstGeom>
          <a:noFill/>
          <a:ln/>
        </p:spPr>
        <p:txBody>
          <a:bodyPr wrap="square" lIns="0" tIns="0" rIns="0" bIns="0" rtlCol="0" anchor="ctr"/>
          <a:lstStyle/>
          <a:p>
            <a:pPr marL="0" indent="0" algn="ctr">
              <a:buNone/>
            </a:pPr>
            <a:r>
              <a:rPr lang="en-US" sz="1400" b="1" dirty="0">
                <a:solidFill>
                  <a:srgbClr val="E63946"/>
                </a:solidFill>
              </a:rPr>
              <a:t>3.</a:t>
            </a:r>
            <a:endParaRPr lang="en-US" sz="1400" dirty="0"/>
          </a:p>
        </p:txBody>
      </p:sp>
      <p:sp>
        <p:nvSpPr>
          <p:cNvPr id="12" name="Text 10"/>
          <p:cNvSpPr/>
          <p:nvPr/>
        </p:nvSpPr>
        <p:spPr>
          <a:xfrm>
            <a:off x="960120" y="2194560"/>
            <a:ext cx="7589520" cy="530352"/>
          </a:xfrm>
          <a:prstGeom prst="rect">
            <a:avLst/>
          </a:prstGeom>
          <a:noFill/>
          <a:ln/>
        </p:spPr>
        <p:txBody>
          <a:bodyPr wrap="square" lIns="0" tIns="0" rIns="0" bIns="0" rtlCol="0" anchor="ctr"/>
          <a:lstStyle/>
          <a:p>
            <a:pPr marL="0" indent="0">
              <a:buNone/>
            </a:pPr>
            <a:r>
              <a:rPr lang="en-US" sz="1300" dirty="0">
                <a:solidFill>
                  <a:srgbClr val="FFFFFF"/>
                </a:solidFill>
              </a:rPr>
              <a:t>Infrastructure agility is increasing.</a:t>
            </a:r>
            <a:endParaRPr lang="en-US" sz="1300" dirty="0"/>
          </a:p>
        </p:txBody>
      </p:sp>
      <p:sp>
        <p:nvSpPr>
          <p:cNvPr id="13" name="Shape 11"/>
          <p:cNvSpPr/>
          <p:nvPr/>
        </p:nvSpPr>
        <p:spPr>
          <a:xfrm>
            <a:off x="457200" y="2834640"/>
            <a:ext cx="8229600" cy="530352"/>
          </a:xfrm>
          <a:prstGeom prst="rect">
            <a:avLst/>
          </a:prstGeom>
          <a:solidFill>
            <a:srgbClr val="1D3557">
              <a:alpha val="70000"/>
            </a:srgbClr>
          </a:solidFill>
          <a:ln w="6350">
            <a:solidFill>
              <a:srgbClr val="457B9D"/>
            </a:solidFill>
            <a:prstDash val="solid"/>
          </a:ln>
        </p:spPr>
        <p:txBody>
          <a:bodyPr/>
          <a:lstStyle/>
          <a:p>
            <a:endParaRPr lang="en-US"/>
          </a:p>
        </p:txBody>
      </p:sp>
      <p:sp>
        <p:nvSpPr>
          <p:cNvPr id="14" name="Text 12"/>
          <p:cNvSpPr/>
          <p:nvPr/>
        </p:nvSpPr>
        <p:spPr>
          <a:xfrm>
            <a:off x="502920" y="2834640"/>
            <a:ext cx="365760" cy="530352"/>
          </a:xfrm>
          <a:prstGeom prst="rect">
            <a:avLst/>
          </a:prstGeom>
          <a:noFill/>
          <a:ln/>
        </p:spPr>
        <p:txBody>
          <a:bodyPr wrap="square" lIns="0" tIns="0" rIns="0" bIns="0" rtlCol="0" anchor="ctr"/>
          <a:lstStyle/>
          <a:p>
            <a:pPr marL="0" indent="0" algn="ctr">
              <a:buNone/>
            </a:pPr>
            <a:r>
              <a:rPr lang="en-US" sz="1400" b="1" dirty="0">
                <a:solidFill>
                  <a:srgbClr val="E63946"/>
                </a:solidFill>
              </a:rPr>
              <a:t>4.</a:t>
            </a:r>
            <a:endParaRPr lang="en-US" sz="1400" dirty="0"/>
          </a:p>
        </p:txBody>
      </p:sp>
      <p:sp>
        <p:nvSpPr>
          <p:cNvPr id="15" name="Text 13"/>
          <p:cNvSpPr/>
          <p:nvPr/>
        </p:nvSpPr>
        <p:spPr>
          <a:xfrm>
            <a:off x="960120" y="2834640"/>
            <a:ext cx="7589520" cy="530352"/>
          </a:xfrm>
          <a:prstGeom prst="rect">
            <a:avLst/>
          </a:prstGeom>
          <a:noFill/>
          <a:ln/>
        </p:spPr>
        <p:txBody>
          <a:bodyPr wrap="square" lIns="0" tIns="0" rIns="0" bIns="0" rtlCol="0" anchor="ctr"/>
          <a:lstStyle/>
          <a:p>
            <a:pPr marL="0" indent="0">
              <a:buNone/>
            </a:pPr>
            <a:r>
              <a:rPr lang="en-US" sz="1300" dirty="0">
                <a:solidFill>
                  <a:srgbClr val="FFFFFF"/>
                </a:solidFill>
              </a:rPr>
              <a:t>Shared delivery innovation signals ecosystem maturity.</a:t>
            </a:r>
            <a:endParaRPr lang="en-US" sz="1300" dirty="0"/>
          </a:p>
        </p:txBody>
      </p:sp>
      <p:sp>
        <p:nvSpPr>
          <p:cNvPr id="16" name="Shape 14"/>
          <p:cNvSpPr/>
          <p:nvPr/>
        </p:nvSpPr>
        <p:spPr>
          <a:xfrm>
            <a:off x="457200" y="3474720"/>
            <a:ext cx="8229600" cy="530352"/>
          </a:xfrm>
          <a:prstGeom prst="rect">
            <a:avLst/>
          </a:prstGeom>
          <a:solidFill>
            <a:srgbClr val="1D3557"/>
          </a:solidFill>
          <a:ln w="6350">
            <a:solidFill>
              <a:srgbClr val="457B9D"/>
            </a:solidFill>
            <a:prstDash val="solid"/>
          </a:ln>
        </p:spPr>
        <p:txBody>
          <a:bodyPr/>
          <a:lstStyle/>
          <a:p>
            <a:endParaRPr lang="en-US"/>
          </a:p>
        </p:txBody>
      </p:sp>
      <p:sp>
        <p:nvSpPr>
          <p:cNvPr id="17" name="Text 15"/>
          <p:cNvSpPr/>
          <p:nvPr/>
        </p:nvSpPr>
        <p:spPr>
          <a:xfrm>
            <a:off x="502920" y="3474720"/>
            <a:ext cx="365760" cy="530352"/>
          </a:xfrm>
          <a:prstGeom prst="rect">
            <a:avLst/>
          </a:prstGeom>
          <a:noFill/>
          <a:ln/>
        </p:spPr>
        <p:txBody>
          <a:bodyPr wrap="square" lIns="0" tIns="0" rIns="0" bIns="0" rtlCol="0" anchor="ctr"/>
          <a:lstStyle/>
          <a:p>
            <a:pPr marL="0" indent="0" algn="ctr">
              <a:buNone/>
            </a:pPr>
            <a:r>
              <a:rPr lang="en-US" sz="1400" b="1" dirty="0">
                <a:solidFill>
                  <a:srgbClr val="E63946"/>
                </a:solidFill>
              </a:rPr>
              <a:t>5.</a:t>
            </a:r>
            <a:endParaRPr lang="en-US" sz="1400" dirty="0"/>
          </a:p>
        </p:txBody>
      </p:sp>
      <p:sp>
        <p:nvSpPr>
          <p:cNvPr id="18" name="Text 16"/>
          <p:cNvSpPr/>
          <p:nvPr/>
        </p:nvSpPr>
        <p:spPr>
          <a:xfrm>
            <a:off x="960120" y="3474720"/>
            <a:ext cx="7589520" cy="530352"/>
          </a:xfrm>
          <a:prstGeom prst="rect">
            <a:avLst/>
          </a:prstGeom>
          <a:noFill/>
          <a:ln/>
        </p:spPr>
        <p:txBody>
          <a:bodyPr wrap="square" lIns="0" tIns="0" rIns="0" bIns="0" rtlCol="0" anchor="ctr"/>
          <a:lstStyle/>
          <a:p>
            <a:pPr marL="0" indent="0">
              <a:buNone/>
            </a:pPr>
            <a:r>
              <a:rPr lang="en-US" sz="1300" dirty="0">
                <a:solidFill>
                  <a:srgbClr val="FFFFFF"/>
                </a:solidFill>
              </a:rPr>
              <a:t>Detection must focus on behavior over malware branding.</a:t>
            </a:r>
            <a:endParaRPr lang="en-US" sz="1300" dirty="0"/>
          </a:p>
        </p:txBody>
      </p:sp>
      <p:sp>
        <p:nvSpPr>
          <p:cNvPr id="19" name="Shape 17"/>
          <p:cNvSpPr/>
          <p:nvPr/>
        </p:nvSpPr>
        <p:spPr>
          <a:xfrm>
            <a:off x="457200" y="4343400"/>
            <a:ext cx="8229600" cy="640080"/>
          </a:xfrm>
          <a:prstGeom prst="rect">
            <a:avLst/>
          </a:prstGeom>
          <a:solidFill>
            <a:srgbClr val="E63946"/>
          </a:solidFill>
          <a:ln w="12700">
            <a:solidFill>
              <a:srgbClr val="E63946"/>
            </a:solidFill>
            <a:prstDash val="solid"/>
          </a:ln>
        </p:spPr>
        <p:txBody>
          <a:bodyPr/>
          <a:lstStyle/>
          <a:p>
            <a:endParaRPr lang="en-US"/>
          </a:p>
        </p:txBody>
      </p:sp>
      <p:sp>
        <p:nvSpPr>
          <p:cNvPr id="20" name="Text 18"/>
          <p:cNvSpPr/>
          <p:nvPr/>
        </p:nvSpPr>
        <p:spPr>
          <a:xfrm>
            <a:off x="548640" y="4343400"/>
            <a:ext cx="8046720" cy="640080"/>
          </a:xfrm>
          <a:prstGeom prst="rect">
            <a:avLst/>
          </a:prstGeom>
          <a:noFill/>
          <a:ln/>
        </p:spPr>
        <p:txBody>
          <a:bodyPr wrap="square" lIns="0" tIns="0" rIns="0" bIns="0" rtlCol="0" anchor="ctr"/>
          <a:lstStyle/>
          <a:p>
            <a:pPr marL="0" indent="0" algn="ctr">
              <a:buNone/>
            </a:pPr>
            <a:r>
              <a:rPr lang="en-US" sz="1400" b="1" i="1" dirty="0">
                <a:solidFill>
                  <a:srgbClr val="FFFFFF"/>
                </a:solidFill>
              </a:rPr>
              <a:t>The true defensive advantage comes from tracking evolution patterns — not chasing malware names.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AGHORA Demo Section">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p:spPr>
        <p:txBody>
          <a:bodyPr/>
          <a:lstStyle/>
          <a:p>
            <a:endParaRPr lang="en-US"/>
          </a:p>
        </p:txBody>
      </p:sp>
      <p:sp>
        <p:nvSpPr>
          <p:cNvPr id="3" name="Shape 1"/>
          <p:cNvSpPr/>
          <p:nvPr/>
        </p:nvSpPr>
        <p:spPr>
          <a:xfrm>
            <a:off x="5486400" y="-1371600"/>
            <a:ext cx="5943600" cy="5943600"/>
          </a:xfrm>
          <a:prstGeom prst="ellipse">
            <a:avLst/>
          </a:prstGeom>
          <a:solidFill>
            <a:srgbClr val="1D3557">
              <a:alpha val="50000"/>
            </a:srgbClr>
          </a:solidFill>
          <a:ln w="19050">
            <a:solidFill>
              <a:srgbClr val="457B9D"/>
            </a:solidFill>
          </a:ln>
        </p:spPr>
        <p:txBody>
          <a:bodyPr/>
          <a:lstStyle/>
          <a:p>
            <a:endParaRPr lang="en-US"/>
          </a:p>
        </p:txBody>
      </p:sp>
      <p:sp>
        <p:nvSpPr>
          <p:cNvPr id="4" name="Text 2"/>
          <p:cNvSpPr/>
          <p:nvPr/>
        </p:nvSpPr>
        <p:spPr>
          <a:xfrm>
            <a:off x="457200" y="1280160"/>
            <a:ext cx="5486400" cy="365760"/>
          </a:xfrm>
          <a:prstGeom prst="rect">
            <a:avLst/>
          </a:prstGeom>
          <a:noFill/>
          <a:ln/>
        </p:spPr>
        <p:txBody>
          <a:bodyPr wrap="square" lIns="0" tIns="0" rIns="0" bIns="0" rtlCol="0" anchor="ctr"/>
          <a:lstStyle/>
          <a:p>
            <a:pPr marL="0" indent="0">
              <a:buNone/>
            </a:pPr>
            <a:r>
              <a:rPr lang="en-US" sz="1100" b="1" dirty="0">
                <a:solidFill>
                  <a:srgbClr val="E63946"/>
                </a:solidFill>
                <a:latin typeface="Consolas" pitchFamily="34" charset="0"/>
              </a:rPr>
              <a:t>// LIVE DEMO</a:t>
            </a:r>
          </a:p>
        </p:txBody>
      </p:sp>
      <p:sp>
        <p:nvSpPr>
          <p:cNvPr id="5" name="Text 3"/>
          <p:cNvSpPr/>
          <p:nvPr/>
        </p:nvSpPr>
        <p:spPr>
          <a:xfrm>
            <a:off x="457200" y="1645920"/>
            <a:ext cx="7315200" cy="913860"/>
          </a:xfrm>
          <a:prstGeom prst="rect">
            <a:avLst/>
          </a:prstGeom>
          <a:noFill/>
          <a:ln/>
        </p:spPr>
        <p:txBody>
          <a:bodyPr wrap="square" lIns="0" tIns="0" rIns="0" bIns="0" rtlCol="0" anchor="ctr"/>
          <a:lstStyle/>
          <a:p>
            <a:pPr marL="0" indent="0">
              <a:buNone/>
            </a:pPr>
            <a:r>
              <a:rPr lang="en-US" sz="5400" b="1" dirty="0">
                <a:solidFill>
                  <a:srgbClr val="FFFFFF"/>
                </a:solidFill>
              </a:rPr>
              <a:t>AGHORA</a:t>
            </a:r>
          </a:p>
        </p:txBody>
      </p:sp>
      <p:sp>
        <p:nvSpPr>
          <p:cNvPr id="6" name="Text 4"/>
          <p:cNvSpPr/>
          <p:nvPr/>
        </p:nvSpPr>
        <p:spPr>
          <a:xfrm>
            <a:off x="457200" y="2606040"/>
            <a:ext cx="7315200" cy="457200"/>
          </a:xfrm>
          <a:prstGeom prst="rect">
            <a:avLst/>
          </a:prstGeom>
          <a:noFill/>
          <a:ln/>
        </p:spPr>
        <p:txBody>
          <a:bodyPr wrap="square" lIns="0" tIns="0" rIns="0" bIns="0" rtlCol="0" anchor="ctr"/>
          <a:lstStyle/>
          <a:p>
            <a:pPr marL="0" indent="0">
              <a:buNone/>
            </a:pPr>
            <a:r>
              <a:rPr lang="en-US" sz="1600" i="1" dirty="0">
                <a:solidFill>
                  <a:srgbClr val="A8DADC"/>
                </a:solidFill>
              </a:rPr>
              <a:t>Agentic Guided Heuristic, Orchestration, Reasoning, and Analysis</a:t>
            </a:r>
          </a:p>
        </p:txBody>
      </p:sp>
      <p:sp>
        <p:nvSpPr>
          <p:cNvPr id="7" name="Text 5"/>
          <p:cNvSpPr/>
          <p:nvPr/>
        </p:nvSpPr>
        <p:spPr>
          <a:xfrm>
            <a:off x="457200" y="3200400"/>
            <a:ext cx="5943600" cy="320040"/>
          </a:xfrm>
          <a:prstGeom prst="rect">
            <a:avLst/>
          </a:prstGeom>
          <a:noFill/>
          <a:ln/>
        </p:spPr>
        <p:txBody>
          <a:bodyPr wrap="square" lIns="0" tIns="0" rIns="0" bIns="0" rtlCol="0" anchor="ctr"/>
          <a:lstStyle/>
          <a:p>
            <a:pPr marL="0" indent="0">
              <a:buNone/>
            </a:pPr>
            <a:r>
              <a:rPr lang="en-US" sz="1100" dirty="0">
                <a:solidFill>
                  <a:srgbClr val="8899A6"/>
                </a:solidFill>
              </a:rPr>
              <a:t>AI-powered malware analysis platform built to automate what analysts do manually</a:t>
            </a:r>
          </a:p>
        </p:txBody>
      </p:sp>
      <p:sp>
        <p:nvSpPr>
          <p:cNvPr id="8" name="Shape 6"/>
          <p:cNvSpPr/>
          <p:nvPr/>
        </p:nvSpPr>
        <p:spPr>
          <a:xfrm>
            <a:off x="0" y="5070348"/>
            <a:ext cx="9144000" cy="73152"/>
          </a:xfrm>
          <a:prstGeom prst="rect">
            <a:avLst/>
          </a:prstGeom>
          <a:solidFill>
            <a:srgbClr val="E63946"/>
          </a:solidFill>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57B9D"/>
          </a:solidFill>
          <a:ln w="12700">
            <a:solidFill>
              <a:srgbClr val="457B9D"/>
            </a:solidFill>
            <a:prstDash val="solid"/>
          </a:ln>
        </p:spPr>
        <p:txBody>
          <a:bodyPr/>
          <a:lstStyle/>
          <a:p>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800" b="1" dirty="0">
                <a:solidFill>
                  <a:srgbClr val="FFFFFF"/>
                </a:solidFill>
              </a:rPr>
              <a:t>References</a:t>
            </a:r>
            <a:endParaRPr lang="en-US" sz="2800" dirty="0"/>
          </a:p>
        </p:txBody>
      </p:sp>
      <p:sp>
        <p:nvSpPr>
          <p:cNvPr id="4" name="Text 2"/>
          <p:cNvSpPr/>
          <p:nvPr/>
        </p:nvSpPr>
        <p:spPr>
          <a:xfrm>
            <a:off x="457200" y="914400"/>
            <a:ext cx="8229600" cy="475488"/>
          </a:xfrm>
          <a:prstGeom prst="rect">
            <a:avLst/>
          </a:prstGeom>
          <a:noFill/>
          <a:ln/>
        </p:spPr>
        <p:txBody>
          <a:bodyPr wrap="square" lIns="0" tIns="0" rIns="0" bIns="0" rtlCol="0" anchor="ctr"/>
          <a:lstStyle/>
          <a:p>
            <a:pPr marL="0" indent="0">
              <a:buNone/>
            </a:pPr>
            <a:r>
              <a:rPr lang="en-US" sz="1100" dirty="0">
                <a:solidFill>
                  <a:srgbClr val="A8DADC"/>
                </a:solidFill>
              </a:rPr>
              <a:t>[1]  MITRE ATT&amp;CK. (2024–2026). Enterprise ATT&amp;CK Framework. https://attack.mitre.org</a:t>
            </a:r>
            <a:endParaRPr lang="en-US" sz="1100" dirty="0"/>
          </a:p>
        </p:txBody>
      </p:sp>
      <p:sp>
        <p:nvSpPr>
          <p:cNvPr id="5" name="Text 3"/>
          <p:cNvSpPr/>
          <p:nvPr/>
        </p:nvSpPr>
        <p:spPr>
          <a:xfrm>
            <a:off x="457200" y="1463040"/>
            <a:ext cx="8229600" cy="475488"/>
          </a:xfrm>
          <a:prstGeom prst="rect">
            <a:avLst/>
          </a:prstGeom>
          <a:noFill/>
          <a:ln/>
        </p:spPr>
        <p:txBody>
          <a:bodyPr wrap="square" lIns="0" tIns="0" rIns="0" bIns="0" rtlCol="0" anchor="ctr"/>
          <a:lstStyle/>
          <a:p>
            <a:pPr marL="0" indent="0">
              <a:buNone/>
            </a:pPr>
            <a:r>
              <a:rPr lang="en-US" sz="1100" dirty="0">
                <a:solidFill>
                  <a:srgbClr val="F1F1F1"/>
                </a:solidFill>
              </a:rPr>
              <a:t>[2]  INTERPOL. (2024). Disrupting a Grandoreiro malware operation.</a:t>
            </a:r>
            <a:endParaRPr lang="en-US" sz="1100" dirty="0"/>
          </a:p>
        </p:txBody>
      </p:sp>
      <p:sp>
        <p:nvSpPr>
          <p:cNvPr id="6" name="Text 4"/>
          <p:cNvSpPr/>
          <p:nvPr/>
        </p:nvSpPr>
        <p:spPr>
          <a:xfrm>
            <a:off x="457200" y="2011680"/>
            <a:ext cx="8229600" cy="475488"/>
          </a:xfrm>
          <a:prstGeom prst="rect">
            <a:avLst/>
          </a:prstGeom>
          <a:noFill/>
          <a:ln/>
        </p:spPr>
        <p:txBody>
          <a:bodyPr wrap="square" lIns="0" tIns="0" rIns="0" bIns="0" rtlCol="0" anchor="ctr"/>
          <a:lstStyle/>
          <a:p>
            <a:pPr marL="0" indent="0">
              <a:buNone/>
            </a:pPr>
            <a:r>
              <a:rPr lang="en-US" sz="1100" dirty="0">
                <a:solidFill>
                  <a:srgbClr val="F1F1F1"/>
                </a:solidFill>
              </a:rPr>
              <a:t>[3]  CrowdStrike. (2024). LATAM eCrime Malware Evolution Report.</a:t>
            </a:r>
            <a:endParaRPr lang="en-US" sz="1100" dirty="0"/>
          </a:p>
        </p:txBody>
      </p:sp>
      <p:sp>
        <p:nvSpPr>
          <p:cNvPr id="7" name="Text 5"/>
          <p:cNvSpPr/>
          <p:nvPr/>
        </p:nvSpPr>
        <p:spPr>
          <a:xfrm>
            <a:off x="457200" y="2560320"/>
            <a:ext cx="8229600" cy="475488"/>
          </a:xfrm>
          <a:prstGeom prst="rect">
            <a:avLst/>
          </a:prstGeom>
          <a:noFill/>
          <a:ln/>
        </p:spPr>
        <p:txBody>
          <a:bodyPr wrap="square" lIns="0" tIns="0" rIns="0" bIns="0" rtlCol="0" anchor="ctr"/>
          <a:lstStyle/>
          <a:p>
            <a:pPr marL="0" indent="0">
              <a:buNone/>
            </a:pPr>
            <a:r>
              <a:rPr lang="en-US" sz="1100" dirty="0">
                <a:solidFill>
                  <a:srgbClr val="F1F1F1"/>
                </a:solidFill>
              </a:rPr>
              <a:t>[4]  Cisco Talos. (2024). Cloud abuse in LATAM banking campaigns.</a:t>
            </a:r>
            <a:endParaRPr lang="en-US" sz="1100" dirty="0"/>
          </a:p>
        </p:txBody>
      </p:sp>
      <p:sp>
        <p:nvSpPr>
          <p:cNvPr id="8" name="Text 6"/>
          <p:cNvSpPr/>
          <p:nvPr/>
        </p:nvSpPr>
        <p:spPr>
          <a:xfrm>
            <a:off x="457200" y="3108960"/>
            <a:ext cx="8229600" cy="475488"/>
          </a:xfrm>
          <a:prstGeom prst="rect">
            <a:avLst/>
          </a:prstGeom>
          <a:noFill/>
          <a:ln/>
        </p:spPr>
        <p:txBody>
          <a:bodyPr wrap="square" lIns="0" tIns="0" rIns="0" bIns="0" rtlCol="0" anchor="ctr"/>
          <a:lstStyle/>
          <a:p>
            <a:pPr marL="0" indent="0">
              <a:buNone/>
            </a:pPr>
            <a:r>
              <a:rPr lang="en-US" sz="1100" dirty="0">
                <a:solidFill>
                  <a:srgbClr val="F1F1F1"/>
                </a:solidFill>
              </a:rPr>
              <a:t>[5]  Palo Alto Networks Unit 42. (2025). Lampion &amp; banking malware analysis.</a:t>
            </a:r>
            <a:endParaRPr lang="en-US" sz="1100" dirty="0"/>
          </a:p>
        </p:txBody>
      </p:sp>
      <p:sp>
        <p:nvSpPr>
          <p:cNvPr id="9" name="Text 7"/>
          <p:cNvSpPr/>
          <p:nvPr/>
        </p:nvSpPr>
        <p:spPr>
          <a:xfrm>
            <a:off x="457200" y="3657600"/>
            <a:ext cx="8229600" cy="475488"/>
          </a:xfrm>
          <a:prstGeom prst="rect">
            <a:avLst/>
          </a:prstGeom>
          <a:noFill/>
          <a:ln/>
        </p:spPr>
        <p:txBody>
          <a:bodyPr wrap="square" lIns="0" tIns="0" rIns="0" bIns="0" rtlCol="0" anchor="ctr"/>
          <a:lstStyle/>
          <a:p>
            <a:pPr marL="0" indent="0">
              <a:buNone/>
            </a:pPr>
            <a:r>
              <a:rPr lang="en-US" sz="1100" dirty="0">
                <a:solidFill>
                  <a:srgbClr val="F1F1F1"/>
                </a:solidFill>
              </a:rPr>
              <a:t>[6]  Trend Micro. (2024). Mekotio Banking Trojan Research.</a:t>
            </a:r>
            <a:endParaRPr lang="en-US" sz="1100" dirty="0"/>
          </a:p>
        </p:txBody>
      </p:sp>
      <p:sp>
        <p:nvSpPr>
          <p:cNvPr id="10" name="Text 8"/>
          <p:cNvSpPr/>
          <p:nvPr/>
        </p:nvSpPr>
        <p:spPr>
          <a:xfrm>
            <a:off x="457200" y="4206240"/>
            <a:ext cx="8229600" cy="475488"/>
          </a:xfrm>
          <a:prstGeom prst="rect">
            <a:avLst/>
          </a:prstGeom>
          <a:noFill/>
          <a:ln/>
        </p:spPr>
        <p:txBody>
          <a:bodyPr wrap="square" lIns="0" tIns="0" rIns="0" bIns="0" rtlCol="0" anchor="ctr"/>
          <a:lstStyle/>
          <a:p>
            <a:pPr marL="0" indent="0">
              <a:buNone/>
            </a:pPr>
            <a:r>
              <a:rPr lang="en-US" sz="1100" dirty="0">
                <a:solidFill>
                  <a:srgbClr val="F1F1F1"/>
                </a:solidFill>
              </a:rPr>
              <a:t>[7]  Kaspersky Securelist. (2020–2024). Tétrade banking malware ecosystem.</a:t>
            </a:r>
            <a:endParaRPr lang="en-US" sz="1100" dirty="0"/>
          </a:p>
        </p:txBody>
      </p:sp>
      <p:sp>
        <p:nvSpPr>
          <p:cNvPr id="11" name="Shape 9"/>
          <p:cNvSpPr/>
          <p:nvPr/>
        </p:nvSpPr>
        <p:spPr>
          <a:xfrm>
            <a:off x="0" y="4892040"/>
            <a:ext cx="9144000" cy="251460"/>
          </a:xfrm>
          <a:prstGeom prst="rect">
            <a:avLst/>
          </a:prstGeom>
          <a:solidFill>
            <a:srgbClr val="1D3557"/>
          </a:solidFill>
          <a:ln w="12700">
            <a:solidFill>
              <a:srgbClr val="1D3557"/>
            </a:solidFill>
            <a:prstDash val="solid"/>
          </a:ln>
        </p:spPr>
        <p:txBody>
          <a:bodyPr/>
          <a:lstStyle/>
          <a:p>
            <a:endParaRPr lang="en-US"/>
          </a:p>
        </p:txBody>
      </p:sp>
      <p:sp>
        <p:nvSpPr>
          <p:cNvPr id="12" name="Text 10"/>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900" dirty="0">
                <a:solidFill>
                  <a:srgbClr val="8899A6"/>
                </a:solidFill>
              </a:rPr>
              <a:t>Beyond ASTAROTH: LATAM Threat Groups, Malware Ecosystems, and Evolving Tradecraft  |  Karthikeya Thota  |  Eastern Michigan University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872</TotalTime>
  <Words>3021</Words>
  <Application>Microsoft Office PowerPoint</Application>
  <PresentationFormat>On-screen Show (16:9)</PresentationFormat>
  <Paragraphs>232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ASTAROTH: LATAM Threat Groups</dc:title>
  <dc:creator>Karthikeya Thota</dc:creator>
  <cp:lastModifiedBy>Karthikeya Thota</cp:lastModifiedBy>
  <cp:revision>8</cp:revision>
  <dcterms:created xsi:type="dcterms:W3CDTF">2026-02-27T17:14:19Z</dcterms:created>
  <dcterms:modified xsi:type="dcterms:W3CDTF">2026-04-26T21:30:43Z</dcterms:modified>
</cp:coreProperties>
</file>